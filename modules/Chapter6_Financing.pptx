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51" r:id="rId3"/>
    <p:sldId id="464" r:id="rId5"/>
    <p:sldId id="651" r:id="rId6"/>
    <p:sldId id="1029" r:id="rId7"/>
    <p:sldId id="1031" r:id="rId8"/>
    <p:sldId id="1033" r:id="rId9"/>
    <p:sldId id="1036" r:id="rId10"/>
    <p:sldId id="1038" r:id="rId11"/>
    <p:sldId id="1040" r:id="rId12"/>
    <p:sldId id="1041" r:id="rId13"/>
    <p:sldId id="1043" r:id="rId14"/>
    <p:sldId id="1045" r:id="rId15"/>
    <p:sldId id="1047" r:id="rId16"/>
    <p:sldId id="1049" r:id="rId17"/>
    <p:sldId id="1051" r:id="rId18"/>
    <p:sldId id="1054" r:id="rId19"/>
    <p:sldId id="1056" r:id="rId20"/>
    <p:sldId id="1058" r:id="rId21"/>
    <p:sldId id="1060" r:id="rId22"/>
    <p:sldId id="1061" r:id="rId23"/>
    <p:sldId id="1063" r:id="rId24"/>
    <p:sldId id="1065" r:id="rId25"/>
    <p:sldId id="1067" r:id="rId26"/>
    <p:sldId id="1069" r:id="rId27"/>
    <p:sldId id="1071" r:id="rId28"/>
    <p:sldId id="1073" r:id="rId29"/>
    <p:sldId id="1075" r:id="rId30"/>
    <p:sldId id="1077" r:id="rId31"/>
    <p:sldId id="1079" r:id="rId32"/>
    <p:sldId id="1081" r:id="rId33"/>
    <p:sldId id="1083" r:id="rId34"/>
    <p:sldId id="1085" r:id="rId35"/>
    <p:sldId id="1087" r:id="rId36"/>
    <p:sldId id="548" r:id="rId37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8"/>
    <p:restoredTop sz="94576"/>
  </p:normalViewPr>
  <p:slideViewPr>
    <p:cSldViewPr showGuides="1">
      <p:cViewPr varScale="1">
        <p:scale>
          <a:sx n="110" d="100"/>
          <a:sy n="110" d="100"/>
        </p:scale>
        <p:origin x="-210" y="-84"/>
      </p:cViewPr>
      <p:guideLst>
        <p:guide orient="horz" pos="215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866" name="Header Placeholder 3686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en-US" sz="1200"/>
          </a:p>
        </p:txBody>
      </p:sp>
      <p:sp>
        <p:nvSpPr>
          <p:cNvPr id="36867" name="Date Placeholder 36866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endParaRPr lang="en-US" sz="1200"/>
          </a:p>
        </p:txBody>
      </p:sp>
      <p:sp>
        <p:nvSpPr>
          <p:cNvPr id="36868" name="Slide Image Placeholder 36867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6869" name="Text Placeholder 36868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36870" name="Footer Placeholder 3686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endParaRPr lang="en-US" sz="1200"/>
          </a:p>
        </p:txBody>
      </p:sp>
      <p:sp>
        <p:nvSpPr>
          <p:cNvPr id="36871" name="Slide Number Placeholder 36870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sz="1200"/>
            </a:fld>
            <a:endParaRPr 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 algn="r"/>
            <a:fld id="{9A0DB2DC-4C9A-4742-B13C-FB6460FD3503}" type="slidenum">
              <a:rPr lang="en-US" sz="1200"/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image" Target="../media/image3.jpe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762000"/>
            <a:ext cx="9144635" cy="6073140"/>
          </a:xfrm>
        </p:spPr>
        <p:txBody>
          <a:bodyPr/>
          <a:p>
            <a:pPr marL="0" indent="0" algn="ctr">
              <a:buNone/>
            </a:pPr>
            <a:endParaRPr lang="en-US" sz="36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College of Business and Economics</a:t>
            </a:r>
            <a:endParaRPr lang="en-US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Departement of Management</a:t>
            </a:r>
            <a:endParaRPr lang="en-US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endParaRPr lang="en-US" sz="36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CHAPTER 6: BUSINESS FINANCING</a:t>
            </a:r>
            <a:endParaRPr lang="en-US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sz="28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               </a:t>
            </a:r>
            <a:endParaRPr lang="en-US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5" name="Picture 4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3200" y="0"/>
            <a:ext cx="3797300" cy="130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2340"/>
            <a:ext cx="3157855" cy="210566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Chapter Learning Outcomes</a:t>
            </a:r>
            <a:endParaRPr lang="en-US" sz="4800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555" y="1174750"/>
            <a:ext cx="8886825" cy="5530850"/>
          </a:xfrm>
        </p:spPr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this chapter, students should be able to: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Learn about the cost of starting an enterprise.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Know the different sources of finance to start a business venture.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lease financing.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Learn micro finances.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crowd funding.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Know micro financing.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Learn about traditional financing in Ethiopia.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3.1 Introduction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Sourcing money may be required for various reasons.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needs include: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Capital asset acquisition (e.g., new machinery, building construction)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new products (costly, may require internal financing)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External sources may finance capital for machinery acquisition.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capital (loans, working capital) may be needed for cash flow cushioning.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This chapter focuses on the financing of firms.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4.2Financial Requirements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All businesses need money to finance different requirements.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Important to match the use of funds with appropriate funding methods.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Types of finance include: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Permanent Capital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Working Capital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Asset Finance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1. Permanent Capital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Comes from equity investment or personal loans in small firms.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Used to finance: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Start-up costs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Major developments or expansions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innovations (e.g., new product development)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Equity from private investors can support growth or act as exit route.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Serviced only when firm can afford it; dividends or capital gains reward investors.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ownership stake; returns are not automatic but based on firm’s profits.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2. Working Capital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finance to bridge the gap between payments and receipts.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vary by business type: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Manufacturers or B2B firms need to finance debtors from credit sales.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Retailers, restaurants, and public outlets often collect cash directly, aiding cash flow.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Needed for: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Temporary losses (seasonal fluctuations)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Prepayment of expenses (e.g., rent in advance)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Short-lived asset purchases (e.g., vehicles replaced every 4–5 years)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3.Asset Finance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Medium- to long-term finance for tangible assets.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Typically financed for 3–10 years or more, depending on asset life.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Finances include: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Plant and machinery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Equipment, fixtures, and fittings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Company vehicles and buildings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Can be provided by variety of lending bodies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4.3 Sources of Financing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Financial resources are essential for business; requirements change as the enterprise grows.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Financing is more than obtaining money; it involves managing assets wisely to use capital efficiently.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Cash is the most important asset, generated through sales, which require inventory, facilities, and staff.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 have choices: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Buy assets with cash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Lease or rent equipment/furniture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Subcontract manufacturing to avoid initial expenses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Critical issue: assure sufficient cash flow for operations and plan financing alongside enterprise growth.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Two general sources: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Equity or Debt.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4.3.1Internal Sources (Equity capital)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85" y="838200"/>
            <a:ext cx="8667115" cy="5461000"/>
          </a:xfrm>
        </p:spPr>
        <p:txBody>
          <a:bodyPr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Owner’s capital (owner’s equity) represents personal investment and is also called risk capital.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Owners assume risk of losing funds if business fails, but share in benefits if successful.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Sources of equity capital include: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Personal savings: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 should provide at least half of start-up funds from personal funds: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Friends and relatives: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Entrepreneur must explain opportunities and threats of the business.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Partners: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Entrepreneurs may take on partners to expand capital formation.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Public stock sale (going public): S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elling shares to outsiders; effective for raising large amounts of capital.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Angels (private investors):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Wealthy private investors investing in startups for an equity stake.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Venture capital companies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:Private, for-profit organizations investing in young businesses expecting high return and growth potential.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/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Provide start-up, development, or expansion funds.</a:t>
            </a:r>
            <a:endParaRPr 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Angles and Venture Capitalist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8" name="Content Placeholder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1000" y="1066800"/>
            <a:ext cx="8489950" cy="448627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What Are Savings?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85" y="838200"/>
            <a:ext cx="8667115" cy="5461000"/>
          </a:xfrm>
        </p:spPr>
        <p:txBody>
          <a:bodyPr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Savings are money or other assets kept over time, usually not for immediate consumption but for future use.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Can be kept in a bank or other safe place with no risk of loss, spending, or profit.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Methods of saving: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Small but regular deposits – sacrificing current consumption to accumulate resources for future use.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deductions from salaries/wages – not voluntary, often required by employers.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Saving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85" y="838200"/>
            <a:ext cx="8667115" cy="5461000"/>
          </a:xfrm>
        </p:spPr>
        <p:txBody>
          <a:bodyPr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Provides for specific future needs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Ensures access to monetary or other assets when needed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Promotes financial independence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Makes resources inaccessible to others without approval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Safely stores surplus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Develops money management and self-discipline skills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Helps qualify for certain types of loans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Investments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85" y="838200"/>
            <a:ext cx="8667115" cy="5461000"/>
          </a:xfrm>
        </p:spPr>
        <p:txBody>
          <a:bodyPr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Investments are monetary assets purchased to: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income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Reduce costs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Appreciate in the future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= using money to make more profit in the future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Personal Budget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85" y="838200"/>
            <a:ext cx="8667115" cy="5461000"/>
          </a:xfrm>
        </p:spPr>
        <p:txBody>
          <a:bodyPr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personal budget is a finance plan that allocates future personal income towards: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Expenses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Savings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Debt repayment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Preparing a Personal Budget for Saving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85" y="838200"/>
            <a:ext cx="8667115" cy="5461000"/>
          </a:xfrm>
        </p:spPr>
        <p:txBody>
          <a:bodyPr/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Identify sources of income and total monthly income.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Track all expenses (daily, weekly, monthly).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Divide expenses by categories.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For daily expenses, multiply by 4 to estimate monthly total.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Subtract total monthly expenses from total income → savings.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expenses exceed income: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Cut back expenses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Adjust expenses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4.3.2External Sources (Debt capital)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85" y="838200"/>
            <a:ext cx="8667115" cy="5461000"/>
          </a:xfrm>
        </p:spPr>
        <p:txBody>
          <a:bodyPr/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Debt capital is borrowed money that must be repaid with interest.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Used by small business owners for short-term, medium-term, or long-term needs.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Main sources of debt capital include: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banks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Microfinances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Trade credit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Equipment suppliers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Accounts receivable financing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Credit unions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Bonds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75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sources (“Idir”, “Equib”)</a:t>
            </a:r>
            <a:endParaRPr lang="en-US" sz="17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95" y="190500"/>
            <a:ext cx="8929370" cy="582930"/>
          </a:xfrm>
        </p:spPr>
        <p:txBody>
          <a:bodyPr/>
          <a:p>
            <a:pPr marL="0" indent="0" algn="ctr">
              <a:buFont typeface="+mj-lt"/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I. Commercial banks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85" y="838200"/>
            <a:ext cx="8667115" cy="5461000"/>
          </a:xfrm>
        </p:spPr>
        <p:txBody>
          <a:bodyPr/>
          <a:p>
            <a:pPr marL="457200" indent="-4572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Most frequently used for short, medium, and long-term loans.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secure a loan, an entrepreneur must answer: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What will you do with the money?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When and how much do you need?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For how long do you need it?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How will you repay it?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95" y="190500"/>
            <a:ext cx="8929370" cy="582930"/>
          </a:xfrm>
        </p:spPr>
        <p:txBody>
          <a:bodyPr/>
          <a:p>
            <a:pPr marL="0" indent="0" algn="ctr">
              <a:buFont typeface="+mj-lt"/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I. Commercial banks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85" y="838200"/>
            <a:ext cx="8667115" cy="5461000"/>
          </a:xfrm>
        </p:spPr>
        <p:txBody>
          <a:bodyPr/>
          <a:p>
            <a:pPr marL="457200" indent="-4572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Most frequently used for short, medium, and long-term loans.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secure a loan, an entrepreneur must answer: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What do you plan to do with the money?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When do you need it?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How much do you need?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For how long do you need it?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How will you repay the loan?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95" y="190500"/>
            <a:ext cx="8929370" cy="582930"/>
          </a:xfrm>
        </p:spPr>
        <p:txBody>
          <a:bodyPr/>
          <a:p>
            <a:pPr marL="0" indent="0" algn="ctr">
              <a:buFont typeface="+mj-lt"/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Bank Lending Decision – The Five C’s of Credit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85" y="838200"/>
            <a:ext cx="8667115" cy="5461000"/>
          </a:xfrm>
        </p:spPr>
        <p:txBody>
          <a:bodyPr/>
          <a:p>
            <a:pPr marL="457200" indent="-457200" algn="just">
              <a:buFont typeface="+mj-lt"/>
              <a:buAutoNum type="arabicPeriod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Capital: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stable capital base required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Capacity: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ability to meet financial obligations and repay loan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Collateral 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assets pledged as security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 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honesty, competence, willingness to negotiate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Conditions: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business factors (market growth, competition, location) and economic factors (interest rates, inflation, money demand)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Higher score on the Five C’s → greater chance of receiving a loan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Ethiopia, collateral is very critical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Other Debt Sources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Microfinances 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provide financial services to the poor, micro and small enterprises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Trade Credit: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credit from suppliers, usually 30–90 days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Equipment Suppliers: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finance purchase of equipment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Account Receivable Financing 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receivables pledged as collateral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Credit Unions 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non-profit cooperatives; loans for members only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Bonds 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long-term contract with principal and interest repayment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Sources 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“Idir”, “Equib”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4.4Lease Financing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Lease financing is a medium- and long-term financing source.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owner (lessor) allows another person (lessee) to use an asset for periodical payments (lease rental).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Ownership remains with the lessor, and at the end of the lease: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Asset is returned, or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Lessee may purchase or renew the lease.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4.4.1Types of Lease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1. Finance Lease: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Lessee gets substantially all risks and rewards of ownership.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Lessee has right to use asset.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Primary period lease rental recovers total investment.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Secondary period lease rental is much smaller (peppercorn rental).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Lessee is responsible for maintenance.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Non-cancellable; lessor’s investment is assured.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Types of Lease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 Operating Lease: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Risks and rewards not transferred to lessee.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Lease term shorter than economic life of asset.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Lessee can terminate with short notice.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Lessor provides technical know-how.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Ownership risks and rewards borne by lessor.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Lease Financing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Assured Regular Income: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lease rental guaranteed.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Preservation of Ownership 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ownership remains with lessor.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Tax Benefits: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depreciation applies to lessor.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 Profitability: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lease rental returns exceed financing interest.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 Growth Potential: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demand for leasing is steadily increasing.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Recovery of Investment: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in finance lease, lessor recovers total investment.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Lease Financing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Unprofitable in Inflation 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fixed lease rental cannot increase with asset cost.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Double Taxation 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sales tax charged at purchase and leasing.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Greater Chance of Asset Damage 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lessee may misuse asset, reducing usability after lease.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4.5Traditional Financing in Ethiopian (Equib/Edir, Etc.)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56845" y="998855"/>
            <a:ext cx="8931910" cy="538035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Ethiopia has a rich tradition of community-based savings and credit groups despite an underdeveloped formal financial sector.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Iqub: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traditional savings mechanism where participants make mandatory contributions and receive payouts on a rotating basis.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Popular in urban areas, especially for the unbanked.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Helps finance small businesses and large projects (e.g., construction boom in Addis Ababa).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Idir: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burial societies providing insurance for funeral and other emergencies.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 are generally small (Br.10-25 per month).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Sometimes cover illness, property loss, or livestock death.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Traditional Financing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56845" y="998855"/>
            <a:ext cx="8931910" cy="538035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credit and insurance outside the formal sector.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Offers social and communal confidence in uncertain financial environments.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Serves as an alternative to banks which require collateral and guarantors.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Supports economic growth: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Small businesses use payouts for expansion (41% of participants in a study).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Large iqub payouts (&gt;15 million Br.) fund major infrastructure.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4.6Crowd Funding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56845" y="998855"/>
            <a:ext cx="8931910" cy="538035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Raising capital through the collective effort of friends, family, customers, or the public, primarily online.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Reach: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Access thousands of investors via platforms.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Refine and showcase your business clearly.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PR &amp; Marketing: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Promote your campaign through social media and email.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Test and refine your concept with potential backers.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Efficiency: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Centralizes fundraising, saving time and effort.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Types of Crowd Funding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56845" y="998855"/>
            <a:ext cx="8931910" cy="5380355"/>
          </a:xfrm>
        </p:spPr>
        <p:txBody>
          <a:bodyPr/>
          <a:p>
            <a:pPr marL="457200" indent="-457200" algn="just">
              <a:buFont typeface="+mj-lt"/>
              <a:buAutoNum type="arabicPeriod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Donation-Based: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No financial return; used for charities, medical bills, or disaster relief.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Rewards-Based: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Contributors receive a product or service as a reward.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Equity-Based: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Contributors become part-owners, receiving financial returns or dividends.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4.7 Micro Finances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56845" y="998855"/>
            <a:ext cx="8931910" cy="5380355"/>
          </a:xfrm>
        </p:spPr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Microfinance?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Financial services like loans, savings, insurance, and fund transfers for individuals and small businesses without access to formal banking.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Targets those who cannot provide high collateral.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Pioneer: Dr. Mohammad Yunus, founder of Grameen Bank (1983), Nobel Peace Prize 2006.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Small loans can create viable businesses for financially underserved populations.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Microfinance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56845" y="998855"/>
            <a:ext cx="8931910" cy="538035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capital to the underserved and avoids predatory lending.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Enables investment in businesses and personal growth.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Women are major borrowers – 84% of loans in 2016, 60% in rural areas.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Global growth (2016): 123 million borrowers, $102 billion loans (India, Vietnam, Bangladesh, Peru).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Potential benefits: reduce poverty, increase earnings, decrease unemployment.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Some borrowers use loans for consumption, creating debt cycles.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Microfinance in Ethiopia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56845" y="998855"/>
            <a:ext cx="8931910" cy="538035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Originated from informal savings and credit systems.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Over 38 MFIs (2018), formal establishment began post Proclamation No. 40/1996.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poverty alleviation via sustainable financial services for the poor.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Services: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savings, credit, micro-insurance, money transfer.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Major MFIs with &gt;90% market share: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Amhara Credit and Savings Institution (ACSI) S.C.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Dedebit Credit and Savings Institution (DECSI) S.C.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Oromiya Credit and Savings Institution (OCSCO) S.C.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Omo Credit and Savings Institution S.C.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Addis Credit and Savings Institution S.C. (ADCSI)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4.7.3.1Types of Activities Carried Out by Ethiopian MFIs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56845" y="998855"/>
            <a:ext cx="8931910" cy="538035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Accept voluntary and compulsory savings, demand and time deposits.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Extend credit to farmers, entrepreneurs, and small-scale operators.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 micro-insurance as prescribed by the NBE.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Purchase income-generating instruments (e.g., treasury bills).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Acquire, maintain, and transfer movable and immovable property for operations.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Support income-generating projects for urban and rural micro-entrepreneurs.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Render managerial, marketing, technical, and administrative advice.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 money transfer and financial leasing services.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39370" y="0"/>
            <a:ext cx="9261475" cy="68446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12900</Words>
  <Application>WPS Presentation</Application>
  <PresentationFormat>如螢幕大小</PresentationFormat>
  <Paragraphs>501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1" baseType="lpstr">
      <vt:lpstr>Arial</vt:lpstr>
      <vt:lpstr>SimSun</vt:lpstr>
      <vt:lpstr>Wingdings</vt:lpstr>
      <vt:lpstr>Times New Roman</vt:lpstr>
      <vt:lpstr>Microsoft YaHei</vt:lpstr>
      <vt:lpstr>Arial Unicode MS</vt:lpstr>
      <vt:lpstr>Communications and Dialogues</vt:lpstr>
      <vt:lpstr>PowerPoint 演示文稿</vt:lpstr>
      <vt:lpstr>Chapter Learning Outcomes</vt:lpstr>
      <vt:lpstr>3.1 Introduction</vt:lpstr>
      <vt:lpstr>4.2Financial Requirements</vt:lpstr>
      <vt:lpstr>1. Permanent Capital</vt:lpstr>
      <vt:lpstr>2. Working Capital</vt:lpstr>
      <vt:lpstr>3.Asset Finance</vt:lpstr>
      <vt:lpstr>4.3 Sources of Financing</vt:lpstr>
      <vt:lpstr>4.3.1Internal Sources (Equity capital)</vt:lpstr>
      <vt:lpstr>Comparison of Angles and Venture Capitalist</vt:lpstr>
      <vt:lpstr>What Are Savings?</vt:lpstr>
      <vt:lpstr>Advantages of Saving</vt:lpstr>
      <vt:lpstr>Investments</vt:lpstr>
      <vt:lpstr>Personal Budget</vt:lpstr>
      <vt:lpstr>Preparing a Personal Budget for Saving</vt:lpstr>
      <vt:lpstr>4.3.2External Sources (Debt capital)</vt:lpstr>
      <vt:lpstr>         I. Commercial banks</vt:lpstr>
      <vt:lpstr>         I. Commercial banks</vt:lpstr>
      <vt:lpstr>Bank Lending Decision – The Five C’s of Credit</vt:lpstr>
      <vt:lpstr>Other Debt Sources</vt:lpstr>
      <vt:lpstr>4.4Lease Financing</vt:lpstr>
      <vt:lpstr>4.4.1Types of Lease</vt:lpstr>
      <vt:lpstr>Types of Lease</vt:lpstr>
      <vt:lpstr>Advantages of Lease Financing</vt:lpstr>
      <vt:lpstr>Disadvantages of Lease Financing</vt:lpstr>
      <vt:lpstr>4.5Traditional Financing in Ethiopian (Equib/Edir, Etc.)</vt:lpstr>
      <vt:lpstr>Importance of Traditional Financing</vt:lpstr>
      <vt:lpstr>4.6Crowd Funding</vt:lpstr>
      <vt:lpstr>Types of Crowd Funding</vt:lpstr>
      <vt:lpstr>4.7 Micro Finances</vt:lpstr>
      <vt:lpstr>Importance of Microfinance</vt:lpstr>
      <vt:lpstr> Microfinance in Ethiopia</vt:lpstr>
      <vt:lpstr>4.7.3.1Types of Activities Carried Out by Ethiopian MFIs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Project Management</dc:title>
  <dc:creator/>
  <cp:lastModifiedBy>nEW u</cp:lastModifiedBy>
  <cp:revision>532</cp:revision>
  <dcterms:created xsi:type="dcterms:W3CDTF">2001-07-05T23:10:00Z</dcterms:created>
  <dcterms:modified xsi:type="dcterms:W3CDTF">2026-02-22T20:22:20Z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1033-11.2.0.10176</vt:lpwstr>
  </property>
</Properties>
</file>