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551" r:id="rId3"/>
    <p:sldId id="464" r:id="rId4"/>
    <p:sldId id="651" r:id="rId5"/>
    <p:sldId id="750" r:id="rId6"/>
    <p:sldId id="751" r:id="rId7"/>
    <p:sldId id="753" r:id="rId8"/>
    <p:sldId id="754" r:id="rId9"/>
    <p:sldId id="755" r:id="rId10"/>
    <p:sldId id="756" r:id="rId11"/>
    <p:sldId id="757" r:id="rId12"/>
    <p:sldId id="758" r:id="rId13"/>
    <p:sldId id="759" r:id="rId14"/>
    <p:sldId id="760" r:id="rId15"/>
    <p:sldId id="762" r:id="rId16"/>
    <p:sldId id="764" r:id="rId17"/>
    <p:sldId id="766" r:id="rId18"/>
    <p:sldId id="767" r:id="rId19"/>
    <p:sldId id="768" r:id="rId20"/>
    <p:sldId id="770" r:id="rId21"/>
    <p:sldId id="772" r:id="rId22"/>
    <p:sldId id="776" r:id="rId24"/>
    <p:sldId id="774" r:id="rId25"/>
    <p:sldId id="779" r:id="rId26"/>
    <p:sldId id="780" r:id="rId27"/>
    <p:sldId id="781" r:id="rId28"/>
    <p:sldId id="783" r:id="rId29"/>
    <p:sldId id="784" r:id="rId30"/>
    <p:sldId id="786" r:id="rId31"/>
    <p:sldId id="787" r:id="rId32"/>
    <p:sldId id="789" r:id="rId33"/>
    <p:sldId id="790" r:id="rId34"/>
    <p:sldId id="791" r:id="rId35"/>
    <p:sldId id="793" r:id="rId36"/>
    <p:sldId id="795" r:id="rId37"/>
    <p:sldId id="796" r:id="rId38"/>
    <p:sldId id="797" r:id="rId39"/>
    <p:sldId id="798" r:id="rId40"/>
    <p:sldId id="800" r:id="rId41"/>
    <p:sldId id="801" r:id="rId42"/>
    <p:sldId id="804" r:id="rId43"/>
    <p:sldId id="805" r:id="rId44"/>
    <p:sldId id="806" r:id="rId45"/>
    <p:sldId id="807" r:id="rId46"/>
    <p:sldId id="808" r:id="rId47"/>
    <p:sldId id="810" r:id="rId48"/>
    <p:sldId id="812" r:id="rId49"/>
    <p:sldId id="814" r:id="rId50"/>
    <p:sldId id="816" r:id="rId51"/>
    <p:sldId id="548" r:id="rId52"/>
  </p:sldIdLst>
  <p:sldSz cx="9144000" cy="6858000" type="screen4x3"/>
  <p:notesSz cx="6858000" cy="9144000"/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18"/>
    <p:restoredTop sz="94576"/>
  </p:normalViewPr>
  <p:slideViewPr>
    <p:cSldViewPr showGuides="1">
      <p:cViewPr varScale="1">
        <p:scale>
          <a:sx n="110" d="100"/>
          <a:sy n="110" d="100"/>
        </p:scale>
        <p:origin x="-210" y="-84"/>
      </p:cViewPr>
      <p:guideLst>
        <p:guide orient="horz" pos="2155"/>
        <p:guide pos="289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5" Type="http://schemas.openxmlformats.org/officeDocument/2006/relationships/tableStyles" Target="tableStyles.xml"/><Relationship Id="rId54" Type="http://schemas.openxmlformats.org/officeDocument/2006/relationships/viewProps" Target="viewProps.xml"/><Relationship Id="rId53" Type="http://schemas.openxmlformats.org/officeDocument/2006/relationships/presProps" Target="presProps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6866" name="Header Placeholder 36865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endParaRPr lang="en-US" sz="1200"/>
          </a:p>
        </p:txBody>
      </p:sp>
      <p:sp>
        <p:nvSpPr>
          <p:cNvPr id="36867" name="Date Placeholder 36866"/>
          <p:cNvSpPr>
            <a:spLocks noGrp="1"/>
          </p:cNvSpPr>
          <p:nvPr>
            <p:ph type="dt" idx="1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/>
            <a:endParaRPr lang="en-US" sz="1200"/>
          </a:p>
        </p:txBody>
      </p:sp>
      <p:sp>
        <p:nvSpPr>
          <p:cNvPr id="36868" name="Slide Image Placeholder 36867"/>
          <p:cNvSpPr>
            <a:spLocks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6869" name="Text Placeholder 36868"/>
          <p:cNvSpPr>
            <a:spLocks noGrp="1"/>
          </p:cNvSpPr>
          <p:nvPr>
            <p:ph type="body" sz="quarter" idx="3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dirty="0"/>
              <a:t>Click to edit Master text styles</a:t>
            </a:r>
            <a:endParaRPr dirty="0"/>
          </a:p>
          <a:p>
            <a:pPr lvl="1"/>
            <a:r>
              <a:rPr dirty="0"/>
              <a:t>Second level</a:t>
            </a:r>
            <a:endParaRPr dirty="0"/>
          </a:p>
          <a:p>
            <a:pPr lvl="2"/>
            <a:r>
              <a:rPr dirty="0"/>
              <a:t>Third level</a:t>
            </a:r>
            <a:endParaRPr dirty="0"/>
          </a:p>
          <a:p>
            <a:pPr lvl="3"/>
            <a:r>
              <a:rPr dirty="0"/>
              <a:t>Fourth level</a:t>
            </a:r>
            <a:endParaRPr dirty="0"/>
          </a:p>
          <a:p>
            <a:pPr lvl="4"/>
            <a:r>
              <a:rPr dirty="0"/>
              <a:t>Fifth level</a:t>
            </a:r>
            <a:endParaRPr dirty="0"/>
          </a:p>
        </p:txBody>
      </p:sp>
      <p:sp>
        <p:nvSpPr>
          <p:cNvPr id="36870" name="Footer Placeholder 36869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endParaRPr lang="en-US" sz="1200"/>
          </a:p>
        </p:txBody>
      </p:sp>
      <p:sp>
        <p:nvSpPr>
          <p:cNvPr id="36871" name="Slide Number Placeholder 36870"/>
          <p:cNvSpPr>
            <a:spLocks noGrp="1"/>
          </p:cNvSpPr>
          <p:nvPr>
            <p:ph type="sldNum" sz="quarter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en-US" sz="1200"/>
            </a:fld>
            <a:endParaRPr lang="en-US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lvl="0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 algn="r"/>
            <a:fld id="{9A0DB2DC-4C9A-4742-B13C-FB6460FD3503}" type="slidenum">
              <a:rPr lang="en-US" sz="1200"/>
            </a:fld>
            <a:endParaRPr 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"/>
            <a:ext cx="9155113" cy="68675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547813" y="1701800"/>
            <a:ext cx="6908800" cy="10826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547813" y="2927350"/>
            <a:ext cx="6913562" cy="1752600"/>
          </a:xfrm>
        </p:spPr>
        <p:txBody>
          <a:bodyPr/>
          <a:lstStyle>
            <a:lvl1pPr marL="0" indent="0" algn="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</p:spTree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</p:spTree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</p:spTree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</p:spTree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</p:spTree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</p:spTree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</p:spTree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</p:spTree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</p:spTree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</p:spTree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90500"/>
            <a:ext cx="20574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0500"/>
            <a:ext cx="60198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</p:spTree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BF4F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09" y="6457950"/>
            <a:ext cx="1076628" cy="342900"/>
          </a:xfrm>
          <a:prstGeom prst="rect">
            <a:avLst/>
          </a:prstGeom>
        </p:spPr>
      </p:pic>
    </p:spTree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BF4F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09" y="6457950"/>
            <a:ext cx="1076628" cy="342900"/>
          </a:xfrm>
          <a:prstGeom prst="rect">
            <a:avLst/>
          </a:prstGeom>
        </p:spPr>
      </p:pic>
    </p:spTree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BF4F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09" y="6457950"/>
            <a:ext cx="1076628" cy="342900"/>
          </a:xfrm>
          <a:prstGeom prst="rect">
            <a:avLst/>
          </a:prstGeom>
        </p:spPr>
      </p:pic>
    </p:spTree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BF4F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09" y="6457950"/>
            <a:ext cx="1076628" cy="342900"/>
          </a:xfrm>
          <a:prstGeom prst="rect">
            <a:avLst/>
          </a:prstGeom>
        </p:spPr>
      </p:pic>
    </p:spTree>
  </p:cSld>
  <p:clrMapOvr>
    <a:masterClrMapping/>
  </p:clrMapOvr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BF4F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09" y="6457950"/>
            <a:ext cx="1076628" cy="342900"/>
          </a:xfrm>
          <a:prstGeom prst="rect">
            <a:avLst/>
          </a:prstGeom>
        </p:spPr>
      </p:pic>
    </p:spTree>
  </p:cSld>
  <p:clrMapOvr>
    <a:masterClrMapping/>
  </p:clrMapOvr>
  <p:hf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BF4F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09" y="6457950"/>
            <a:ext cx="1076628" cy="342900"/>
          </a:xfrm>
          <a:prstGeom prst="rect">
            <a:avLst/>
          </a:prstGeom>
        </p:spPr>
      </p:pic>
    </p:spTree>
  </p:cSld>
  <p:clrMapOvr>
    <a:masterClrMapping/>
  </p:clrMapOvr>
  <p:hf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BF4F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09" y="6457950"/>
            <a:ext cx="1076628" cy="342900"/>
          </a:xfrm>
          <a:prstGeom prst="rect">
            <a:avLst/>
          </a:prstGeom>
        </p:spPr>
      </p:pic>
    </p:spTree>
  </p:cSld>
  <p:clrMapOvr>
    <a:masterClrMapping/>
  </p:clrMapOvr>
  <p:hf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BF4F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09" y="6457950"/>
            <a:ext cx="1076628" cy="342900"/>
          </a:xfrm>
          <a:prstGeom prst="rect">
            <a:avLst/>
          </a:prstGeom>
        </p:spPr>
      </p:pic>
    </p:spTree>
  </p:cSld>
  <p:clrMapOvr>
    <a:masterClrMapping/>
  </p:clrMapOvr>
  <p:hf hd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BF4F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09" y="6457950"/>
            <a:ext cx="1076628" cy="342900"/>
          </a:xfrm>
          <a:prstGeom prst="rect">
            <a:avLst/>
          </a:prstGeom>
        </p:spPr>
      </p:pic>
    </p:spTree>
  </p:cSld>
  <p:clrMapOvr>
    <a:masterClrMapping/>
  </p:clrMapOvr>
  <p:hf hd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BF4F3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09" y="6457950"/>
            <a:ext cx="1076628" cy="342900"/>
          </a:xfrm>
          <a:prstGeom prst="rect">
            <a:avLst/>
          </a:prstGeom>
        </p:spPr>
      </p:pic>
    </p:spTree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4" Type="http://schemas.openxmlformats.org/officeDocument/2006/relationships/theme" Target="../theme/theme1.xml"/><Relationship Id="rId23" Type="http://schemas.openxmlformats.org/officeDocument/2006/relationships/image" Target="../media/image3.jpeg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8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457200" y="1174750"/>
            <a:ext cx="82296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hdr="0" dt="0"/>
  <p:txStyles>
    <p:titleStyle>
      <a:lvl1pPr algn="r" rtl="0" fontAlgn="base">
        <a:spcBef>
          <a:spcPct val="0"/>
        </a:spcBef>
        <a:spcAft>
          <a:spcPct val="0"/>
        </a:spcAft>
        <a:defRPr sz="3600" kern="1200">
          <a:solidFill>
            <a:schemeClr val="bg1"/>
          </a:solidFill>
          <a:latin typeface="+mj-lt"/>
          <a:ea typeface="+mj-ea"/>
          <a:cs typeface="+mj-cs"/>
        </a:defRPr>
      </a:lvl1pPr>
      <a:lvl2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jpe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1.jpe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jpe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762000"/>
            <a:ext cx="8932545" cy="6073140"/>
          </a:xfrm>
        </p:spPr>
        <p:txBody>
          <a:bodyPr/>
          <a:p>
            <a:pPr marL="0" indent="0" algn="ctr">
              <a:buNone/>
            </a:pPr>
            <a:endParaRPr lang="en-US" sz="3600" b="1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ctr">
              <a:buNone/>
            </a:pPr>
            <a:endParaRPr lang="en-US" b="1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ctr">
              <a:buNone/>
            </a:pPr>
            <a:r>
              <a:rPr lang="en-US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College of Business and Economics</a:t>
            </a:r>
            <a:endParaRPr lang="en-US" b="1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ctr">
              <a:buNone/>
            </a:pPr>
            <a:r>
              <a:rPr lang="en-US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Departement of Management</a:t>
            </a:r>
            <a:endParaRPr lang="en-US" b="1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ctr">
              <a:buNone/>
            </a:pPr>
            <a:endParaRPr lang="en-US" sz="3600" b="1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ctr">
              <a:buNone/>
            </a:pPr>
            <a:r>
              <a:rPr lang="en-US" sz="36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CHAPTER 3: BUSINESS FORMATION</a:t>
            </a:r>
            <a:r>
              <a:rPr lang="en-US" sz="28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                     </a:t>
            </a:r>
            <a:endParaRPr lang="en-US" sz="2800" b="1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ctr">
              <a:buNone/>
            </a:pPr>
            <a:r>
              <a:rPr lang="en-US" sz="28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                          </a:t>
            </a:r>
            <a:endParaRPr lang="en-US" sz="2800" b="1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ctr">
              <a:buNone/>
            </a:pPr>
            <a:r>
              <a:rPr lang="en-US" sz="2800" b="1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                                               </a:t>
            </a:r>
            <a:endParaRPr lang="en-US" sz="2400" b="1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pic>
        <p:nvPicPr>
          <p:cNvPr id="5" name="Picture 42"/>
          <p:cNvPicPr>
            <a:picLocks noChangeAspect="1" noChangeArrowheads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43200" y="0"/>
            <a:ext cx="3797300" cy="162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74920"/>
            <a:ext cx="3178810" cy="1706880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4800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Chapter Learning Outcomes</a:t>
            </a:r>
            <a:endParaRPr lang="en-US" sz="4800" baseline="-25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555" y="1174750"/>
            <a:ext cx="8886825" cy="5530850"/>
          </a:xfrm>
        </p:spPr>
        <p:txBody>
          <a:bodyPr/>
          <a:p>
            <a:pPr marL="0" indent="0" algn="just">
              <a:buNone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After completing this chapter, students should be able to: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100" b="1">
                <a:latin typeface="Times New Roman" panose="02020603050405020304" pitchFamily="18" charset="0"/>
                <a:cs typeface="Times New Roman" panose="02020603050405020304" pitchFamily="18" charset="0"/>
              </a:rPr>
              <a:t>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Explain the Concept of Business Development;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Identify the Forms of Business Ownership;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Analyze the Importance/Role of MSEs;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Set Up Small Scale Business;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Distinguish the Failure and Success Factors of MSEs;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Identify the Problems of Small Scale Business in Ethiopia; and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Develop Organizational Culture.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3.1 Introduction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40" y="990600"/>
            <a:ext cx="8667115" cy="5461000"/>
          </a:xfrm>
        </p:spPr>
        <p:txBody>
          <a:bodyPr/>
          <a:p>
            <a:pPr algn="just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A business formation deals with the formalization and actual implementation of business ideas in to practice.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Small businesses are creating new jobs.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Large businesses continue eliminating jobs.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They are more flexible in the products and services they offer.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211455" y="1174750"/>
            <a:ext cx="8475345" cy="4953000"/>
          </a:xfrm>
        </p:spPr>
        <p:txBody>
          <a:bodyPr/>
          <a:p>
            <a:pPr marL="0" indent="0" algn="just">
              <a:buNone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 this chapter, the following are discussed: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The issues of business development and the different legal forms of business.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• The concept of MSEs in the Ethiopian and international context.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just">
              <a:buNone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• The importance/roles and set up of MSEs.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just">
              <a:buNone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• The success and failure factors of MSEs.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just">
              <a:buNone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• The common problems of MSEs in Ethiopia.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52400"/>
            <a:ext cx="8229600" cy="582613"/>
          </a:xfrm>
        </p:spPr>
        <p:txBody>
          <a:bodyPr/>
          <a:p>
            <a:pPr algn="ctr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1.2 The Concept of Small Business Development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8595" y="847725"/>
            <a:ext cx="8812530" cy="5654675"/>
          </a:xfrm>
        </p:spPr>
        <p:txBody>
          <a:bodyPr/>
          <a:p>
            <a:pPr algn="just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Size and standards to define small business are arbitrary.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Different countries adopt different standards based on socio-economic conditions.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Size criteria include number of employees and startup capital.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Size alone does not reflect the true nature of an enterprise.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Qualitative characteristics differentiate small businesses from others.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Economic/control definitions include market share, independence, and personalized management.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52400"/>
            <a:ext cx="8229600" cy="582613"/>
          </a:xfrm>
        </p:spPr>
        <p:txBody>
          <a:bodyPr/>
          <a:p>
            <a:pPr algn="ctr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Micro and Small Enterprises (MSEs)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8595" y="847725"/>
            <a:ext cx="8812530" cy="5654675"/>
          </a:xfrm>
        </p:spPr>
        <p:txBody>
          <a:bodyPr/>
          <a:p>
            <a:pPr algn="just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MSEs cover a wide range of industries and play an important role in all economies.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In Ethiopia, MSEs occupy a prominent position in economic development.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Small entrepreneurs can start with less capital, get quick returns, and adapt to market changes.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Common problems include lack of finance, poor operations, lack of experience, and weak financial management.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Setting up a venture begins with searching for opportunities using environmental scanning, creativity, and innovation.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1.3 Forms of Business (A Short Explanation)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three basic legal forms of business formation with some variations available depending on the entrepreneurs’ needs.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three basic legal forms are:-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">
              <a:buNone/>
            </a:pP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1)Proprietorship,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">
              <a:buNone/>
            </a:pP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2)Partnership, and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">
              <a:buNone/>
            </a:pP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3)Corporation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">
              <a:buNone/>
            </a:pP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Variations exist particularly in partnerships and corporations.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Forms of Business 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pic>
        <p:nvPicPr>
          <p:cNvPr id="5" name="Content Placeholder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04800" y="1066800"/>
            <a:ext cx="8660765" cy="5031740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Comparing Legal Forms of Business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6845" y="969010"/>
            <a:ext cx="8529955" cy="5574665"/>
          </a:xfrm>
        </p:spPr>
        <p:txBody>
          <a:bodyPr/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These three basic legal forms are compared with regard to;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ownership,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liability, 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start-up costs, 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continuity,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transferability of interest, 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capital requirements, 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management control, 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of profits, and 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attractiveness for raising capital.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Entrepreneurs must carefully evaluate the pros and cons of each legal form.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Timing of Legal Form Decision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2410" y="1174750"/>
            <a:ext cx="8853805" cy="4953000"/>
          </a:xfrm>
        </p:spPr>
        <p:txBody>
          <a:bodyPr/>
          <a:p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The decision on legal form should be made before submitting a business plan.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It is important for entrepreneurs seeking venture capital.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A table comparison of the three legal forms against the above factors is presented as follows.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Table 3.1 Factors in three forms of  Business Formation 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pic>
        <p:nvPicPr>
          <p:cNvPr id="92" name="Image 92"/>
          <p:cNvPicPr>
            <a:picLocks noChangeAspect="1"/>
          </p:cNvPicPr>
          <p:nvPr>
            <p:ph idx="1"/>
          </p:nvPr>
        </p:nvPicPr>
        <p:blipFill>
          <a:blip r:embed="rId1" cstate="print"/>
          <a:stretch>
            <a:fillRect/>
          </a:stretch>
        </p:blipFill>
        <p:spPr>
          <a:xfrm>
            <a:off x="0" y="773430"/>
            <a:ext cx="9229090" cy="5464175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Factors in three forms of  Business Formation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pic>
        <p:nvPicPr>
          <p:cNvPr id="93" name="Image 93"/>
          <p:cNvPicPr>
            <a:picLocks noChangeAspect="1"/>
          </p:cNvPicPr>
          <p:nvPr>
            <p:ph idx="1"/>
          </p:nvPr>
        </p:nvPicPr>
        <p:blipFill>
          <a:blip r:embed="rId1" cstate="print"/>
          <a:stretch>
            <a:fillRect/>
          </a:stretch>
        </p:blipFill>
        <p:spPr>
          <a:xfrm>
            <a:off x="152400" y="990600"/>
            <a:ext cx="8853805" cy="5242560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1.4Definition and Role/Importance of MSEs in Developing Countries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Small businesses play a vital role in industrial economies, especially in developing countries.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Predominant even in developed countries such as USA and Japan.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Difference between small business and entrepreneurial ventures: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Entrepreneurial ventures: growth-oriented, innovative, new offerings, rapid growth, high uncertainty.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Small businesses: incremental growth, known products/services, focus on sales, marketing, and market expansion.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Defining Small Business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Specifying size and standard is necessary; standards differ by purpose and viewpoint.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Examples: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Legislators may define a small firm as having ≤10 employees.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Businesses may be “small” relative to large firms, but “large” relative to smaller ones.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Two main approaches: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Size Criteria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Economic/Control Criteria</a:t>
            </a:r>
            <a:endParaRPr 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Size Criteria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Financing supplied by one individual or small group (≤15–20 owners).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Operations are geographically localized (except marketing).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Small compared to largest firms in the industry.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Usually fewer than 100 employees.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Criteria vary by country: employees, capital investment, or both.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Economic/Control Criteria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Market Share: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Cannot influence national prices.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Independence: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Owner controls major decisions.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Management: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Owner actively manages all major decisions; little delegation.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Technology: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Mostly labor intensive; few are technology intensive.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Geographical Area: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Operations often local; privately owned with low sales volume.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1.4.2Role/Importance of MSEs in Developing Countries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MSEs cover a wide range of industries and play an important role in both developed and developing economies.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In Ethiopia, MSEs occupy a prominent position in economic development.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number of MSEs is growing over time.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MSEs need strong socio-economic and political support.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Role/Importance of MSEs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457200" indent="-457200" algn="just">
              <a:buFont typeface="+mj-lt"/>
              <a:buAutoNum type="arabicPeriod"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Large Employment Opportunities: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MSEs are labor-intensive and generate more jobs per unit of capital than large-scale industries.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Economical Use of Capital: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Require relatively small investment; suitable for capital-scarce countries.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Balanced Regional Development: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Located in villages and small towns, reducing urban migration and regional disparities.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Equitable Distribution of Wealth: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Decentralizes economic power; promotes wider income distribution and harmonious worker-employer relations.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Role/Importance of MSEs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457200" indent="-457200" algn="just">
              <a:buFont typeface="+mj-lt"/>
              <a:buAutoNum type="arabicPeriod" startAt="5"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Promote Equality and Harmony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: MSEs disperse income widely, reduce concentration of economic power, foster harmonious worker-employer relations, and encourage competitiveness and self-development.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 startAt="5"/>
            </a:pP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 startAt="5"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Dispersal over Wide Areas: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MSEs spread across regions, aiding industrialization.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 startAt="5"/>
            </a:pP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 startAt="5"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Higher Standard of Living: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Increase national income and purchasing power in rural and semi-urban areas.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 startAt="5"/>
            </a:pP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 startAt="5"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Mobilization of Local Resources &amp; National Identity: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Locally owned, promote savings, investment, and cultural traditions.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 startAt="5"/>
            </a:pP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 startAt="5"/>
            </a:pP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 startAt="5"/>
            </a:pP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Role/Importance of MSEs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52500"/>
            <a:ext cx="8229600" cy="4953000"/>
          </a:xfrm>
        </p:spPr>
        <p:txBody>
          <a:bodyPr/>
          <a:p>
            <a:pPr marL="457200" indent="-457200" algn="just">
              <a:buClr>
                <a:srgbClr val="000000"/>
              </a:buClr>
              <a:buSzPct val="99000"/>
              <a:buFont typeface="+mj-lt"/>
              <a:buAutoNum type="arabicPeriod" startAt="8"/>
            </a:pP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Clr>
                <a:srgbClr val="000000"/>
              </a:buClr>
              <a:buSzPct val="99000"/>
              <a:buFont typeface="+mj-lt"/>
              <a:buAutoNum type="arabicPeriod" startAt="9"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Innovation and Simple Technology: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Easily adopt new, simple production techniques; highly innovative without heavy R&amp;D.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457200" indent="-457200" algn="just">
              <a:buClr>
                <a:srgbClr val="000000"/>
              </a:buClr>
              <a:buSzPct val="99000"/>
              <a:buFont typeface="+mj-lt"/>
              <a:buAutoNum type="arabicPeriod" startAt="9"/>
            </a:pP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457200" indent="-457200" algn="just">
              <a:buClr>
                <a:srgbClr val="000000"/>
              </a:buClr>
              <a:buSzPct val="99000"/>
              <a:buFont typeface="+mj-lt"/>
              <a:buAutoNum type="arabicPeriod" startAt="9"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Less Dependence on Foreign Capital / Export Promotion: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Use locally made machinery, open export opportunities.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Clr>
                <a:srgbClr val="000000"/>
              </a:buClr>
              <a:buSzPct val="99000"/>
              <a:buFont typeface="+mj-lt"/>
              <a:buAutoNum type="arabicPeriod" startAt="9"/>
            </a:pP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Clr>
                <a:srgbClr val="000000"/>
              </a:buClr>
              <a:buSzPct val="99000"/>
              <a:buFont typeface="+mj-lt"/>
              <a:buAutoNum type="arabicPeriod" startAt="9"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Promotion of Self-Employment: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Fosters individual initiative and employment for educated/professional class.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Clr>
                <a:srgbClr val="000000"/>
              </a:buClr>
              <a:buSzPct val="99000"/>
              <a:buFont typeface="+mj-lt"/>
              <a:buAutoNum type="arabicPeriod" startAt="9"/>
            </a:pP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Clr>
                <a:srgbClr val="000000"/>
              </a:buClr>
              <a:buSzPct val="99000"/>
              <a:buFont typeface="+mj-lt"/>
              <a:buAutoNum type="arabicPeriod" startAt="9"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Environmental Protection: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Helps reduce pollution.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Clr>
                <a:srgbClr val="000000"/>
              </a:buClr>
              <a:buSzPct val="99000"/>
              <a:buFont typeface="+mj-lt"/>
              <a:buNone/>
            </a:pP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Role/Importance of MSEs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55345"/>
            <a:ext cx="8229600" cy="5554345"/>
          </a:xfrm>
        </p:spPr>
        <p:txBody>
          <a:bodyPr/>
          <a:p>
            <a:pPr marL="457200" indent="-457200" algn="just">
              <a:buFont typeface="+mj-lt"/>
              <a:buAutoNum type="arabicPeriod" startAt="13"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Shorter Gestation Period: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Investment projects start generating output quickly.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 startAt="13"/>
            </a:pP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 startAt="13"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Facilitate Development of Large Enterprises: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Provide inputs and intermediate goods.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 startAt="13"/>
            </a:pP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 startAt="13"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Individual Tastes, Fashions, Personalized Services: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Flexible to adapt to market or technological changes.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 startAt="13"/>
            </a:pP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 startAt="13"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More Employment Creation Capacity: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Labor-intensive, create more jobs per unit of capital than large-scale industries.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+mj-lt"/>
              <a:buAutoNum type="arabicPeriod" startAt="13"/>
            </a:pP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Font typeface="+mj-lt"/>
              <a:buNone/>
            </a:pP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1.5Classification of Micro and Small Enterprises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945" y="855345"/>
            <a:ext cx="8910955" cy="5554345"/>
          </a:xfrm>
        </p:spPr>
        <p:txBody>
          <a:bodyPr/>
          <a:p>
            <a:pPr marL="0" indent="0" algn="just">
              <a:buNone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1. In Case of Manufacturing Enterprise (Manufacturing, Construction and Mining):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just">
              <a:buNone/>
            </a:pP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just">
              <a:buNone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Micro Enterprise: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457200" indent="-457200" algn="just">
              <a:buFont typeface="+mj-lt"/>
              <a:buAutoNum type="arabicPeriod" startAt="13"/>
            </a:pP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Investment in plant and machinery ≤ Birr 100,000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Operates with 5 people including the owner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just">
              <a:buFont typeface="+mj-lt"/>
              <a:buNone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• </a:t>
            </a: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Small Enterprise: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457200" indent="-457200" algn="just">
              <a:buFont typeface="+mj-lt"/>
              <a:buAutoNum type="arabicPeriod" startAt="13"/>
            </a:pP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Investment in plant and machinery &gt; Birr 100,000 and ≤ Birr 1.5 million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Operates with 6–30 persons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581400" y="6409690"/>
            <a:ext cx="2895600" cy="476250"/>
          </a:xfrm>
        </p:spPr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of Micro and Small Enterprises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0660" y="855345"/>
            <a:ext cx="8486140" cy="5554345"/>
          </a:xfrm>
        </p:spPr>
        <p:txBody>
          <a:bodyPr/>
          <a:p>
            <a:pPr marL="0" indent="0" algn="just">
              <a:buNone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2.In Case of Service Enterprise (Retailing, Transport, Hotel and Tourism, ICT and Maintenance):Micro Enterprise: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just"/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Total asset value ≤ Birr 50,000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Operates with 5 persons including the owner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just"/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just"/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Small Enterprise: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just"/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Total asset value &gt; Birr 100,000 and ≤ Birr 1.5 million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Operates with 6–30 persons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Table 3.2 Improved defintitions of MSEs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pic>
        <p:nvPicPr>
          <p:cNvPr id="94" name="Image 94"/>
          <p:cNvPicPr>
            <a:picLocks noChangeAspect="1"/>
          </p:cNvPicPr>
          <p:nvPr>
            <p:ph idx="1"/>
          </p:nvPr>
        </p:nvPicPr>
        <p:blipFill>
          <a:blip r:embed="rId1" cstate="print"/>
          <a:stretch>
            <a:fillRect/>
          </a:stretch>
        </p:blipFill>
        <p:spPr>
          <a:xfrm>
            <a:off x="228600" y="1066800"/>
            <a:ext cx="8796020" cy="5120640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3200"/>
              <a:t>Priority Sectors for MSEs in Ethiopia</a:t>
            </a:r>
            <a:endParaRPr lang="en-US" sz="3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7960" y="1174750"/>
            <a:ext cx="8778240" cy="4953000"/>
          </a:xfrm>
        </p:spPr>
        <p:txBody>
          <a:bodyPr/>
          <a:p>
            <a:pPr marL="0" indent="0" algn="just">
              <a:buNone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• Manufacturing Sector: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Textile and garment, leather and leather products, food processing and beverage, metal works and engineering, wood works (furniture and ornaments), agro-processing.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Construction Sector: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Sub-contracting, building materials, traditional mining works, cobblestone, infrastructure sub-contract, prestigious goods.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Trade Sector: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Wholesale of domestic products, retail sale of domestic products, raw materials supply.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3200"/>
              <a:t>Priority Sectors for MSEs in Ethiopia</a:t>
            </a:r>
            <a:endParaRPr lang="en-US" sz="3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7960" y="1174750"/>
            <a:ext cx="8778240" cy="4953000"/>
          </a:xfrm>
        </p:spPr>
        <p:txBody>
          <a:bodyPr/>
          <a:p>
            <a:pPr marL="0" indent="0" algn="just">
              <a:buNone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• Service Sector: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1835">
                <a:latin typeface="Times New Roman" panose="02020603050405020304" pitchFamily="18" charset="0"/>
                <a:cs typeface="Times New Roman" panose="02020603050405020304" pitchFamily="18" charset="0"/>
              </a:rPr>
              <a:t>Small and rural transport, café and restaurants, store service, tourism, canning/packing, management, municipality, project engineering, product design &amp; development, maintenance, beauty salon, electronics/software development, decoration, internet café.</a:t>
            </a:r>
            <a:endParaRPr lang="en-US" sz="1835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• Agriculture Sector (Urban Agriculture):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ClrTx/>
              <a:buSzTx/>
              <a:buFontTx/>
            </a:pPr>
            <a:r>
              <a:rPr lang="en-US" sz="1835">
                <a:latin typeface="Times New Roman" panose="02020603050405020304" pitchFamily="18" charset="0"/>
                <a:cs typeface="Times New Roman" panose="02020603050405020304" pitchFamily="18" charset="0"/>
              </a:rPr>
              <a:t>Modern livestock rearing, bee production, poultry, modern forest development, vegetables and fruits, modern irrigation, animal food processing.</a:t>
            </a:r>
            <a:endParaRPr lang="en-US" sz="183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Levels of MSEs in Ethiopia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Start-up Level: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Enterprises with people interested in establishing MSEs or skilled individuals from institutions.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Begin production or service under a legal framework or entity.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Growth Level: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Enterprises competent in price, quality, and supply; profitable using support provided.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Larger manpower and total assets than start-up level.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Uses bookkeeping systems.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/>
              <a:t>Levels of MSEs in Ethiopia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Maturity Level: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Enterprises are profitable and able to invest further.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Fulfill sector definitions and utilize provided support.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Growth-Medium Level: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Small enterprises transform into medium level.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Competent in price, quality, and supply using available suppor</a:t>
            </a:r>
            <a:r>
              <a:rPr lang="en-US" sz="2100" b="1">
                <a:latin typeface="Times New Roman" panose="02020603050405020304" pitchFamily="18" charset="0"/>
                <a:cs typeface="Times New Roman" panose="02020603050405020304" pitchFamily="18" charset="0"/>
              </a:rPr>
              <a:t>t.</a:t>
            </a:r>
            <a:endParaRPr lang="en-US" sz="21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1.6 Setting up Small Scale Business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305" y="1174750"/>
            <a:ext cx="8659495" cy="4953000"/>
          </a:xfrm>
        </p:spPr>
        <p:txBody>
          <a:bodyPr/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Entrepreneurship involves establishing an enterprise to be a job provider.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Setting up a small enterprise is challenging but rewarding.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Careful identification of the product or service is critical to avoid costly mistakes.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After identifying 4–5 ideas, conduct a detailed assessment and feasibility study.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study helps select one idea objectively and systematically.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Stages of Entrepreneurial Process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305" y="1174750"/>
            <a:ext cx="8659495" cy="4953000"/>
          </a:xfrm>
        </p:spPr>
        <p:txBody>
          <a:bodyPr/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Three Key Stages: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Discovery – Identify business opportunities.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– Assess feasibility and potential success.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– Launch the enterprise.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These stages can be further divided into</a:t>
            </a: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seven detailed steps for systematic planning.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Stages of Entrepreneurial Process</a:t>
            </a:r>
            <a:b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pic>
        <p:nvPicPr>
          <p:cNvPr id="95" name="Image 95"/>
          <p:cNvPicPr>
            <a:picLocks noChangeAspect="1"/>
          </p:cNvPicPr>
          <p:nvPr>
            <p:ph idx="1"/>
          </p:nvPr>
        </p:nvPicPr>
        <p:blipFill>
          <a:blip r:embed="rId1" cstate="print"/>
          <a:stretch>
            <a:fillRect/>
          </a:stretch>
        </p:blipFill>
        <p:spPr>
          <a:xfrm>
            <a:off x="304800" y="1066800"/>
            <a:ext cx="8629015" cy="5117465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Entrepreneurial Process : Discovery Stage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 algn="just"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Step 1 : Discovering Entrepreneurial Potential: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Assess personal resources, strengths, and challenges.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Step 2 :  Identifying a Problem &amp; Solution: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Select an idea that solves a real problem and meets a genuine need.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Entrepreneurial Process : 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Evaluation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Stage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 algn="just"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Step 3 – Evaluating the Idea: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Check market need, feasibility (technical, economic, social, legal).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Step 4 – Investigating Resources: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Identify required resources and plan how to deliver product/service to market.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Entrepreneurial Process : 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Exploitation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 Stage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 algn="just">
              <a:buNone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Step 5 – Forming the Enterprise: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Establish business entity and protect intellectual property.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• Step 6 – Implementing Strategy: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Execute marketing, operations, and financial plans.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• Step 7 – Planning the Future: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Visualize growth and future direction.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Analysis 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74750"/>
            <a:ext cx="6470650" cy="4953000"/>
          </a:xfrm>
        </p:spPr>
        <p:txBody>
          <a:bodyPr/>
          <a:p>
            <a:pPr algn="just"/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Macro Environment: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Political, technological, social, legal, and economic factors affect the venture.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Sectoral Analysis: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Study industry trends, competition, substitutes, entry barriers, and sector-specific policies.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SWOT Analysis:</a:t>
            </a:r>
            <a:endParaRPr 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Strengths: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Internal positive factors to leverage.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Weaknesses: Internal negative factors to overcome.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Opportunities: External factors to exploit.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Threats: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External risks like competition, policy changes, or technology shifts.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Combine environmental opportunities with personal strengths to launch products/services aligned with capabilities and societal needs.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pic>
        <p:nvPicPr>
          <p:cNvPr id="96" name="Image 96"/>
          <p:cNvPicPr>
            <a:picLocks noChangeAspect="1"/>
          </p:cNvPicPr>
          <p:nvPr>
            <p:ph sz="half" idx="2"/>
          </p:nvPr>
        </p:nvPicPr>
        <p:blipFill>
          <a:blip r:embed="rId1" cstate="print"/>
          <a:stretch>
            <a:fillRect/>
          </a:stretch>
        </p:blipFill>
        <p:spPr>
          <a:xfrm>
            <a:off x="7010400" y="1371600"/>
            <a:ext cx="2113280" cy="1356360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Figure 3.2 Hierarchial of Enviromental Analysis 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pic>
        <p:nvPicPr>
          <p:cNvPr id="97" name="Image 97"/>
          <p:cNvPicPr>
            <a:picLocks noChangeAspect="1"/>
          </p:cNvPicPr>
          <p:nvPr>
            <p:ph idx="1"/>
          </p:nvPr>
        </p:nvPicPr>
        <p:blipFill>
          <a:blip r:embed="rId1" cstate="print"/>
          <a:stretch>
            <a:fillRect/>
          </a:stretch>
        </p:blipFill>
        <p:spPr>
          <a:xfrm>
            <a:off x="2514600" y="1752600"/>
            <a:ext cx="3581400" cy="366712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1.7 Small Business Failure and Success Factors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005" y="847725"/>
            <a:ext cx="8757920" cy="5248275"/>
          </a:xfrm>
        </p:spPr>
        <p:txBody>
          <a:bodyPr/>
          <a:p>
            <a:pPr algn="just"/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Business failure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occurs when a business closes due to bankruptcy, foreclosure, voluntary withdrawal, or court action (receivership/reorganization).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Common Causes of Failure: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Inadequate management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Inadequate financing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Industry weakness or high competition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High operating expenses and low profit margins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Other Causes: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None/>
            </a:pPr>
            <a:r>
              <a:rPr lang="en-US" sz="2100" b="1">
                <a:latin typeface="Times New Roman" panose="02020603050405020304" pitchFamily="18" charset="0"/>
                <a:cs typeface="Times New Roman" panose="02020603050405020304" pitchFamily="18" charset="0"/>
              </a:rPr>
              <a:t>Neglect: 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owner does not pay attention to the business.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">
              <a:buNone/>
            </a:pPr>
            <a:r>
              <a:rPr lang="en-US" sz="2100" b="1">
                <a:latin typeface="Times New Roman" panose="02020603050405020304" pitchFamily="18" charset="0"/>
                <a:cs typeface="Times New Roman" panose="02020603050405020304" pitchFamily="18" charset="0"/>
              </a:rPr>
              <a:t>Fraud: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intentional misrepresentation or misuse of business funds.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just">
              <a:buNone/>
            </a:pPr>
            <a:r>
              <a:rPr lang="en-US" sz="2100" b="1">
                <a:latin typeface="Times New Roman" panose="02020603050405020304" pitchFamily="18" charset="0"/>
                <a:cs typeface="Times New Roman" panose="02020603050405020304" pitchFamily="18" charset="0"/>
              </a:rPr>
              <a:t>Disaster :</a:t>
            </a:r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 unforeseen events like fires, storms, theft, or strikes.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Business Termination versus Failure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7005" y="847725"/>
            <a:ext cx="8757920" cy="5248275"/>
          </a:xfrm>
        </p:spPr>
        <p:txBody>
          <a:bodyPr/>
          <a:p>
            <a:pPr algn="just"/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Business Termination: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Occurs when a business no longer exists for any reason.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Reasons include sale of the business, retirement, loss of interest, market changes, or restructuring.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May involve changing form (e.g., partnership → corporation) or relocation.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Business Failure: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Occurs when a business closes with a financial loss to a creditor.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Not all closures are failures; termination can happen for positive or neutral reasons.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Common Mistakes Leading to Business Failure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Neglecting Future Planning: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Failing to plan the direction and growth of the business.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Underestimating Commitment: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Not recognizing the long hours and hard work required.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Poor Delegation: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Not hiring additional staff or using employees effectively; resisting delegation.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Common Mistakes Leading to Business Failure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Financial Mismanagement: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Inaccurate cash flow estimates and capital requirements; insufficient cushion for unexpected events.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Ignoring Reality: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Failing to take strategic action; leaders must ask: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“If you weren’t already in this business, would you enter it today?”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If no, decide to fix, sell, or close the business.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1.7.2 Small Business Success Factors</a:t>
            </a:r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Identify Competitive Advantage: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Remain flexible, innovative, and customer-focused.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Symbiotic Relationship with Large Businesses: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Small businesses supply parts, distribution, and services, enabling large firms to focus on core competencies.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Efficiency and Skills: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Small businesses often perform better in distribution, customer service, and adaptability.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835">
                <a:latin typeface="Times New Roman" panose="02020603050405020304" pitchFamily="18" charset="0"/>
                <a:cs typeface="Times New Roman" panose="02020603050405020304" pitchFamily="18" charset="0"/>
              </a:rPr>
              <a:t>Basic business skills like accounting and quality orientation are critical.</a:t>
            </a:r>
            <a:endParaRPr lang="en-US" sz="183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Key Success Categories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67410"/>
            <a:ext cx="8229600" cy="5260340"/>
          </a:xfrm>
        </p:spPr>
        <p:txBody>
          <a:bodyPr/>
          <a:p>
            <a:pPr marL="0" indent="0">
              <a:buNone/>
            </a:pP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. Conducive Environment: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Political climate: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Positive government measures, liberal investment policy, industrial estates, low-cost loans.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Economic environment: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Helps in investment, market measurement, and forecasting.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Technology: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Adapt and utilize advances to improve operations.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Socio-cultural factors: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Influence enterprise survival and growth.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2. Adequate Credit Assistance: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Timely supply of credit, lower interest rates, relaxed collateral requirements, and project preparation support.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ClrTx/>
              <a:buSzTx/>
              <a:buFontTx/>
              <a:buNone/>
            </a:pP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3. Markets and Marketing Support: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Small businesses can collaborate to market products collectively.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Government assistance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in marketing and promotion can strengthen competitiveness.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645" y="76200"/>
            <a:ext cx="8606155" cy="582930"/>
          </a:xfrm>
        </p:spPr>
        <p:txBody>
          <a:bodyPr/>
          <a:p>
            <a:pPr algn="ctr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1.8 Main Supporting Packages for MSEs Development in Ethiopia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9550" y="1174750"/>
            <a:ext cx="8477250" cy="4953000"/>
          </a:xfrm>
        </p:spPr>
        <p:txBody>
          <a:bodyPr/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Awareness creation about the sector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Provision of legal services for forming legal enterprises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Technical and business management training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Financial support: 20% personal saving, 80% loan from MFIs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Facilitation of working premises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Industry extension services and Business Development Services (BDS)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Bookkeeping and audit services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1.9 Problems of Small Scale Business in Ethiopia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7960" y="1021715"/>
            <a:ext cx="8801100" cy="5315585"/>
          </a:xfrm>
        </p:spPr>
        <p:txBody>
          <a:bodyPr/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Small-scale businesses contribute less to economic development due to financial, production, and marketing problems.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Financial Problems: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Limited access to capital; reliance on traditional money lenders with high interest.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Production Problems: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getting good quality raw materials; outdated production techniques; inability to buy new equipment reduces productivity.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Management Challenges: 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Owners need to know the business in depth, develop a solid business plan, manage financial resources, understand financial statements, and manage people effectively.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-76200"/>
            <a:ext cx="8836025" cy="806450"/>
          </a:xfrm>
        </p:spPr>
        <p:txBody>
          <a:bodyPr/>
          <a:p>
            <a:pPr algn="ctr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3.9 Organizational Structure and Entrepreneurial Team Formation</a:t>
            </a:r>
            <a:b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3.9.1 Introduction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7960" y="945515"/>
            <a:ext cx="8801100" cy="5315585"/>
          </a:xfrm>
        </p:spPr>
        <p:txBody>
          <a:bodyPr/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Employees’ loyalty and commitment are crucial for success.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Investors look for management team’s full-time dedication and modest salary expectations.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Large salaries or part-time involvement may signal lack of commitment.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Strong management is key to attracting investors and ensuring venture stability.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76200"/>
            <a:ext cx="7981950" cy="806450"/>
          </a:xfrm>
        </p:spPr>
        <p:txBody>
          <a:bodyPr/>
          <a:p>
            <a:pPr algn="ctr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3.9.2 Designing the Organization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7960" y="945515"/>
            <a:ext cx="8801100" cy="5315585"/>
          </a:xfrm>
        </p:spPr>
        <p:txBody>
          <a:bodyPr/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Initial structure often simple, entrepreneur may handle all tasks.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As workload grows, expand roles with defined responsibilities.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Key elements: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 structure &amp; chart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Planning, measurement, evaluation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Rewards (promotions, bonuses, recognition)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Selection criteria &amp; training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Roles of entrepreneur/manager:</a:t>
            </a:r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Adaptor, Allocator, Negotiator.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76200"/>
            <a:ext cx="7981950" cy="806450"/>
          </a:xfrm>
        </p:spPr>
        <p:txBody>
          <a:bodyPr/>
          <a:p>
            <a:pPr algn="ctr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3.9.3Building the Management Team and a Successful Organization Culture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7960" y="945515"/>
            <a:ext cx="8801100" cy="5315585"/>
          </a:xfrm>
        </p:spPr>
        <p:txBody>
          <a:bodyPr/>
          <a:p>
            <a:pPr algn="just"/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Team must:</a:t>
            </a:r>
            <a:endParaRPr 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Execute the business plan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Identify fundamental changes in the business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Adjust strategies based on market and environment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Consider skills, personality, and character for effective team formation.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Ensure proper delegation and defined responsibilities.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76200"/>
            <a:ext cx="7981950" cy="806450"/>
          </a:xfrm>
        </p:spPr>
        <p:txBody>
          <a:bodyPr/>
          <a:p>
            <a:pPr algn="ctr"/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3.9.3Building the Management Team and a Successful Organization Culture</a:t>
            </a:r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7960" y="945515"/>
            <a:ext cx="8801100" cy="5315585"/>
          </a:xfrm>
        </p:spPr>
        <p:txBody>
          <a:bodyPr/>
          <a:p>
            <a:pPr algn="just"/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Culture =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attitudes, behaviors, dress, communication.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Entrepreneur strategies: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Align culture with business strategy (Core Family Values)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Motivate and reward employees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Encourage flexibility and innovation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Invest time in hiring for skills and character</a:t>
            </a:r>
            <a:endParaRPr lang="en-US" sz="21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Leadership reinforces culture and promotes job satisfaction.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Effective team + positive culture = critical to venture success.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  <a:t>Solomon Melese,PhD</a:t>
            </a: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zh-TW" altLang="en-US" dirty="0"/>
            </a:fld>
            <a:endParaRPr lang="zh-TW" altLang="en-US" dirty="0"/>
          </a:p>
        </p:txBody>
      </p:sp>
      <p:pic>
        <p:nvPicPr>
          <p:cNvPr id="7" name="Content Placeholder 6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-39370" y="0"/>
            <a:ext cx="9261475" cy="68446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ommunications and Dialogues">
  <a:themeElements>
    <a:clrScheme name="Communications and Dialogu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Communications and Dialogu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Communications and Dialogu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17525</Words>
  <Application>WPS Presentation</Application>
  <PresentationFormat>如螢幕大小</PresentationFormat>
  <Paragraphs>678</Paragraphs>
  <Slides>49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49</vt:i4>
      </vt:variant>
    </vt:vector>
  </HeadingPairs>
  <TitlesOfParts>
    <vt:vector size="56" baseType="lpstr">
      <vt:lpstr>Arial</vt:lpstr>
      <vt:lpstr>SimSun</vt:lpstr>
      <vt:lpstr>Wingdings</vt:lpstr>
      <vt:lpstr>Times New Roman</vt:lpstr>
      <vt:lpstr>Microsoft YaHei</vt:lpstr>
      <vt:lpstr>Arial Unicode MS</vt:lpstr>
      <vt:lpstr>Communications and Dialogues</vt:lpstr>
      <vt:lpstr>PowerPoint 演示文稿</vt:lpstr>
      <vt:lpstr>Chapter Learning Outcomes</vt:lpstr>
      <vt:lpstr>3.1 Introduction</vt:lpstr>
      <vt:lpstr>Introduction</vt:lpstr>
      <vt:lpstr>1.2 The Concept of Small Business Development</vt:lpstr>
      <vt:lpstr>Micro and Small Enterprises (MSEs)</vt:lpstr>
      <vt:lpstr>1.3 Forms of Business (A Short Explanation)</vt:lpstr>
      <vt:lpstr> Forms of Business  </vt:lpstr>
      <vt:lpstr>Comparing Legal Forms of Business</vt:lpstr>
      <vt:lpstr>Timing of Legal Form Decision</vt:lpstr>
      <vt:lpstr>Table 3.1 Factors in three forms of  Business Formation </vt:lpstr>
      <vt:lpstr> Factors in three forms of  Business Formation</vt:lpstr>
      <vt:lpstr>1.4Definition and Role/Importance of MSEs in Developing Countries</vt:lpstr>
      <vt:lpstr>Defining Small Business</vt:lpstr>
      <vt:lpstr>Size Criteria</vt:lpstr>
      <vt:lpstr>Economic/Control Criteria</vt:lpstr>
      <vt:lpstr>1.4.2Role/Importance of MSEs in Developing Countries</vt:lpstr>
      <vt:lpstr>Role/Importance of MSEs</vt:lpstr>
      <vt:lpstr>Role/Importance of MSEs</vt:lpstr>
      <vt:lpstr>Role/Importance of MSEs</vt:lpstr>
      <vt:lpstr>Role/Importance of MSEs</vt:lpstr>
      <vt:lpstr>1.5Classification of Micro and Small Enterprises</vt:lpstr>
      <vt:lpstr>Classification of Micro and Small Enterprises</vt:lpstr>
      <vt:lpstr>Table 3.2 Improved defintitions of MSEs</vt:lpstr>
      <vt:lpstr>Priority Sectors for MSEs in Ethiopia</vt:lpstr>
      <vt:lpstr>Priority Sectors for MSEs in Ethiopia</vt:lpstr>
      <vt:lpstr>Levels of MSEs in Ethiopia</vt:lpstr>
      <vt:lpstr>Levels of MSEs in Ethiopia</vt:lpstr>
      <vt:lpstr>1.6 Setting up Small Scale Business</vt:lpstr>
      <vt:lpstr>Stages of Entrepreneurial Process</vt:lpstr>
      <vt:lpstr> Stages of Entrepreneurial Process </vt:lpstr>
      <vt:lpstr>Entrepreneurial Process : Discovery Stage</vt:lpstr>
      <vt:lpstr>Entrepreneurial Process : Evaluation Stage</vt:lpstr>
      <vt:lpstr>Entrepreneurial Process : Exploitation Stage</vt:lpstr>
      <vt:lpstr>Environmental Analysis </vt:lpstr>
      <vt:lpstr>Figure 3.2 Hierarchial of Enviromental Analysis </vt:lpstr>
      <vt:lpstr>1.7 Small Business Failure and Success Factors</vt:lpstr>
      <vt:lpstr>Business Termination versus Failure</vt:lpstr>
      <vt:lpstr>Common Mistakes Leading to Business Failure</vt:lpstr>
      <vt:lpstr>Common Mistakes Leading to Business Failure</vt:lpstr>
      <vt:lpstr>1.7.2 Small Business Success Factors</vt:lpstr>
      <vt:lpstr>Key Success Categories</vt:lpstr>
      <vt:lpstr>1.8 Main Supporting Packages for MSEs Development in Ethiopia</vt:lpstr>
      <vt:lpstr>1.9 Problems of Small Scale Business in Ethiopia</vt:lpstr>
      <vt:lpstr>3.9 Organizational Structure and Entrepreneurial Team Formation 3.9.1 Introduction</vt:lpstr>
      <vt:lpstr>3.9.2 Designing the Organization</vt:lpstr>
      <vt:lpstr>3.9.3Building the Management Team and a Successful Organization Culture</vt:lpstr>
      <vt:lpstr>3.9.3Building the Management Team and a Successful Organization Culture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1: Introduction to Project Management</dc:title>
  <dc:creator/>
  <cp:lastModifiedBy>nEW u</cp:lastModifiedBy>
  <cp:revision>430</cp:revision>
  <dcterms:created xsi:type="dcterms:W3CDTF">2001-07-05T23:10:00Z</dcterms:created>
  <dcterms:modified xsi:type="dcterms:W3CDTF">2026-02-22T20:19:30Z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1033-11.2.0.10176</vt:lpwstr>
  </property>
</Properties>
</file>