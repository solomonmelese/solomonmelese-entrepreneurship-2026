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551" r:id="rId3"/>
    <p:sldId id="464" r:id="rId5"/>
    <p:sldId id="651" r:id="rId6"/>
    <p:sldId id="890" r:id="rId7"/>
    <p:sldId id="892" r:id="rId8"/>
    <p:sldId id="894" r:id="rId9"/>
    <p:sldId id="896" r:id="rId10"/>
    <p:sldId id="900" r:id="rId11"/>
    <p:sldId id="902" r:id="rId12"/>
    <p:sldId id="904" r:id="rId13"/>
    <p:sldId id="906" r:id="rId14"/>
    <p:sldId id="908" r:id="rId15"/>
    <p:sldId id="910" r:id="rId16"/>
    <p:sldId id="912" r:id="rId17"/>
    <p:sldId id="914" r:id="rId18"/>
    <p:sldId id="916" r:id="rId19"/>
    <p:sldId id="918" r:id="rId20"/>
    <p:sldId id="920" r:id="rId21"/>
    <p:sldId id="922" r:id="rId22"/>
    <p:sldId id="924" r:id="rId23"/>
    <p:sldId id="926" r:id="rId24"/>
    <p:sldId id="928" r:id="rId25"/>
    <p:sldId id="930" r:id="rId26"/>
    <p:sldId id="932" r:id="rId27"/>
    <p:sldId id="934" r:id="rId28"/>
    <p:sldId id="936" r:id="rId29"/>
    <p:sldId id="942" r:id="rId30"/>
    <p:sldId id="938" r:id="rId31"/>
    <p:sldId id="940" r:id="rId32"/>
    <p:sldId id="943" r:id="rId33"/>
    <p:sldId id="944" r:id="rId34"/>
    <p:sldId id="968" r:id="rId35"/>
    <p:sldId id="948" r:id="rId36"/>
    <p:sldId id="946" r:id="rId37"/>
    <p:sldId id="950" r:id="rId38"/>
    <p:sldId id="952" r:id="rId39"/>
    <p:sldId id="954" r:id="rId40"/>
    <p:sldId id="956" r:id="rId41"/>
    <p:sldId id="958" r:id="rId42"/>
    <p:sldId id="960" r:id="rId43"/>
    <p:sldId id="962" r:id="rId44"/>
    <p:sldId id="964" r:id="rId45"/>
    <p:sldId id="966" r:id="rId46"/>
    <p:sldId id="969" r:id="rId47"/>
    <p:sldId id="971" r:id="rId48"/>
    <p:sldId id="973" r:id="rId49"/>
    <p:sldId id="975" r:id="rId50"/>
    <p:sldId id="977" r:id="rId51"/>
    <p:sldId id="979" r:id="rId52"/>
    <p:sldId id="981" r:id="rId53"/>
    <p:sldId id="983" r:id="rId54"/>
    <p:sldId id="985" r:id="rId55"/>
    <p:sldId id="987" r:id="rId56"/>
    <p:sldId id="989" r:id="rId57"/>
    <p:sldId id="991" r:id="rId58"/>
    <p:sldId id="992" r:id="rId59"/>
    <p:sldId id="994" r:id="rId60"/>
    <p:sldId id="996" r:id="rId61"/>
    <p:sldId id="998" r:id="rId62"/>
    <p:sldId id="1000" r:id="rId63"/>
    <p:sldId id="1002" r:id="rId64"/>
    <p:sldId id="1004" r:id="rId65"/>
    <p:sldId id="1006" r:id="rId66"/>
    <p:sldId id="1008" r:id="rId67"/>
    <p:sldId id="1010" r:id="rId68"/>
    <p:sldId id="1012" r:id="rId69"/>
    <p:sldId id="1014" r:id="rId70"/>
    <p:sldId id="1016" r:id="rId71"/>
    <p:sldId id="1018" r:id="rId72"/>
    <p:sldId id="1020" r:id="rId73"/>
    <p:sldId id="1025" r:id="rId74"/>
    <p:sldId id="1027" r:id="rId75"/>
    <p:sldId id="1023" r:id="rId76"/>
    <p:sldId id="548" r:id="rId77"/>
  </p:sldIdLst>
  <p:sldSz cx="9144000" cy="6858000" type="screen4x3"/>
  <p:notesSz cx="6858000" cy="9144000"/>
  <p:defaultTextStyle>
    <a:defPPr>
      <a:defRPr lang="en-US"/>
    </a:defPPr>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5618"/>
    <p:restoredTop sz="94576"/>
  </p:normalViewPr>
  <p:slideViewPr>
    <p:cSldViewPr showGuides="1">
      <p:cViewPr varScale="1">
        <p:scale>
          <a:sx n="110" d="100"/>
          <a:sy n="110" d="100"/>
        </p:scale>
        <p:origin x="-210" y="-84"/>
      </p:cViewPr>
      <p:guideLst>
        <p:guide orient="horz" pos="2155"/>
        <p:guide pos="2924"/>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0" Type="http://schemas.openxmlformats.org/officeDocument/2006/relationships/tableStyles" Target="tableStyles.xml"/><Relationship Id="rId8" Type="http://schemas.openxmlformats.org/officeDocument/2006/relationships/slide" Target="slides/slide5.xml"/><Relationship Id="rId79" Type="http://schemas.openxmlformats.org/officeDocument/2006/relationships/viewProps" Target="viewProps.xml"/><Relationship Id="rId78" Type="http://schemas.openxmlformats.org/officeDocument/2006/relationships/presProps" Target="presProps.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36866" name="Header Placeholder 36865"/>
          <p:cNvSpPr>
            <a:spLocks noGrp="1"/>
          </p:cNvSpPr>
          <p:nvPr>
            <p:ph type="hdr" sz="quarter"/>
          </p:nvPr>
        </p:nvSpPr>
        <p:spPr>
          <a:xfrm>
            <a:off x="0" y="0"/>
            <a:ext cx="2971800" cy="457200"/>
          </a:xfrm>
          <a:prstGeom prst="rect">
            <a:avLst/>
          </a:prstGeom>
          <a:noFill/>
          <a:ln w="9525">
            <a:noFill/>
          </a:ln>
        </p:spPr>
        <p:txBody>
          <a:bodyPr/>
          <a:p>
            <a:pPr lvl="0"/>
            <a:endParaRPr lang="en-US" sz="1200"/>
          </a:p>
        </p:txBody>
      </p:sp>
      <p:sp>
        <p:nvSpPr>
          <p:cNvPr id="36867" name="Date Placeholder 36866"/>
          <p:cNvSpPr>
            <a:spLocks noGrp="1"/>
          </p:cNvSpPr>
          <p:nvPr>
            <p:ph type="dt" idx="1"/>
          </p:nvPr>
        </p:nvSpPr>
        <p:spPr>
          <a:xfrm>
            <a:off x="3886200" y="0"/>
            <a:ext cx="2971800" cy="457200"/>
          </a:xfrm>
          <a:prstGeom prst="rect">
            <a:avLst/>
          </a:prstGeom>
          <a:noFill/>
          <a:ln w="9525">
            <a:noFill/>
          </a:ln>
        </p:spPr>
        <p:txBody>
          <a:bodyPr/>
          <a:p>
            <a:pPr lvl="0" algn="r"/>
            <a:endParaRPr lang="en-US" sz="1200"/>
          </a:p>
        </p:txBody>
      </p:sp>
      <p:sp>
        <p:nvSpPr>
          <p:cNvPr id="36868" name="Slide Image Placeholder 36867"/>
          <p:cNvSpPr>
            <a:spLocks noTextEdit="1"/>
          </p:cNvSpPr>
          <p:nvPr>
            <p:ph type="sldImg" idx="2"/>
          </p:nvPr>
        </p:nvSpPr>
        <p:spPr>
          <a:xfrm>
            <a:off x="1143000" y="685800"/>
            <a:ext cx="4572000" cy="3429000"/>
          </a:xfrm>
          <a:prstGeom prst="rect">
            <a:avLst/>
          </a:prstGeom>
          <a:ln w="9525" cap="flat" cmpd="sng">
            <a:solidFill>
              <a:srgbClr val="000000"/>
            </a:solidFill>
            <a:prstDash val="solid"/>
            <a:miter/>
            <a:headEnd type="none" w="med" len="med"/>
            <a:tailEnd type="none" w="med" len="med"/>
          </a:ln>
        </p:spPr>
      </p:sp>
      <p:sp>
        <p:nvSpPr>
          <p:cNvPr id="36869" name="Text Placeholder 36868"/>
          <p:cNvSpPr>
            <a:spLocks noGrp="1"/>
          </p:cNvSpPr>
          <p:nvPr>
            <p:ph type="body" sz="quarter" idx="3"/>
          </p:nvPr>
        </p:nvSpPr>
        <p:spPr>
          <a:xfrm>
            <a:off x="914400" y="4343400"/>
            <a:ext cx="5029200" cy="4114800"/>
          </a:xfrm>
          <a:prstGeom prst="rect">
            <a:avLst/>
          </a:prstGeom>
          <a:noFill/>
          <a:ln w="9525">
            <a:noFill/>
          </a:ln>
        </p:spPr>
        <p:txBody>
          <a:bodyPr/>
          <a:p>
            <a:pPr lvl="0"/>
            <a:r>
              <a:rPr dirty="0"/>
              <a:t>Click to edit Master text styles</a:t>
            </a:r>
            <a:endParaRPr dirty="0"/>
          </a:p>
          <a:p>
            <a:pPr lvl="1"/>
            <a:r>
              <a:rPr dirty="0"/>
              <a:t>Second level</a:t>
            </a:r>
            <a:endParaRPr dirty="0"/>
          </a:p>
          <a:p>
            <a:pPr lvl="2"/>
            <a:r>
              <a:rPr dirty="0"/>
              <a:t>Third level</a:t>
            </a:r>
            <a:endParaRPr dirty="0"/>
          </a:p>
          <a:p>
            <a:pPr lvl="3"/>
            <a:r>
              <a:rPr dirty="0"/>
              <a:t>Fourth level</a:t>
            </a:r>
            <a:endParaRPr dirty="0"/>
          </a:p>
          <a:p>
            <a:pPr lvl="4"/>
            <a:r>
              <a:rPr dirty="0"/>
              <a:t>Fifth level</a:t>
            </a:r>
            <a:endParaRPr dirty="0"/>
          </a:p>
        </p:txBody>
      </p:sp>
      <p:sp>
        <p:nvSpPr>
          <p:cNvPr id="36870" name="Footer Placeholder 36869"/>
          <p:cNvSpPr>
            <a:spLocks noGrp="1"/>
          </p:cNvSpPr>
          <p:nvPr>
            <p:ph type="ftr" sz="quarter" idx="4"/>
          </p:nvPr>
        </p:nvSpPr>
        <p:spPr>
          <a:xfrm>
            <a:off x="0" y="8686800"/>
            <a:ext cx="2971800" cy="457200"/>
          </a:xfrm>
          <a:prstGeom prst="rect">
            <a:avLst/>
          </a:prstGeom>
          <a:noFill/>
          <a:ln w="9525">
            <a:noFill/>
          </a:ln>
        </p:spPr>
        <p:txBody>
          <a:bodyPr anchor="b" anchorCtr="0"/>
          <a:p>
            <a:pPr lvl="0"/>
            <a:endParaRPr lang="en-US" sz="1200"/>
          </a:p>
        </p:txBody>
      </p:sp>
      <p:sp>
        <p:nvSpPr>
          <p:cNvPr id="36871" name="Slide Number Placeholder 36870"/>
          <p:cNvSpPr>
            <a:spLocks noGrp="1"/>
          </p:cNvSpPr>
          <p:nvPr>
            <p:ph type="sldNum" sz="quarter" idx="5"/>
          </p:nvPr>
        </p:nvSpPr>
        <p:spPr>
          <a:xfrm>
            <a:off x="3886200" y="8686800"/>
            <a:ext cx="2971800" cy="457200"/>
          </a:xfrm>
          <a:prstGeom prst="rect">
            <a:avLst/>
          </a:prstGeom>
          <a:noFill/>
          <a:ln w="9525">
            <a:noFill/>
          </a:ln>
        </p:spPr>
        <p:txBody>
          <a:bodyPr anchor="b" anchorCtr="0"/>
          <a:p>
            <a:pPr lvl="0" algn="r"/>
            <a:fld id="{9A0DB2DC-4C9A-4742-B13C-FB6460FD3503}" type="slidenum">
              <a:rPr lang="en-US" sz="1200"/>
            </a:fld>
            <a:endParaRPr lang="en-US" sz="1200"/>
          </a:p>
        </p:txBody>
      </p:sp>
    </p:spTree>
  </p:cSld>
  <p:clrMap bg1="lt1" tx1="dk1" bg2="lt2" tx2="dk2" accent1="accent1" accent2="accent2" accent3="accent3" accent4="accent4" accent5="accent5" accent6="accent6" hlink="hlink" folHlink="folHlink"/>
  <p:hf hdr="0" ftr="0" dt="0"/>
  <p:notesStyle>
    <a:lvl1pPr marL="0" lvl="0"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defRPr>
    </a:lvl1pPr>
    <a:lvl2pPr marL="457200" lvl="1"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defRPr>
    </a:lvl2pPr>
    <a:lvl3pPr marL="914400" lvl="2"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defRPr>
    </a:lvl3pPr>
    <a:lvl4pPr marL="1371600" lvl="3"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defRPr>
    </a:lvl4pPr>
    <a:lvl5pPr marL="1828800" lvl="4"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defRPr>
    </a:lvl5pPr>
    <a:lvl6pPr marL="2286000" lvl="5"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defRPr>
    </a:lvl6pPr>
    <a:lvl7pPr marL="2743200" lvl="6"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defRPr>
    </a:lvl7pPr>
    <a:lvl8pPr marL="3200400" lvl="7"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defRPr>
    </a:lvl8pPr>
    <a:lvl9pPr marL="3657600" lvl="8"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
        <p:nvSpPr>
          <p:cNvPr id="4" name="Slide Number Placeholder 3"/>
          <p:cNvSpPr>
            <a:spLocks noGrp="1"/>
          </p:cNvSpPr>
          <p:nvPr>
            <p:ph type="sldNum" sz="quarter" idx="5"/>
          </p:nvPr>
        </p:nvSpPr>
        <p:spPr/>
        <p:txBody>
          <a:bodyPr/>
          <a:p>
            <a:pPr lvl="0" algn="r"/>
            <a:fld id="{9A0DB2DC-4C9A-4742-B13C-FB6460FD3503}" type="slidenum">
              <a:rPr lang="en-US" sz="1200"/>
            </a:fld>
            <a:endParaRPr lang="en-US" sz="120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Pr>
        <a:solidFill>
          <a:schemeClr val="bg1"/>
        </a:solidFill>
        <a:effectLst/>
      </p:bgPr>
    </p:bg>
    <p:spTree>
      <p:nvGrpSpPr>
        <p:cNvPr id="1" name=""/>
        <p:cNvGrpSpPr/>
        <p:nvPr/>
      </p:nvGrpSpPr>
      <p:grpSpPr>
        <a:xfrm>
          <a:off x="0" y="0"/>
          <a:ext cx="0" cy="0"/>
          <a:chOff x="0" y="0"/>
          <a:chExt cx="0" cy="0"/>
        </a:xfrm>
      </p:grpSpPr>
      <p:pic>
        <p:nvPicPr>
          <p:cNvPr id="2050" name="Picture 3"/>
          <p:cNvPicPr>
            <a:picLocks noChangeAspect="1"/>
          </p:cNvPicPr>
          <p:nvPr/>
        </p:nvPicPr>
        <p:blipFill>
          <a:blip r:embed="rId2"/>
          <a:stretch>
            <a:fillRect/>
          </a:stretch>
        </p:blipFill>
        <p:spPr>
          <a:xfrm>
            <a:off x="0" y="19050"/>
            <a:ext cx="9155113" cy="6867525"/>
          </a:xfrm>
          <a:prstGeom prst="rect">
            <a:avLst/>
          </a:prstGeom>
          <a:noFill/>
          <a:ln w="9525">
            <a:noFill/>
          </a:ln>
        </p:spPr>
      </p:pic>
      <p:sp>
        <p:nvSpPr>
          <p:cNvPr id="2051" name="Rectangle 3"/>
          <p:cNvSpPr>
            <a:spLocks noGrp="1" noChangeArrowheads="1"/>
          </p:cNvSpPr>
          <p:nvPr>
            <p:ph type="ctrTitle"/>
          </p:nvPr>
        </p:nvSpPr>
        <p:spPr>
          <a:xfrm>
            <a:off x="1547813" y="1701800"/>
            <a:ext cx="6908800" cy="1082675"/>
          </a:xfrm>
        </p:spPr>
        <p:txBody>
          <a:bodyPr/>
          <a:lstStyle>
            <a:lvl1pPr>
              <a:defRPr/>
            </a:lvl1pPr>
          </a:lstStyle>
          <a:p>
            <a:pPr lvl="0"/>
            <a:r>
              <a:rPr lang="en-US" altLang="zh-CN" noProof="0" smtClean="0"/>
              <a:t>Click to edit Master title style</a:t>
            </a:r>
            <a:endParaRPr lang="en-US" altLang="zh-CN" noProof="0" smtClean="0"/>
          </a:p>
        </p:txBody>
      </p:sp>
      <p:sp>
        <p:nvSpPr>
          <p:cNvPr id="2052" name="Rectangle 4"/>
          <p:cNvSpPr>
            <a:spLocks noGrp="1" noChangeArrowheads="1"/>
          </p:cNvSpPr>
          <p:nvPr>
            <p:ph type="subTitle" idx="1"/>
          </p:nvPr>
        </p:nvSpPr>
        <p:spPr>
          <a:xfrm>
            <a:off x="1547813" y="2927350"/>
            <a:ext cx="6913562" cy="1752600"/>
          </a:xfrm>
        </p:spPr>
        <p:txBody>
          <a:bodyPr/>
          <a:lstStyle>
            <a:lvl1pPr marL="0" indent="0" algn="r">
              <a:buFontTx/>
              <a:buNone/>
              <a:defRPr>
                <a:solidFill>
                  <a:schemeClr val="bg1"/>
                </a:solidFill>
              </a:defRPr>
            </a:lvl1pPr>
          </a:lstStyle>
          <a:p>
            <a:pPr lvl="0"/>
            <a:r>
              <a:rPr lang="en-US" altLang="zh-CN" noProof="0" smtClean="0"/>
              <a:t>Click to edit Master subtitle style</a:t>
            </a:r>
            <a:endParaRPr lang="en-US" altLang="zh-CN" noProof="0" smtClean="0"/>
          </a:p>
        </p:txBody>
      </p:sp>
      <p:sp>
        <p:nvSpPr>
          <p:cNvPr id="9" name="Rectangle 5"/>
          <p:cNvSpPr>
            <a:spLocks noGrp="1" noChangeArrowheads="1"/>
          </p:cNvSpPr>
          <p:nvPr>
            <p:ph type="dt" sz="half" idx="2"/>
          </p:nvPr>
        </p:nvSpPr>
        <p:spPr bwMode="auto">
          <a:xfrm>
            <a:off x="457200" y="6245225"/>
            <a:ext cx="21336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10" name="Rectangle 6"/>
          <p:cNvSpPr>
            <a:spLocks noGrp="1" noChangeArrowheads="1"/>
          </p:cNvSpPr>
          <p:nvPr>
            <p:ph type="ftr" sz="quarter" idx="3"/>
          </p:nvPr>
        </p:nvSpPr>
        <p:spPr bwMode="auto">
          <a:xfrm>
            <a:off x="3124200" y="6245225"/>
            <a:ext cx="28956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Solomon Melese,PhD</a:t>
            </a:r>
            <a:endPar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11" name="Rectangle 7"/>
          <p:cNvSpPr>
            <a:spLocks noGrp="1" noChangeArrowheads="1"/>
          </p:cNvSpPr>
          <p:nvPr>
            <p:ph type="sldNum" sz="quarter" idx="4"/>
          </p:nvPr>
        </p:nvSpPr>
        <p:spPr bwMode="auto">
          <a:xfrm>
            <a:off x="6553200" y="6245225"/>
            <a:ext cx="21336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lvl="0"/>
            <a:fld id="{9A0DB2DC-4C9A-4742-B13C-FB6460FD3503}" type="slidenum">
              <a:rPr lang="zh-TW" altLang="en-US" dirty="0"/>
            </a:fld>
            <a:endParaRPr lang="zh-TW" altLang="en-US" dirty="0"/>
          </a:p>
        </p:txBody>
      </p:sp>
    </p:spTree>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Solomon Melese,PhD</a:t>
            </a: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Slide Number Placeholder 5"/>
          <p:cNvSpPr>
            <a:spLocks noGrp="1"/>
          </p:cNvSpPr>
          <p:nvPr>
            <p:ph type="sldNum" sz="quarter" idx="12"/>
          </p:nvPr>
        </p:nvSpPr>
        <p:spPr/>
        <p:txBody>
          <a:bodyPr/>
          <a:p>
            <a:pPr lvl="0"/>
            <a:fld id="{9A0DB2DC-4C9A-4742-B13C-FB6460FD3503}" type="slidenum">
              <a:rPr lang="zh-TW" altLang="en-US" dirty="0"/>
            </a:fld>
            <a:endParaRPr lang="zh-TW" altLang="en-US" dirty="0"/>
          </a:p>
        </p:txBody>
      </p:sp>
    </p:spTree>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Solomon Melese,PhD</a:t>
            </a: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Slide Number Placeholder 5"/>
          <p:cNvSpPr>
            <a:spLocks noGrp="1"/>
          </p:cNvSpPr>
          <p:nvPr>
            <p:ph type="sldNum" sz="quarter" idx="12"/>
          </p:nvPr>
        </p:nvSpPr>
        <p:spPr/>
        <p:txBody>
          <a:bodyPr/>
          <a:p>
            <a:pPr lvl="0"/>
            <a:fld id="{9A0DB2DC-4C9A-4742-B13C-FB6460FD3503}" type="slidenum">
              <a:rPr lang="zh-TW" altLang="en-US" dirty="0"/>
            </a:fld>
            <a:endParaRPr lang="zh-TW" altLang="en-US" dirty="0"/>
          </a:p>
        </p:txBody>
      </p:sp>
    </p:spTree>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174750"/>
            <a:ext cx="40386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174750"/>
            <a:ext cx="40386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Footer Placeholder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Solomon Melese,PhD</a:t>
            </a: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7" name="Slide Number Placeholder 6"/>
          <p:cNvSpPr>
            <a:spLocks noGrp="1"/>
          </p:cNvSpPr>
          <p:nvPr>
            <p:ph type="sldNum" sz="quarter" idx="12"/>
          </p:nvPr>
        </p:nvSpPr>
        <p:spPr/>
        <p:txBody>
          <a:bodyPr/>
          <a:p>
            <a:pPr lvl="0"/>
            <a:fld id="{9A0DB2DC-4C9A-4742-B13C-FB6460FD3503}" type="slidenum">
              <a:rPr lang="zh-TW" altLang="en-US" dirty="0"/>
            </a:fld>
            <a:endParaRPr lang="zh-TW" altLang="en-US" dirty="0"/>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630238" y="2505075"/>
            <a:ext cx="386873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29150" y="2505075"/>
            <a:ext cx="38877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8" name="Footer Placeholder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Solomon Melese,PhD</a:t>
            </a: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9" name="Slide Number Placeholder 8"/>
          <p:cNvSpPr>
            <a:spLocks noGrp="1"/>
          </p:cNvSpPr>
          <p:nvPr>
            <p:ph type="sldNum" sz="quarter" idx="12"/>
          </p:nvPr>
        </p:nvSpPr>
        <p:spPr/>
        <p:txBody>
          <a:bodyPr/>
          <a:p>
            <a:pPr lvl="0"/>
            <a:fld id="{9A0DB2DC-4C9A-4742-B13C-FB6460FD3503}" type="slidenum">
              <a:rPr lang="zh-TW" altLang="en-US" dirty="0"/>
            </a:fld>
            <a:endParaRPr lang="zh-TW" altLang="en-US" dirty="0"/>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4" name="Footer Placeholder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Solomon Melese,PhD</a:t>
            </a: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5" name="Slide Number Placeholder 4"/>
          <p:cNvSpPr>
            <a:spLocks noGrp="1"/>
          </p:cNvSpPr>
          <p:nvPr>
            <p:ph type="sldNum" sz="quarter" idx="12"/>
          </p:nvPr>
        </p:nvSpPr>
        <p:spPr/>
        <p:txBody>
          <a:bodyPr/>
          <a:p>
            <a:pPr lvl="0"/>
            <a:fld id="{9A0DB2DC-4C9A-4742-B13C-FB6460FD3503}" type="slidenum">
              <a:rPr lang="zh-TW" altLang="en-US" dirty="0"/>
            </a:fld>
            <a:endParaRPr lang="zh-TW" altLang="en-US" dirty="0"/>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3" name="Footer Placeholder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Solomon Melese,PhD</a:t>
            </a: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4" name="Slide Number Placeholder 3"/>
          <p:cNvSpPr>
            <a:spLocks noGrp="1"/>
          </p:cNvSpPr>
          <p:nvPr>
            <p:ph type="sldNum" sz="quarter" idx="12"/>
          </p:nvPr>
        </p:nvSpPr>
        <p:spPr/>
        <p:txBody>
          <a:bodyPr/>
          <a:p>
            <a:pPr lvl="0"/>
            <a:fld id="{9A0DB2DC-4C9A-4742-B13C-FB6460FD3503}" type="slidenum">
              <a:rPr lang="zh-TW" altLang="en-US" dirty="0"/>
            </a:fld>
            <a:endParaRPr lang="zh-TW" altLang="en-US" dirty="0"/>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Footer Placeholder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Solomon Melese,PhD</a:t>
            </a: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7" name="Slide Number Placeholder 6"/>
          <p:cNvSpPr>
            <a:spLocks noGrp="1"/>
          </p:cNvSpPr>
          <p:nvPr>
            <p:ph type="sldNum" sz="quarter" idx="12"/>
          </p:nvPr>
        </p:nvSpPr>
        <p:spPr/>
        <p:txBody>
          <a:bodyPr/>
          <a:p>
            <a:pPr lvl="0"/>
            <a:fld id="{9A0DB2DC-4C9A-4742-B13C-FB6460FD3503}" type="slidenum">
              <a:rPr lang="zh-TW" altLang="en-US" dirty="0"/>
            </a:fld>
            <a:endParaRPr lang="zh-TW" altLang="en-US" dirty="0"/>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3887788" y="987425"/>
            <a:ext cx="462915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Footer Placeholder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Solomon Melese,PhD</a:t>
            </a: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7" name="Slide Number Placeholder 6"/>
          <p:cNvSpPr>
            <a:spLocks noGrp="1"/>
          </p:cNvSpPr>
          <p:nvPr>
            <p:ph type="sldNum" sz="quarter" idx="12"/>
          </p:nvPr>
        </p:nvSpPr>
        <p:spPr/>
        <p:txBody>
          <a:bodyPr/>
          <a:p>
            <a:pPr lvl="0"/>
            <a:fld id="{9A0DB2DC-4C9A-4742-B13C-FB6460FD3503}" type="slidenum">
              <a:rPr lang="zh-TW" altLang="en-US" dirty="0"/>
            </a:fld>
            <a:endParaRPr lang="zh-TW" altLang="en-US" dirty="0"/>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Solomon Melese,PhD</a:t>
            </a: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Slide Number Placeholder 5"/>
          <p:cNvSpPr>
            <a:spLocks noGrp="1"/>
          </p:cNvSpPr>
          <p:nvPr>
            <p:ph type="sldNum" sz="quarter" idx="12"/>
          </p:nvPr>
        </p:nvSpPr>
        <p:spPr/>
        <p:txBody>
          <a:bodyPr/>
          <a:p>
            <a:pPr lvl="0"/>
            <a:fld id="{9A0DB2DC-4C9A-4742-B13C-FB6460FD3503}" type="slidenum">
              <a:rPr lang="zh-TW" altLang="en-US" dirty="0"/>
            </a:fld>
            <a:endParaRPr lang="zh-TW" altLang="en-US" dirty="0"/>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90500"/>
            <a:ext cx="2057400" cy="593725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190500"/>
            <a:ext cx="6019800" cy="5937250"/>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Solomon Melese,PhD</a:t>
            </a: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Slide Number Placeholder 5"/>
          <p:cNvSpPr>
            <a:spLocks noGrp="1"/>
          </p:cNvSpPr>
          <p:nvPr>
            <p:ph type="sldNum" sz="quarter" idx="12"/>
          </p:nvPr>
        </p:nvSpPr>
        <p:spPr/>
        <p:txBody>
          <a:bodyPr/>
          <a:p>
            <a:pPr lvl="0"/>
            <a:fld id="{9A0DB2DC-4C9A-4742-B13C-FB6460FD3503}" type="slidenum">
              <a:rPr lang="zh-TW" altLang="en-US" dirty="0"/>
            </a:fld>
            <a:endParaRPr lang="zh-TW" altLang="en-US" dirty="0"/>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9144000" cy="6858000"/>
          </a:xfrm>
          <a:prstGeom prst="rect">
            <a:avLst/>
          </a:prstGeom>
          <a:solidFill>
            <a:srgbClr val="EBF4F3"/>
          </a:solidFill>
        </p:spPr>
      </p:sp>
      <p:sp>
        <p:nvSpPr>
          <p:cNvPr id="3" name="Shape 1"/>
          <p:cNvSpPr/>
          <p:nvPr/>
        </p:nvSpPr>
        <p:spPr>
          <a:xfrm>
            <a:off x="0" y="0"/>
            <a:ext cx="9144000" cy="6858000"/>
          </a:xfrm>
          <a:prstGeom prst="rect">
            <a:avLst/>
          </a:prstGeom>
          <a:solidFill>
            <a:srgbClr val="FFFFFF"/>
          </a:solidFill>
        </p:spPr>
      </p:sp>
      <p:pic>
        <p:nvPicPr>
          <p:cNvPr id="4" name="Image 0" descr="preencoded.png">
            <a:hlinkClick r:id="rId2"/>
          </p:cNvPr>
          <p:cNvPicPr>
            <a:picLocks noChangeAspect="1"/>
          </p:cNvPicPr>
          <p:nvPr/>
        </p:nvPicPr>
        <p:blipFill>
          <a:blip r:embed="rId3"/>
          <a:stretch>
            <a:fillRect/>
          </a:stretch>
        </p:blipFill>
        <p:spPr>
          <a:xfrm>
            <a:off x="8024509" y="6457950"/>
            <a:ext cx="1076628" cy="342900"/>
          </a:xfrm>
          <a:prstGeom prst="rect">
            <a:avLst/>
          </a:prstGeom>
        </p:spPr>
      </p:pic>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9144000" cy="6858000"/>
          </a:xfrm>
          <a:prstGeom prst="rect">
            <a:avLst/>
          </a:prstGeom>
          <a:solidFill>
            <a:srgbClr val="EBF4F3"/>
          </a:solidFill>
        </p:spPr>
      </p:sp>
      <p:sp>
        <p:nvSpPr>
          <p:cNvPr id="3" name="Shape 1"/>
          <p:cNvSpPr/>
          <p:nvPr/>
        </p:nvSpPr>
        <p:spPr>
          <a:xfrm>
            <a:off x="0" y="0"/>
            <a:ext cx="9144000" cy="6858000"/>
          </a:xfrm>
          <a:prstGeom prst="rect">
            <a:avLst/>
          </a:prstGeom>
          <a:solidFill>
            <a:srgbClr val="FFFFFF"/>
          </a:solidFill>
        </p:spPr>
      </p:sp>
      <p:pic>
        <p:nvPicPr>
          <p:cNvPr id="4" name="Image 0" descr="preencoded.png">
            <a:hlinkClick r:id="rId2"/>
          </p:cNvPr>
          <p:cNvPicPr>
            <a:picLocks noChangeAspect="1"/>
          </p:cNvPicPr>
          <p:nvPr/>
        </p:nvPicPr>
        <p:blipFill>
          <a:blip r:embed="rId3"/>
          <a:stretch>
            <a:fillRect/>
          </a:stretch>
        </p:blipFill>
        <p:spPr>
          <a:xfrm>
            <a:off x="8024509" y="6457950"/>
            <a:ext cx="1076628" cy="342900"/>
          </a:xfrm>
          <a:prstGeom prst="rect">
            <a:avLst/>
          </a:prstGeom>
        </p:spPr>
      </p:pic>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9144000" cy="6858000"/>
          </a:xfrm>
          <a:prstGeom prst="rect">
            <a:avLst/>
          </a:prstGeom>
          <a:solidFill>
            <a:srgbClr val="EBF4F3"/>
          </a:solidFill>
        </p:spPr>
      </p:sp>
      <p:sp>
        <p:nvSpPr>
          <p:cNvPr id="3" name="Shape 1"/>
          <p:cNvSpPr/>
          <p:nvPr/>
        </p:nvSpPr>
        <p:spPr>
          <a:xfrm>
            <a:off x="0" y="0"/>
            <a:ext cx="9144000" cy="6858000"/>
          </a:xfrm>
          <a:prstGeom prst="rect">
            <a:avLst/>
          </a:prstGeom>
          <a:solidFill>
            <a:srgbClr val="FFFFFF"/>
          </a:solidFill>
        </p:spPr>
      </p:sp>
      <p:pic>
        <p:nvPicPr>
          <p:cNvPr id="4" name="Image 0" descr="preencoded.png">
            <a:hlinkClick r:id="rId2"/>
          </p:cNvPr>
          <p:cNvPicPr>
            <a:picLocks noChangeAspect="1"/>
          </p:cNvPicPr>
          <p:nvPr/>
        </p:nvPicPr>
        <p:blipFill>
          <a:blip r:embed="rId3"/>
          <a:stretch>
            <a:fillRect/>
          </a:stretch>
        </p:blipFill>
        <p:spPr>
          <a:xfrm>
            <a:off x="8024509" y="6457950"/>
            <a:ext cx="1076628" cy="342900"/>
          </a:xfrm>
          <a:prstGeom prst="rect">
            <a:avLst/>
          </a:prstGeom>
        </p:spPr>
      </p:pic>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9144000" cy="6858000"/>
          </a:xfrm>
          <a:prstGeom prst="rect">
            <a:avLst/>
          </a:prstGeom>
          <a:solidFill>
            <a:srgbClr val="EBF4F3"/>
          </a:solidFill>
        </p:spPr>
      </p:sp>
      <p:sp>
        <p:nvSpPr>
          <p:cNvPr id="3" name="Shape 1"/>
          <p:cNvSpPr/>
          <p:nvPr/>
        </p:nvSpPr>
        <p:spPr>
          <a:xfrm>
            <a:off x="0" y="0"/>
            <a:ext cx="9144000" cy="6858000"/>
          </a:xfrm>
          <a:prstGeom prst="rect">
            <a:avLst/>
          </a:prstGeom>
          <a:solidFill>
            <a:srgbClr val="FFFFFF"/>
          </a:solidFill>
        </p:spPr>
      </p:sp>
      <p:pic>
        <p:nvPicPr>
          <p:cNvPr id="4" name="Image 0" descr="preencoded.png">
            <a:hlinkClick r:id="rId2"/>
          </p:cNvPr>
          <p:cNvPicPr>
            <a:picLocks noChangeAspect="1"/>
          </p:cNvPicPr>
          <p:nvPr/>
        </p:nvPicPr>
        <p:blipFill>
          <a:blip r:embed="rId3"/>
          <a:stretch>
            <a:fillRect/>
          </a:stretch>
        </p:blipFill>
        <p:spPr>
          <a:xfrm>
            <a:off x="8024509" y="6457950"/>
            <a:ext cx="1076628" cy="342900"/>
          </a:xfrm>
          <a:prstGeom prst="rect">
            <a:avLst/>
          </a:prstGeom>
        </p:spPr>
      </p:pic>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9144000" cy="6858000"/>
          </a:xfrm>
          <a:prstGeom prst="rect">
            <a:avLst/>
          </a:prstGeom>
          <a:solidFill>
            <a:srgbClr val="EBF4F3"/>
          </a:solidFill>
        </p:spPr>
      </p:sp>
      <p:sp>
        <p:nvSpPr>
          <p:cNvPr id="3" name="Shape 1"/>
          <p:cNvSpPr/>
          <p:nvPr/>
        </p:nvSpPr>
        <p:spPr>
          <a:xfrm>
            <a:off x="0" y="0"/>
            <a:ext cx="9144000" cy="6858000"/>
          </a:xfrm>
          <a:prstGeom prst="rect">
            <a:avLst/>
          </a:prstGeom>
          <a:solidFill>
            <a:srgbClr val="FFFFFF"/>
          </a:solidFill>
        </p:spPr>
      </p:sp>
      <p:pic>
        <p:nvPicPr>
          <p:cNvPr id="4" name="Image 0" descr="preencoded.png">
            <a:hlinkClick r:id="rId2"/>
          </p:cNvPr>
          <p:cNvPicPr>
            <a:picLocks noChangeAspect="1"/>
          </p:cNvPicPr>
          <p:nvPr/>
        </p:nvPicPr>
        <p:blipFill>
          <a:blip r:embed="rId3"/>
          <a:stretch>
            <a:fillRect/>
          </a:stretch>
        </p:blipFill>
        <p:spPr>
          <a:xfrm>
            <a:off x="8024509" y="6457950"/>
            <a:ext cx="1076628" cy="342900"/>
          </a:xfrm>
          <a:prstGeom prst="rect">
            <a:avLst/>
          </a:prstGeom>
        </p:spPr>
      </p:pic>
    </p:spTree>
  </p:cSld>
  <p:clrMapOvr>
    <a:masterClrMapping/>
  </p:clrMapOvr>
  <p:hf hd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9144000" cy="6858000"/>
          </a:xfrm>
          <a:prstGeom prst="rect">
            <a:avLst/>
          </a:prstGeom>
          <a:solidFill>
            <a:srgbClr val="EBF4F3"/>
          </a:solidFill>
        </p:spPr>
      </p:sp>
      <p:sp>
        <p:nvSpPr>
          <p:cNvPr id="3" name="Shape 1"/>
          <p:cNvSpPr/>
          <p:nvPr/>
        </p:nvSpPr>
        <p:spPr>
          <a:xfrm>
            <a:off x="0" y="0"/>
            <a:ext cx="9144000" cy="6858000"/>
          </a:xfrm>
          <a:prstGeom prst="rect">
            <a:avLst/>
          </a:prstGeom>
          <a:solidFill>
            <a:srgbClr val="FFFFFF"/>
          </a:solidFill>
        </p:spPr>
      </p:sp>
      <p:pic>
        <p:nvPicPr>
          <p:cNvPr id="4" name="Image 0" descr="preencoded.png">
            <a:hlinkClick r:id="rId2"/>
          </p:cNvPr>
          <p:cNvPicPr>
            <a:picLocks noChangeAspect="1"/>
          </p:cNvPicPr>
          <p:nvPr/>
        </p:nvPicPr>
        <p:blipFill>
          <a:blip r:embed="rId3"/>
          <a:stretch>
            <a:fillRect/>
          </a:stretch>
        </p:blipFill>
        <p:spPr>
          <a:xfrm>
            <a:off x="8024509" y="6457950"/>
            <a:ext cx="1076628" cy="342900"/>
          </a:xfrm>
          <a:prstGeom prst="rect">
            <a:avLst/>
          </a:prstGeom>
        </p:spPr>
      </p:pic>
    </p:spTree>
  </p:cSld>
  <p:clrMapOvr>
    <a:masterClrMapping/>
  </p:clrMapOvr>
  <p:hf hdr="0" dt="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9144000" cy="6858000"/>
          </a:xfrm>
          <a:prstGeom prst="rect">
            <a:avLst/>
          </a:prstGeom>
          <a:solidFill>
            <a:srgbClr val="EBF4F3"/>
          </a:solidFill>
        </p:spPr>
      </p:sp>
      <p:sp>
        <p:nvSpPr>
          <p:cNvPr id="3" name="Shape 1"/>
          <p:cNvSpPr/>
          <p:nvPr/>
        </p:nvSpPr>
        <p:spPr>
          <a:xfrm>
            <a:off x="0" y="0"/>
            <a:ext cx="9144000" cy="6858000"/>
          </a:xfrm>
          <a:prstGeom prst="rect">
            <a:avLst/>
          </a:prstGeom>
          <a:solidFill>
            <a:srgbClr val="FFFFFF"/>
          </a:solidFill>
        </p:spPr>
      </p:sp>
      <p:pic>
        <p:nvPicPr>
          <p:cNvPr id="4" name="Image 0" descr="preencoded.png">
            <a:hlinkClick r:id="rId2"/>
          </p:cNvPr>
          <p:cNvPicPr>
            <a:picLocks noChangeAspect="1"/>
          </p:cNvPicPr>
          <p:nvPr/>
        </p:nvPicPr>
        <p:blipFill>
          <a:blip r:embed="rId3"/>
          <a:stretch>
            <a:fillRect/>
          </a:stretch>
        </p:blipFill>
        <p:spPr>
          <a:xfrm>
            <a:off x="8024509" y="6457950"/>
            <a:ext cx="1076628" cy="342900"/>
          </a:xfrm>
          <a:prstGeom prst="rect">
            <a:avLst/>
          </a:prstGeom>
        </p:spPr>
      </p:pic>
    </p:spTree>
  </p:cSld>
  <p:clrMapOvr>
    <a:masterClrMapping/>
  </p:clrMapOvr>
  <p:hf hd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9144000" cy="6858000"/>
          </a:xfrm>
          <a:prstGeom prst="rect">
            <a:avLst/>
          </a:prstGeom>
          <a:solidFill>
            <a:srgbClr val="EBF4F3"/>
          </a:solidFill>
        </p:spPr>
      </p:sp>
      <p:sp>
        <p:nvSpPr>
          <p:cNvPr id="3" name="Shape 1"/>
          <p:cNvSpPr/>
          <p:nvPr/>
        </p:nvSpPr>
        <p:spPr>
          <a:xfrm>
            <a:off x="0" y="0"/>
            <a:ext cx="9144000" cy="6858000"/>
          </a:xfrm>
          <a:prstGeom prst="rect">
            <a:avLst/>
          </a:prstGeom>
          <a:solidFill>
            <a:srgbClr val="FFFFFF"/>
          </a:solidFill>
        </p:spPr>
      </p:sp>
      <p:pic>
        <p:nvPicPr>
          <p:cNvPr id="4" name="Image 0" descr="preencoded.png">
            <a:hlinkClick r:id="rId2"/>
          </p:cNvPr>
          <p:cNvPicPr>
            <a:picLocks noChangeAspect="1"/>
          </p:cNvPicPr>
          <p:nvPr/>
        </p:nvPicPr>
        <p:blipFill>
          <a:blip r:embed="rId3"/>
          <a:stretch>
            <a:fillRect/>
          </a:stretch>
        </p:blipFill>
        <p:spPr>
          <a:xfrm>
            <a:off x="8024509" y="6457950"/>
            <a:ext cx="1076628" cy="342900"/>
          </a:xfrm>
          <a:prstGeom prst="rect">
            <a:avLst/>
          </a:prstGeom>
        </p:spPr>
      </p:pic>
    </p:spTree>
  </p:cSld>
  <p:clrMapOvr>
    <a:masterClrMapping/>
  </p:clrMapOvr>
  <p:hf hd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9144000" cy="6858000"/>
          </a:xfrm>
          <a:prstGeom prst="rect">
            <a:avLst/>
          </a:prstGeom>
          <a:solidFill>
            <a:srgbClr val="EBF4F3"/>
          </a:solidFill>
        </p:spPr>
      </p:sp>
      <p:sp>
        <p:nvSpPr>
          <p:cNvPr id="3" name="Shape 1"/>
          <p:cNvSpPr/>
          <p:nvPr/>
        </p:nvSpPr>
        <p:spPr>
          <a:xfrm>
            <a:off x="0" y="0"/>
            <a:ext cx="9144000" cy="6858000"/>
          </a:xfrm>
          <a:prstGeom prst="rect">
            <a:avLst/>
          </a:prstGeom>
          <a:solidFill>
            <a:srgbClr val="FFFFFF"/>
          </a:solidFill>
        </p:spPr>
      </p:sp>
      <p:pic>
        <p:nvPicPr>
          <p:cNvPr id="4" name="Image 0" descr="preencoded.png">
            <a:hlinkClick r:id="rId2"/>
          </p:cNvPr>
          <p:cNvPicPr>
            <a:picLocks noChangeAspect="1"/>
          </p:cNvPicPr>
          <p:nvPr/>
        </p:nvPicPr>
        <p:blipFill>
          <a:blip r:embed="rId3"/>
          <a:stretch>
            <a:fillRect/>
          </a:stretch>
        </p:blipFill>
        <p:spPr>
          <a:xfrm>
            <a:off x="8024509" y="6457950"/>
            <a:ext cx="1076628" cy="342900"/>
          </a:xfrm>
          <a:prstGeom prst="rect">
            <a:avLst/>
          </a:prstGeom>
        </p:spPr>
      </p:pic>
    </p:spTree>
  </p:cSld>
  <p:clrMapOvr>
    <a:masterClrMapping/>
  </p:clrMapOvr>
  <p:hf hd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9144000" cy="6858000"/>
          </a:xfrm>
          <a:prstGeom prst="rect">
            <a:avLst/>
          </a:prstGeom>
          <a:solidFill>
            <a:srgbClr val="EBF4F3"/>
          </a:solidFill>
        </p:spPr>
      </p:sp>
      <p:sp>
        <p:nvSpPr>
          <p:cNvPr id="3" name="Shape 1"/>
          <p:cNvSpPr/>
          <p:nvPr/>
        </p:nvSpPr>
        <p:spPr>
          <a:xfrm>
            <a:off x="0" y="0"/>
            <a:ext cx="9144000" cy="6858000"/>
          </a:xfrm>
          <a:prstGeom prst="rect">
            <a:avLst/>
          </a:prstGeom>
          <a:solidFill>
            <a:srgbClr val="FFFFFF"/>
          </a:solidFill>
        </p:spPr>
      </p:sp>
      <p:pic>
        <p:nvPicPr>
          <p:cNvPr id="4" name="Image 0" descr="preencoded.png">
            <a:hlinkClick r:id="rId2"/>
          </p:cNvPr>
          <p:cNvPicPr>
            <a:picLocks noChangeAspect="1"/>
          </p:cNvPicPr>
          <p:nvPr/>
        </p:nvPicPr>
        <p:blipFill>
          <a:blip r:embed="rId3"/>
          <a:stretch>
            <a:fillRect/>
          </a:stretch>
        </p:blipFill>
        <p:spPr>
          <a:xfrm>
            <a:off x="8024509" y="6457950"/>
            <a:ext cx="1076628" cy="342900"/>
          </a:xfrm>
          <a:prstGeom prst="rect">
            <a:avLst/>
          </a:prstGeom>
        </p:spPr>
      </p:pic>
    </p:spTree>
  </p:cSld>
  <p:clrMapOvr>
    <a:masterClrMapping/>
  </p:clrMapOvr>
  <p:hf hd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4" Type="http://schemas.openxmlformats.org/officeDocument/2006/relationships/theme" Target="../theme/theme1.xml"/><Relationship Id="rId23" Type="http://schemas.openxmlformats.org/officeDocument/2006/relationships/image" Target="../media/image3.jpeg"/><Relationship Id="rId22" Type="http://schemas.openxmlformats.org/officeDocument/2006/relationships/slideLayout" Target="../slideLayouts/slideLayout22.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pic>
        <p:nvPicPr>
          <p:cNvPr id="1026" name="Picture 8"/>
          <p:cNvPicPr>
            <a:picLocks noChangeAspect="1"/>
          </p:cNvPicPr>
          <p:nvPr/>
        </p:nvPicPr>
        <p:blipFill>
          <a:blip r:embed="rId23"/>
          <a:stretch>
            <a:fillRect/>
          </a:stretch>
        </p:blipFill>
        <p:spPr>
          <a:xfrm>
            <a:off x="0" y="0"/>
            <a:ext cx="9144000" cy="6858000"/>
          </a:xfrm>
          <a:prstGeom prst="rect">
            <a:avLst/>
          </a:prstGeom>
          <a:noFill/>
          <a:ln w="9525">
            <a:noFill/>
          </a:ln>
        </p:spPr>
      </p:pic>
      <p:sp>
        <p:nvSpPr>
          <p:cNvPr id="1027" name="Rectangle 3"/>
          <p:cNvSpPr>
            <a:spLocks noGrp="1"/>
          </p:cNvSpPr>
          <p:nvPr>
            <p:ph type="title"/>
          </p:nvPr>
        </p:nvSpPr>
        <p:spPr>
          <a:xfrm>
            <a:off x="457200" y="190500"/>
            <a:ext cx="8229600" cy="582613"/>
          </a:xfrm>
          <a:prstGeom prst="rect">
            <a:avLst/>
          </a:prstGeom>
          <a:noFill/>
          <a:ln w="9525">
            <a:noFill/>
          </a:ln>
        </p:spPr>
        <p:txBody>
          <a:bodyPr anchor="ctr" anchorCtr="0"/>
          <a:p>
            <a:pPr lvl="0"/>
            <a:r>
              <a:rPr lang="en-US" altLang="zh-CN" dirty="0"/>
              <a:t>Click to edit Master title style</a:t>
            </a:r>
            <a:endParaRPr lang="en-US" altLang="zh-CN" dirty="0"/>
          </a:p>
        </p:txBody>
      </p:sp>
      <p:sp>
        <p:nvSpPr>
          <p:cNvPr id="1028" name="Rectangle 4"/>
          <p:cNvSpPr>
            <a:spLocks noGrp="1"/>
          </p:cNvSpPr>
          <p:nvPr>
            <p:ph type="body" idx="1"/>
          </p:nvPr>
        </p:nvSpPr>
        <p:spPr>
          <a:xfrm>
            <a:off x="457200" y="1174750"/>
            <a:ext cx="8229600" cy="4953000"/>
          </a:xfrm>
          <a:prstGeom prst="rect">
            <a:avLst/>
          </a:prstGeom>
          <a:noFill/>
          <a:ln w="9525">
            <a:noFill/>
          </a:ln>
        </p:spPr>
        <p:txBody>
          <a:bodyPr/>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1029" name="Rectangle 5"/>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1030" name="Rectangle 6"/>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Solomon Melese,PhD</a:t>
            </a: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1031" name="Rectangle 7"/>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pPr lvl="0"/>
            <a:fld id="{9A0DB2DC-4C9A-4742-B13C-FB6460FD3503}" type="slidenum">
              <a:rPr lang="zh-TW" altLang="en-US" dirty="0"/>
            </a:fld>
            <a:endParaRPr lang="zh-TW"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Lst>
  <p:hf hdr="0" dt="0"/>
  <p:txStyles>
    <p:titleStyle>
      <a:lvl1pPr algn="r" rtl="0" fontAlgn="base">
        <a:spcBef>
          <a:spcPct val="0"/>
        </a:spcBef>
        <a:spcAft>
          <a:spcPct val="0"/>
        </a:spcAft>
        <a:defRPr sz="3600" kern="1200">
          <a:solidFill>
            <a:schemeClr val="bg1"/>
          </a:solidFill>
          <a:latin typeface="+mj-lt"/>
          <a:ea typeface="+mj-ea"/>
          <a:cs typeface="+mj-cs"/>
        </a:defRPr>
      </a:lvl1pPr>
      <a:lvl2pPr algn="r"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2pPr>
      <a:lvl3pPr algn="r"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3pPr>
      <a:lvl4pPr algn="r"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4pPr>
      <a:lvl5pPr algn="r"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5pPr>
      <a:lvl6pPr marL="457200" algn="r"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6pPr>
      <a:lvl7pPr marL="914400" algn="r"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7pPr>
      <a:lvl8pPr marL="1371600" algn="r"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8pPr>
      <a:lvl9pPr marL="1828800" algn="r"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image" Target="../media/image4.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4294967295"/>
          </p:nvPr>
        </p:nvSpPr>
        <p:spPr>
          <a:xfrm>
            <a:off x="0" y="762000"/>
            <a:ext cx="9144635" cy="6073140"/>
          </a:xfrm>
        </p:spPr>
        <p:txBody>
          <a:bodyPr/>
          <a:p>
            <a:pPr marL="0" indent="0" algn="ctr">
              <a:buNone/>
            </a:pPr>
            <a:endParaRPr lang="en-US" sz="3600" b="1">
              <a:solidFill>
                <a:schemeClr val="accent2"/>
              </a:solidFill>
              <a:latin typeface="Times New Roman" panose="02020603050405020304" pitchFamily="18" charset="0"/>
              <a:cs typeface="Times New Roman" panose="02020603050405020304" pitchFamily="18" charset="0"/>
              <a:sym typeface="+mn-ea"/>
            </a:endParaRPr>
          </a:p>
          <a:p>
            <a:pPr marL="0" indent="0" algn="ctr">
              <a:buNone/>
            </a:pPr>
            <a:r>
              <a:rPr lang="en-US" b="1">
                <a:solidFill>
                  <a:schemeClr val="accent2"/>
                </a:solidFill>
                <a:latin typeface="Times New Roman" panose="02020603050405020304" pitchFamily="18" charset="0"/>
                <a:cs typeface="Times New Roman" panose="02020603050405020304" pitchFamily="18" charset="0"/>
                <a:sym typeface="+mn-ea"/>
              </a:rPr>
              <a:t>College of Business and Economics</a:t>
            </a:r>
            <a:endParaRPr lang="en-US" b="1">
              <a:solidFill>
                <a:schemeClr val="accent2"/>
              </a:solidFill>
              <a:latin typeface="Times New Roman" panose="02020603050405020304" pitchFamily="18" charset="0"/>
              <a:cs typeface="Times New Roman" panose="02020603050405020304" pitchFamily="18" charset="0"/>
              <a:sym typeface="+mn-ea"/>
            </a:endParaRPr>
          </a:p>
          <a:p>
            <a:pPr marL="0" indent="0" algn="ctr">
              <a:buNone/>
            </a:pPr>
            <a:r>
              <a:rPr lang="en-US" b="1">
                <a:solidFill>
                  <a:schemeClr val="accent2"/>
                </a:solidFill>
                <a:latin typeface="Times New Roman" panose="02020603050405020304" pitchFamily="18" charset="0"/>
                <a:cs typeface="Times New Roman" panose="02020603050405020304" pitchFamily="18" charset="0"/>
                <a:sym typeface="+mn-ea"/>
              </a:rPr>
              <a:t>Departement of Management</a:t>
            </a:r>
            <a:endParaRPr lang="en-US" b="1">
              <a:solidFill>
                <a:schemeClr val="accent2"/>
              </a:solidFill>
              <a:latin typeface="Times New Roman" panose="02020603050405020304" pitchFamily="18" charset="0"/>
              <a:cs typeface="Times New Roman" panose="02020603050405020304" pitchFamily="18" charset="0"/>
              <a:sym typeface="+mn-ea"/>
            </a:endParaRPr>
          </a:p>
          <a:p>
            <a:pPr marL="0" indent="0" algn="ctr">
              <a:buNone/>
            </a:pPr>
            <a:endParaRPr lang="en-US" sz="3600" b="1">
              <a:solidFill>
                <a:schemeClr val="accent2"/>
              </a:solidFill>
              <a:latin typeface="Times New Roman" panose="02020603050405020304" pitchFamily="18" charset="0"/>
              <a:cs typeface="Times New Roman" panose="02020603050405020304" pitchFamily="18" charset="0"/>
              <a:sym typeface="+mn-ea"/>
            </a:endParaRPr>
          </a:p>
          <a:p>
            <a:pPr marL="0" indent="0" algn="ctr">
              <a:buNone/>
            </a:pPr>
            <a:r>
              <a:rPr lang="en-US" b="1">
                <a:solidFill>
                  <a:schemeClr val="accent2"/>
                </a:solidFill>
                <a:latin typeface="Times New Roman" panose="02020603050405020304" pitchFamily="18" charset="0"/>
                <a:cs typeface="Times New Roman" panose="02020603050405020304" pitchFamily="18" charset="0"/>
                <a:sym typeface="+mn-ea"/>
              </a:rPr>
              <a:t>CHAPTER 5: MARKETING</a:t>
            </a:r>
            <a:r>
              <a:rPr lang="en-US" sz="2800" b="1">
                <a:solidFill>
                  <a:schemeClr val="accent2"/>
                </a:solidFill>
                <a:latin typeface="Times New Roman" panose="02020603050405020304" pitchFamily="18" charset="0"/>
                <a:cs typeface="Times New Roman" panose="02020603050405020304" pitchFamily="18" charset="0"/>
                <a:sym typeface="+mn-ea"/>
              </a:rPr>
              <a:t>                      </a:t>
            </a:r>
            <a:endParaRPr lang="en-US" sz="2800" b="1">
              <a:solidFill>
                <a:schemeClr val="accent2"/>
              </a:solidFill>
              <a:latin typeface="Times New Roman" panose="02020603050405020304" pitchFamily="18" charset="0"/>
              <a:cs typeface="Times New Roman" panose="02020603050405020304" pitchFamily="18" charset="0"/>
              <a:sym typeface="+mn-ea"/>
            </a:endParaRPr>
          </a:p>
          <a:p>
            <a:pPr marL="0" indent="0" algn="ctr">
              <a:buNone/>
            </a:pPr>
            <a:r>
              <a:rPr lang="en-US" sz="2800" b="1">
                <a:solidFill>
                  <a:schemeClr val="accent2"/>
                </a:solidFill>
                <a:latin typeface="Times New Roman" panose="02020603050405020304" pitchFamily="18" charset="0"/>
                <a:cs typeface="Times New Roman" panose="02020603050405020304" pitchFamily="18" charset="0"/>
                <a:sym typeface="+mn-ea"/>
              </a:rPr>
              <a:t>                                      </a:t>
            </a:r>
            <a:endParaRPr lang="en-US" sz="2800" b="1">
              <a:solidFill>
                <a:schemeClr val="accent2"/>
              </a:solidFill>
              <a:latin typeface="Times New Roman" panose="02020603050405020304" pitchFamily="18" charset="0"/>
              <a:cs typeface="Times New Roman" panose="02020603050405020304" pitchFamily="18" charset="0"/>
              <a:sym typeface="+mn-ea"/>
            </a:endParaRPr>
          </a:p>
          <a:p>
            <a:pPr marL="0" indent="0" algn="ctr">
              <a:buNone/>
            </a:pPr>
            <a:r>
              <a:rPr lang="en-US" sz="2800" b="1">
                <a:solidFill>
                  <a:schemeClr val="accent2"/>
                </a:solidFill>
                <a:latin typeface="Times New Roman" panose="02020603050405020304" pitchFamily="18" charset="0"/>
                <a:cs typeface="Times New Roman" panose="02020603050405020304" pitchFamily="18" charset="0"/>
                <a:sym typeface="+mn-ea"/>
              </a:rPr>
              <a:t>                                                </a:t>
            </a:r>
            <a:endParaRPr lang="en-US" sz="2400" b="1">
              <a:solidFill>
                <a:schemeClr val="accent2"/>
              </a:solidFill>
              <a:latin typeface="Times New Roman" panose="02020603050405020304" pitchFamily="18" charset="0"/>
              <a:cs typeface="Times New Roman" panose="02020603050405020304" pitchFamily="18" charset="0"/>
              <a:sym typeface="+mn-ea"/>
            </a:endParaRPr>
          </a:p>
        </p:txBody>
      </p:sp>
      <p:sp>
        <p:nvSpPr>
          <p:cNvPr id="4" name="Slide Number Placeholder 3"/>
          <p:cNvSpPr>
            <a:spLocks noGrp="1"/>
          </p:cNvSpPr>
          <p:nvPr>
            <p:ph type="sldNum" sz="quarter" idx="12"/>
          </p:nvPr>
        </p:nvSpPr>
        <p:spPr/>
        <p:txBody>
          <a:bodyPr/>
          <a:p>
            <a:pPr lvl="0"/>
            <a:fld id="{9A0DB2DC-4C9A-4742-B13C-FB6460FD3503}" type="slidenum">
              <a:rPr lang="zh-TW" altLang="en-US" dirty="0"/>
            </a:fld>
            <a:endParaRPr lang="zh-TW" altLang="en-US" dirty="0"/>
          </a:p>
        </p:txBody>
      </p:sp>
      <p:pic>
        <p:nvPicPr>
          <p:cNvPr id="5" name="Picture 42"/>
          <p:cNvPicPr>
            <a:picLocks noChangeAspect="1" noChangeArrowheads="1"/>
          </p:cNvPicPr>
          <p:nvPr/>
        </p:nvPicPr>
        <p:blipFill>
          <a:blip r:embed="rId1">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a:xfrm>
            <a:off x="2743200" y="0"/>
            <a:ext cx="3797300" cy="1308100"/>
          </a:xfrm>
          <a:prstGeom prst="rect">
            <a:avLst/>
          </a:prstGeom>
          <a:noFill/>
          <a:ln>
            <a:noFill/>
          </a:ln>
        </p:spPr>
      </p:pic>
      <p:pic>
        <p:nvPicPr>
          <p:cNvPr id="2" name="Picture 1"/>
          <p:cNvPicPr>
            <a:picLocks noChangeAspect="1"/>
          </p:cNvPicPr>
          <p:nvPr/>
        </p:nvPicPr>
        <p:blipFill>
          <a:blip r:embed="rId2"/>
          <a:stretch>
            <a:fillRect/>
          </a:stretch>
        </p:blipFill>
        <p:spPr>
          <a:xfrm>
            <a:off x="0" y="4931410"/>
            <a:ext cx="3228340" cy="1925955"/>
          </a:xfrm>
          <a:prstGeom prst="rect">
            <a:avLst/>
          </a:prstGeom>
        </p:spPr>
      </p:pic>
      <p:sp>
        <p:nvSpPr>
          <p:cNvPr id="6" name="Footer Placeholder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Solomon Melese,PhD</a:t>
            </a: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sz="4800" baseline="-25000">
                <a:latin typeface="Times New Roman" panose="02020603050405020304" pitchFamily="18" charset="0"/>
                <a:cs typeface="Times New Roman" panose="02020603050405020304" pitchFamily="18" charset="0"/>
              </a:rPr>
              <a:t>Chapter Learning Outcomes</a:t>
            </a:r>
            <a:endParaRPr lang="en-US" sz="4800" baseline="-2500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22555" y="1174750"/>
            <a:ext cx="8886825" cy="5530850"/>
          </a:xfrm>
        </p:spPr>
        <p:txBody>
          <a:bodyPr/>
          <a:p>
            <a:pPr marL="0" indent="0" algn="just">
              <a:buNone/>
            </a:pPr>
            <a:r>
              <a:rPr lang="en-US" sz="2400" b="1">
                <a:latin typeface="Times New Roman" panose="02020603050405020304" pitchFamily="18" charset="0"/>
                <a:cs typeface="Times New Roman" panose="02020603050405020304" pitchFamily="18" charset="0"/>
              </a:rPr>
              <a:t>After completing this chapter, students should be able to:</a:t>
            </a:r>
            <a:endParaRPr lang="en-US" sz="2400" b="1">
              <a:latin typeface="Times New Roman" panose="02020603050405020304" pitchFamily="18" charset="0"/>
              <a:cs typeface="Times New Roman" panose="02020603050405020304" pitchFamily="18" charset="0"/>
            </a:endParaRPr>
          </a:p>
          <a:p>
            <a:pPr lvl="0" algn="just">
              <a:buFont typeface="Arial" panose="020B0604020202020204" pitchFamily="34" charset="0"/>
              <a:buChar char="•"/>
            </a:pPr>
            <a:r>
              <a:rPr lang="en-US" sz="2000">
                <a:latin typeface="Times New Roman" panose="02020603050405020304" pitchFamily="18" charset="0"/>
                <a:cs typeface="Times New Roman" panose="02020603050405020304" pitchFamily="18" charset="0"/>
              </a:rPr>
              <a:t>Define marketing concepts.</a:t>
            </a:r>
            <a:endParaRPr lang="en-US" sz="2000">
              <a:latin typeface="Times New Roman" panose="02020603050405020304" pitchFamily="18" charset="0"/>
              <a:cs typeface="Times New Roman" panose="02020603050405020304" pitchFamily="18" charset="0"/>
            </a:endParaRPr>
          </a:p>
          <a:p>
            <a:pPr lvl="0" algn="just">
              <a:buFont typeface="Arial" panose="020B0604020202020204" pitchFamily="34" charset="0"/>
              <a:buChar char="•"/>
            </a:pPr>
            <a:r>
              <a:rPr lang="en-US" sz="2000">
                <a:latin typeface="Times New Roman" panose="02020603050405020304" pitchFamily="18" charset="0"/>
                <a:cs typeface="Times New Roman" panose="02020603050405020304" pitchFamily="18" charset="0"/>
              </a:rPr>
              <a:t>Analyze marketing philosophies.</a:t>
            </a:r>
            <a:endParaRPr lang="en-US" sz="2000">
              <a:latin typeface="Times New Roman" panose="02020603050405020304" pitchFamily="18" charset="0"/>
              <a:cs typeface="Times New Roman" panose="02020603050405020304" pitchFamily="18" charset="0"/>
            </a:endParaRPr>
          </a:p>
          <a:p>
            <a:pPr lvl="0" algn="just">
              <a:buFont typeface="Arial" panose="020B0604020202020204" pitchFamily="34" charset="0"/>
              <a:buChar char="•"/>
            </a:pPr>
            <a:r>
              <a:rPr lang="en-US" sz="2000">
                <a:latin typeface="Times New Roman" panose="02020603050405020304" pitchFamily="18" charset="0"/>
                <a:cs typeface="Times New Roman" panose="02020603050405020304" pitchFamily="18" charset="0"/>
              </a:rPr>
              <a:t>Describe the role of marketing in achieving the goals of a business enterprise.</a:t>
            </a:r>
            <a:endParaRPr lang="en-US" sz="2000">
              <a:latin typeface="Times New Roman" panose="02020603050405020304" pitchFamily="18" charset="0"/>
              <a:cs typeface="Times New Roman" panose="02020603050405020304" pitchFamily="18" charset="0"/>
            </a:endParaRPr>
          </a:p>
          <a:p>
            <a:pPr lvl="0" algn="just">
              <a:buFont typeface="Arial" panose="020B0604020202020204" pitchFamily="34" charset="0"/>
              <a:buChar char="•"/>
            </a:pPr>
            <a:r>
              <a:rPr lang="en-US" sz="2000">
                <a:latin typeface="Times New Roman" panose="02020603050405020304" pitchFamily="18" charset="0"/>
                <a:cs typeface="Times New Roman" panose="02020603050405020304" pitchFamily="18" charset="0"/>
              </a:rPr>
              <a:t>Assist in conducting marketing research.</a:t>
            </a:r>
            <a:endParaRPr lang="en-US" sz="2000">
              <a:latin typeface="Times New Roman" panose="02020603050405020304" pitchFamily="18" charset="0"/>
              <a:cs typeface="Times New Roman" panose="02020603050405020304" pitchFamily="18" charset="0"/>
            </a:endParaRPr>
          </a:p>
          <a:p>
            <a:pPr lvl="0" algn="just">
              <a:buFont typeface="Arial" panose="020B0604020202020204" pitchFamily="34" charset="0"/>
              <a:buChar char="•"/>
            </a:pPr>
            <a:r>
              <a:rPr lang="en-US" sz="2000">
                <a:latin typeface="Times New Roman" panose="02020603050405020304" pitchFamily="18" charset="0"/>
                <a:cs typeface="Times New Roman" panose="02020603050405020304" pitchFamily="18" charset="0"/>
              </a:rPr>
              <a:t>Make competitive analysis of the level,</a:t>
            </a:r>
            <a:endParaRPr lang="en-US" sz="2000">
              <a:latin typeface="Times New Roman" panose="02020603050405020304" pitchFamily="18" charset="0"/>
              <a:cs typeface="Times New Roman" panose="02020603050405020304" pitchFamily="18" charset="0"/>
            </a:endParaRPr>
          </a:p>
          <a:p>
            <a:pPr lvl="0" algn="just">
              <a:buFont typeface="Arial" panose="020B0604020202020204" pitchFamily="34" charset="0"/>
              <a:buChar char="•"/>
            </a:pPr>
            <a:r>
              <a:rPr lang="en-US" sz="2000">
                <a:latin typeface="Times New Roman" panose="02020603050405020304" pitchFamily="18" charset="0"/>
                <a:cs typeface="Times New Roman" panose="02020603050405020304" pitchFamily="18" charset="0"/>
              </a:rPr>
              <a:t>Implement marketing intelligence in their organization,</a:t>
            </a:r>
            <a:endParaRPr lang="en-US" sz="2000">
              <a:latin typeface="Times New Roman" panose="02020603050405020304" pitchFamily="18" charset="0"/>
              <a:cs typeface="Times New Roman" panose="02020603050405020304" pitchFamily="18" charset="0"/>
            </a:endParaRPr>
          </a:p>
          <a:p>
            <a:pPr lvl="0" algn="just">
              <a:buFont typeface="Arial" panose="020B0604020202020204" pitchFamily="34" charset="0"/>
              <a:buChar char="•"/>
            </a:pPr>
            <a:r>
              <a:rPr lang="en-US" sz="2000">
                <a:latin typeface="Times New Roman" panose="02020603050405020304" pitchFamily="18" charset="0"/>
                <a:cs typeface="Times New Roman" panose="02020603050405020304" pitchFamily="18" charset="0"/>
              </a:rPr>
              <a:t>Apply the various marketing mixes and strategies in their businesses.</a:t>
            </a:r>
            <a:endParaRPr lang="en-US" sz="2000">
              <a:latin typeface="Times New Roman" panose="02020603050405020304" pitchFamily="18" charset="0"/>
              <a:cs typeface="Times New Roman" panose="02020603050405020304" pitchFamily="18" charset="0"/>
            </a:endParaRPr>
          </a:p>
          <a:p>
            <a:pPr lvl="0" algn="just">
              <a:buFont typeface="Arial" panose="020B0604020202020204" pitchFamily="34" charset="0"/>
              <a:buChar char="•"/>
            </a:pPr>
            <a:r>
              <a:rPr lang="en-US" sz="2000">
                <a:latin typeface="Times New Roman" panose="02020603050405020304" pitchFamily="18" charset="0"/>
                <a:cs typeface="Times New Roman" panose="02020603050405020304" pitchFamily="18" charset="0"/>
              </a:rPr>
              <a:t>Understand and implement selling and customer service skills.</a:t>
            </a:r>
            <a:endParaRPr lang="en-US" sz="200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p>
            <a:pPr lvl="0"/>
            <a:fld id="{9A0DB2DC-4C9A-4742-B13C-FB6460FD3503}" type="slidenum">
              <a:rPr lang="zh-TW" altLang="en-US" dirty="0"/>
            </a:fld>
            <a:endParaRPr lang="zh-TW" altLang="en-US" dirty="0"/>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Solomon Melese,PhD</a:t>
            </a: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a:latin typeface="Times New Roman" panose="02020603050405020304" pitchFamily="18" charset="0"/>
                <a:cs typeface="Times New Roman" panose="02020603050405020304" pitchFamily="18" charset="0"/>
              </a:rPr>
              <a:t>3.1 Introduction</a:t>
            </a:r>
            <a:endParaRPr lang="en-US">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half" idx="1"/>
          </p:nvPr>
        </p:nvSpPr>
        <p:spPr>
          <a:xfrm>
            <a:off x="66040" y="990600"/>
            <a:ext cx="8667115" cy="5461000"/>
          </a:xfrm>
        </p:spPr>
        <p:txBody>
          <a:bodyPr/>
          <a:p>
            <a:pPr algn="just"/>
            <a:r>
              <a:rPr lang="en-US" sz="2800">
                <a:latin typeface="Times New Roman" panose="02020603050405020304" pitchFamily="18" charset="0"/>
                <a:cs typeface="Times New Roman" panose="02020603050405020304" pitchFamily="18" charset="0"/>
              </a:rPr>
              <a:t>Business firms and non-profit organizations engage in marketing.</a:t>
            </a:r>
            <a:endParaRPr lang="en-US" sz="2800">
              <a:latin typeface="Times New Roman" panose="02020603050405020304" pitchFamily="18" charset="0"/>
              <a:cs typeface="Times New Roman" panose="02020603050405020304" pitchFamily="18" charset="0"/>
            </a:endParaRPr>
          </a:p>
          <a:p>
            <a:pPr algn="just"/>
            <a:endParaRPr lang="en-US" sz="2800">
              <a:latin typeface="Times New Roman" panose="02020603050405020304" pitchFamily="18" charset="0"/>
              <a:cs typeface="Times New Roman" panose="02020603050405020304" pitchFamily="18" charset="0"/>
            </a:endParaRPr>
          </a:p>
          <a:p>
            <a:pPr algn="just"/>
            <a:r>
              <a:rPr lang="en-US" sz="2800">
                <a:latin typeface="Times New Roman" panose="02020603050405020304" pitchFamily="18" charset="0"/>
                <a:cs typeface="Times New Roman" panose="02020603050405020304" pitchFamily="18" charset="0"/>
              </a:rPr>
              <a:t>Products marketed include goods, services, ideas, people, and places.</a:t>
            </a:r>
            <a:endParaRPr lang="en-US" sz="2800">
              <a:latin typeface="Times New Roman" panose="02020603050405020304" pitchFamily="18" charset="0"/>
              <a:cs typeface="Times New Roman" panose="02020603050405020304" pitchFamily="18" charset="0"/>
            </a:endParaRPr>
          </a:p>
          <a:p>
            <a:pPr algn="just"/>
            <a:endParaRPr lang="en-US" sz="2800">
              <a:latin typeface="Times New Roman" panose="02020603050405020304" pitchFamily="18" charset="0"/>
              <a:cs typeface="Times New Roman" panose="02020603050405020304" pitchFamily="18" charset="0"/>
            </a:endParaRPr>
          </a:p>
          <a:p>
            <a:pPr algn="just"/>
            <a:r>
              <a:rPr lang="en-US" sz="2800">
                <a:latin typeface="Times New Roman" panose="02020603050405020304" pitchFamily="18" charset="0"/>
                <a:cs typeface="Times New Roman" panose="02020603050405020304" pitchFamily="18" charset="0"/>
              </a:rPr>
              <a:t>Marketing activities target markets consisting of purchasers and groups influencing organizational success.</a:t>
            </a:r>
            <a:endParaRPr lang="en-US" sz="280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p>
            <a:pPr lvl="0"/>
            <a:fld id="{9A0DB2DC-4C9A-4742-B13C-FB6460FD3503}" type="slidenum">
              <a:rPr lang="zh-TW" altLang="en-US" dirty="0"/>
            </a:fld>
            <a:endParaRPr lang="zh-TW" altLang="en-US" dirty="0"/>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Solomon Melese,PhD</a:t>
            </a: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a:latin typeface="Times New Roman" panose="02020603050405020304" pitchFamily="18" charset="0"/>
                <a:cs typeface="Times New Roman" panose="02020603050405020304" pitchFamily="18" charset="0"/>
              </a:rPr>
              <a:t> Introduction</a:t>
            </a:r>
            <a:endParaRPr lang="en-US">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half" idx="1"/>
          </p:nvPr>
        </p:nvSpPr>
        <p:spPr>
          <a:xfrm>
            <a:off x="66040" y="990600"/>
            <a:ext cx="8667115" cy="5461000"/>
          </a:xfrm>
        </p:spPr>
        <p:txBody>
          <a:bodyPr/>
          <a:p>
            <a:pPr algn="just"/>
            <a:r>
              <a:rPr lang="en-US" sz="2800">
                <a:latin typeface="Times New Roman" panose="02020603050405020304" pitchFamily="18" charset="0"/>
                <a:cs typeface="Times New Roman" panose="02020603050405020304" pitchFamily="18" charset="0"/>
              </a:rPr>
              <a:t>The foundation of marketing is exchange.</a:t>
            </a:r>
            <a:endParaRPr lang="en-US" sz="2800">
              <a:latin typeface="Times New Roman" panose="02020603050405020304" pitchFamily="18" charset="0"/>
              <a:cs typeface="Times New Roman" panose="02020603050405020304" pitchFamily="18" charset="0"/>
            </a:endParaRPr>
          </a:p>
          <a:p>
            <a:pPr algn="just"/>
            <a:endParaRPr lang="en-US" sz="2800">
              <a:latin typeface="Times New Roman" panose="02020603050405020304" pitchFamily="18" charset="0"/>
              <a:cs typeface="Times New Roman" panose="02020603050405020304" pitchFamily="18" charset="0"/>
            </a:endParaRPr>
          </a:p>
          <a:p>
            <a:pPr algn="just"/>
            <a:r>
              <a:rPr lang="en-US" sz="2800">
                <a:latin typeface="Times New Roman" panose="02020603050405020304" pitchFamily="18" charset="0"/>
                <a:cs typeface="Times New Roman" panose="02020603050405020304" pitchFamily="18" charset="0"/>
              </a:rPr>
              <a:t>Exchange involves one party giving something of value in return for something else of value.</a:t>
            </a:r>
            <a:endParaRPr lang="en-US" sz="2800">
              <a:latin typeface="Times New Roman" panose="02020603050405020304" pitchFamily="18" charset="0"/>
              <a:cs typeface="Times New Roman" panose="02020603050405020304" pitchFamily="18" charset="0"/>
            </a:endParaRPr>
          </a:p>
          <a:p>
            <a:pPr algn="just"/>
            <a:endParaRPr lang="en-US" sz="2800">
              <a:latin typeface="Times New Roman" panose="02020603050405020304" pitchFamily="18" charset="0"/>
              <a:cs typeface="Times New Roman" panose="02020603050405020304" pitchFamily="18" charset="0"/>
            </a:endParaRPr>
          </a:p>
          <a:p>
            <a:pPr algn="just"/>
            <a:r>
              <a:rPr lang="en-US" sz="2800">
                <a:latin typeface="Times New Roman" panose="02020603050405020304" pitchFamily="18" charset="0"/>
                <a:cs typeface="Times New Roman" panose="02020603050405020304" pitchFamily="18" charset="0"/>
              </a:rPr>
              <a:t>Marketing includes all activities designed to generate or facilitate exchange to satisfy human needs.</a:t>
            </a:r>
            <a:endParaRPr lang="en-US" sz="280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p>
            <a:pPr lvl="0"/>
            <a:fld id="{9A0DB2DC-4C9A-4742-B13C-FB6460FD3503}" type="slidenum">
              <a:rPr lang="zh-TW" altLang="en-US" dirty="0"/>
            </a:fld>
            <a:endParaRPr lang="zh-TW" altLang="en-US" dirty="0"/>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Solomon Melese,PhD</a:t>
            </a: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a:latin typeface="Times New Roman" panose="02020603050405020304" pitchFamily="18" charset="0"/>
                <a:cs typeface="Times New Roman" panose="02020603050405020304" pitchFamily="18" charset="0"/>
              </a:rPr>
              <a:t> Introduction</a:t>
            </a:r>
            <a:endParaRPr lang="en-US">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half" idx="1"/>
          </p:nvPr>
        </p:nvSpPr>
        <p:spPr>
          <a:xfrm>
            <a:off x="66040" y="990600"/>
            <a:ext cx="8667115" cy="5461000"/>
          </a:xfrm>
        </p:spPr>
        <p:txBody>
          <a:bodyPr/>
          <a:p>
            <a:pPr algn="just"/>
            <a:r>
              <a:rPr lang="en-US" sz="2800">
                <a:latin typeface="Times New Roman" panose="02020603050405020304" pitchFamily="18" charset="0"/>
                <a:cs typeface="Times New Roman" panose="02020603050405020304" pitchFamily="18" charset="0"/>
              </a:rPr>
              <a:t>The concept of market is central in marketing.</a:t>
            </a:r>
            <a:endParaRPr lang="en-US" sz="2800">
              <a:latin typeface="Times New Roman" panose="02020603050405020304" pitchFamily="18" charset="0"/>
              <a:cs typeface="Times New Roman" panose="02020603050405020304" pitchFamily="18" charset="0"/>
            </a:endParaRPr>
          </a:p>
          <a:p>
            <a:pPr algn="just"/>
            <a:endParaRPr lang="en-US" sz="2800">
              <a:latin typeface="Times New Roman" panose="02020603050405020304" pitchFamily="18" charset="0"/>
              <a:cs typeface="Times New Roman" panose="02020603050405020304" pitchFamily="18" charset="0"/>
            </a:endParaRPr>
          </a:p>
          <a:p>
            <a:pPr algn="just"/>
            <a:r>
              <a:rPr lang="en-US" sz="2800">
                <a:latin typeface="Times New Roman" panose="02020603050405020304" pitchFamily="18" charset="0"/>
                <a:cs typeface="Times New Roman" panose="02020603050405020304" pitchFamily="18" charset="0"/>
              </a:rPr>
              <a:t>American Marketing Association defines a market as the aggregate demand of potential buyers for a product or service.</a:t>
            </a:r>
            <a:endParaRPr lang="en-US" sz="2800">
              <a:latin typeface="Times New Roman" panose="02020603050405020304" pitchFamily="18" charset="0"/>
              <a:cs typeface="Times New Roman" panose="02020603050405020304" pitchFamily="18" charset="0"/>
            </a:endParaRPr>
          </a:p>
          <a:p>
            <a:pPr algn="just"/>
            <a:endParaRPr lang="en-US" sz="2800">
              <a:latin typeface="Times New Roman" panose="02020603050405020304" pitchFamily="18" charset="0"/>
              <a:cs typeface="Times New Roman" panose="02020603050405020304" pitchFamily="18" charset="0"/>
            </a:endParaRPr>
          </a:p>
          <a:p>
            <a:pPr algn="just"/>
            <a:r>
              <a:rPr lang="en-US" sz="2800">
                <a:latin typeface="Times New Roman" panose="02020603050405020304" pitchFamily="18" charset="0"/>
                <a:cs typeface="Times New Roman" panose="02020603050405020304" pitchFamily="18" charset="0"/>
              </a:rPr>
              <a:t>Philip Kotler defines a market as an area of potential exchanges.</a:t>
            </a:r>
            <a:endParaRPr lang="en-US" sz="2800">
              <a:latin typeface="Times New Roman" panose="02020603050405020304" pitchFamily="18" charset="0"/>
              <a:cs typeface="Times New Roman" panose="02020603050405020304" pitchFamily="18" charset="0"/>
            </a:endParaRPr>
          </a:p>
          <a:p>
            <a:pPr algn="just"/>
            <a:endParaRPr lang="en-US" sz="2800">
              <a:latin typeface="Times New Roman" panose="02020603050405020304" pitchFamily="18" charset="0"/>
              <a:cs typeface="Times New Roman" panose="02020603050405020304" pitchFamily="18" charset="0"/>
            </a:endParaRPr>
          </a:p>
          <a:p>
            <a:pPr algn="just"/>
            <a:r>
              <a:rPr lang="en-US" sz="2800">
                <a:latin typeface="Times New Roman" panose="02020603050405020304" pitchFamily="18" charset="0"/>
                <a:cs typeface="Times New Roman" panose="02020603050405020304" pitchFamily="18" charset="0"/>
              </a:rPr>
              <a:t>A market consists of buyers and sellers negotiating terms of purchase or sale.</a:t>
            </a:r>
            <a:endParaRPr lang="en-US" sz="280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p>
            <a:pPr lvl="0"/>
            <a:fld id="{9A0DB2DC-4C9A-4742-B13C-FB6460FD3503}" type="slidenum">
              <a:rPr lang="zh-TW" altLang="en-US" dirty="0"/>
            </a:fld>
            <a:endParaRPr lang="zh-TW" altLang="en-US" dirty="0"/>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Solomon Melese,PhD</a:t>
            </a: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a:latin typeface="Times New Roman" panose="02020603050405020304" pitchFamily="18" charset="0"/>
                <a:cs typeface="Times New Roman" panose="02020603050405020304" pitchFamily="18" charset="0"/>
              </a:rPr>
              <a:t> Introduction</a:t>
            </a:r>
            <a:endParaRPr lang="en-US">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half" idx="1"/>
          </p:nvPr>
        </p:nvSpPr>
        <p:spPr>
          <a:xfrm>
            <a:off x="66040" y="990600"/>
            <a:ext cx="8667115" cy="5461000"/>
          </a:xfrm>
        </p:spPr>
        <p:txBody>
          <a:bodyPr/>
          <a:p>
            <a:pPr algn="just"/>
            <a:r>
              <a:rPr lang="en-US" sz="2800">
                <a:latin typeface="Times New Roman" panose="02020603050405020304" pitchFamily="18" charset="0"/>
                <a:cs typeface="Times New Roman" panose="02020603050405020304" pitchFamily="18" charset="0"/>
              </a:rPr>
              <a:t>Negotiations may occur:</a:t>
            </a:r>
            <a:endParaRPr lang="en-US" sz="2800">
              <a:latin typeface="Times New Roman" panose="02020603050405020304" pitchFamily="18" charset="0"/>
              <a:cs typeface="Times New Roman" panose="02020603050405020304" pitchFamily="18" charset="0"/>
            </a:endParaRPr>
          </a:p>
          <a:p>
            <a:pPr lvl="1" algn="just"/>
            <a:r>
              <a:rPr lang="en-US" sz="2450">
                <a:latin typeface="Times New Roman" panose="02020603050405020304" pitchFamily="18" charset="0"/>
                <a:cs typeface="Times New Roman" panose="02020603050405020304" pitchFamily="18" charset="0"/>
              </a:rPr>
              <a:t>Face-to-face</a:t>
            </a:r>
            <a:endParaRPr lang="en-US" sz="2450">
              <a:latin typeface="Times New Roman" panose="02020603050405020304" pitchFamily="18" charset="0"/>
              <a:cs typeface="Times New Roman" panose="02020603050405020304" pitchFamily="18" charset="0"/>
            </a:endParaRPr>
          </a:p>
          <a:p>
            <a:pPr lvl="1" algn="just"/>
            <a:r>
              <a:rPr lang="en-US" sz="2450">
                <a:latin typeface="Times New Roman" panose="02020603050405020304" pitchFamily="18" charset="0"/>
                <a:cs typeface="Times New Roman" panose="02020603050405020304" pitchFamily="18" charset="0"/>
              </a:rPr>
              <a:t>Through correspondence, phone, or cable</a:t>
            </a:r>
            <a:endParaRPr lang="en-US" sz="2450">
              <a:latin typeface="Times New Roman" panose="02020603050405020304" pitchFamily="18" charset="0"/>
              <a:cs typeface="Times New Roman" panose="02020603050405020304" pitchFamily="18" charset="0"/>
            </a:endParaRPr>
          </a:p>
          <a:p>
            <a:pPr lvl="1" algn="just"/>
            <a:r>
              <a:rPr lang="en-US" sz="2450">
                <a:latin typeface="Times New Roman" panose="02020603050405020304" pitchFamily="18" charset="0"/>
                <a:cs typeface="Times New Roman" panose="02020603050405020304" pitchFamily="18" charset="0"/>
              </a:rPr>
              <a:t>Through business middlemen such as brokers and commission agents</a:t>
            </a:r>
            <a:endParaRPr lang="en-US" sz="2450">
              <a:latin typeface="Times New Roman" panose="02020603050405020304" pitchFamily="18" charset="0"/>
              <a:cs typeface="Times New Roman" panose="02020603050405020304" pitchFamily="18" charset="0"/>
            </a:endParaRPr>
          </a:p>
          <a:p>
            <a:pPr algn="just"/>
            <a:endParaRPr lang="en-US" sz="2800">
              <a:latin typeface="Times New Roman" panose="02020603050405020304" pitchFamily="18" charset="0"/>
              <a:cs typeface="Times New Roman" panose="02020603050405020304" pitchFamily="18" charset="0"/>
            </a:endParaRPr>
          </a:p>
          <a:p>
            <a:pPr algn="just"/>
            <a:r>
              <a:rPr lang="en-US" sz="2800">
                <a:latin typeface="Times New Roman" panose="02020603050405020304" pitchFamily="18" charset="0"/>
                <a:cs typeface="Times New Roman" panose="02020603050405020304" pitchFamily="18" charset="0"/>
              </a:rPr>
              <a:t>The chapter discusses marketing and its basic components</a:t>
            </a:r>
            <a:endParaRPr lang="en-US" sz="280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p>
            <a:pPr lvl="0"/>
            <a:fld id="{9A0DB2DC-4C9A-4742-B13C-FB6460FD3503}" type="slidenum">
              <a:rPr lang="zh-TW" altLang="en-US" dirty="0"/>
            </a:fld>
            <a:endParaRPr lang="zh-TW" altLang="en-US" dirty="0"/>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Solomon Melese,PhD</a:t>
            </a: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a:latin typeface="Times New Roman" panose="02020603050405020304" pitchFamily="18" charset="0"/>
                <a:cs typeface="Times New Roman" panose="02020603050405020304" pitchFamily="18" charset="0"/>
              </a:rPr>
              <a:t>5.2Meaning and Definitions of Marketing</a:t>
            </a:r>
            <a:endParaRPr lang="en-US">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half" idx="1"/>
          </p:nvPr>
        </p:nvSpPr>
        <p:spPr>
          <a:xfrm>
            <a:off x="66040" y="990600"/>
            <a:ext cx="8667115" cy="5461000"/>
          </a:xfrm>
        </p:spPr>
        <p:txBody>
          <a:bodyPr/>
          <a:p>
            <a:pPr algn="just"/>
            <a:r>
              <a:rPr lang="en-US" sz="2400">
                <a:latin typeface="Times New Roman" panose="02020603050405020304" pitchFamily="18" charset="0"/>
                <a:cs typeface="Times New Roman" panose="02020603050405020304" pitchFamily="18" charset="0"/>
              </a:rPr>
              <a:t>Marketing occurs when one social unit exchanges something of value with another.</a:t>
            </a:r>
            <a:endParaRPr lang="en-US" sz="2400">
              <a:latin typeface="Times New Roman" panose="02020603050405020304" pitchFamily="18" charset="0"/>
              <a:cs typeface="Times New Roman" panose="02020603050405020304" pitchFamily="18" charset="0"/>
            </a:endParaRPr>
          </a:p>
          <a:p>
            <a:pPr algn="just"/>
            <a:endParaRPr lang="en-US" sz="2400">
              <a:latin typeface="Times New Roman" panose="02020603050405020304" pitchFamily="18" charset="0"/>
              <a:cs typeface="Times New Roman" panose="02020603050405020304" pitchFamily="18" charset="0"/>
            </a:endParaRPr>
          </a:p>
          <a:p>
            <a:pPr algn="just"/>
            <a:r>
              <a:rPr lang="en-US" sz="2400">
                <a:latin typeface="Times New Roman" panose="02020603050405020304" pitchFamily="18" charset="0"/>
                <a:cs typeface="Times New Roman" panose="02020603050405020304" pitchFamily="18" charset="0"/>
              </a:rPr>
              <a:t>The essence of marketing is transaction or exchange.</a:t>
            </a:r>
            <a:endParaRPr lang="en-US" sz="2400">
              <a:latin typeface="Times New Roman" panose="02020603050405020304" pitchFamily="18" charset="0"/>
              <a:cs typeface="Times New Roman" panose="02020603050405020304" pitchFamily="18" charset="0"/>
            </a:endParaRPr>
          </a:p>
          <a:p>
            <a:pPr algn="just"/>
            <a:endParaRPr lang="en-US" sz="2400">
              <a:latin typeface="Times New Roman" panose="02020603050405020304" pitchFamily="18" charset="0"/>
              <a:cs typeface="Times New Roman" panose="02020603050405020304" pitchFamily="18" charset="0"/>
            </a:endParaRPr>
          </a:p>
          <a:p>
            <a:pPr algn="just"/>
            <a:r>
              <a:rPr lang="en-US" sz="2400">
                <a:latin typeface="Times New Roman" panose="02020603050405020304" pitchFamily="18" charset="0"/>
                <a:cs typeface="Times New Roman" panose="02020603050405020304" pitchFamily="18" charset="0"/>
              </a:rPr>
              <a:t>Marketing includes activities designed to generate and facilitate exchange to satisfy human needs and wants.</a:t>
            </a:r>
            <a:endParaRPr lang="en-US" sz="2400">
              <a:latin typeface="Times New Roman" panose="02020603050405020304" pitchFamily="18" charset="0"/>
              <a:cs typeface="Times New Roman" panose="02020603050405020304" pitchFamily="18" charset="0"/>
            </a:endParaRPr>
          </a:p>
          <a:p>
            <a:pPr algn="just"/>
            <a:endParaRPr lang="en-US" sz="2400">
              <a:latin typeface="Times New Roman" panose="02020603050405020304" pitchFamily="18" charset="0"/>
              <a:cs typeface="Times New Roman" panose="02020603050405020304" pitchFamily="18" charset="0"/>
            </a:endParaRPr>
          </a:p>
          <a:p>
            <a:pPr algn="just"/>
            <a:r>
              <a:rPr lang="en-US" sz="2400">
                <a:latin typeface="Times New Roman" panose="02020603050405020304" pitchFamily="18" charset="0"/>
                <a:cs typeface="Times New Roman" panose="02020603050405020304" pitchFamily="18" charset="0"/>
              </a:rPr>
              <a:t>Business and non-profit organizations engage in marketing.</a:t>
            </a:r>
            <a:endParaRPr lang="en-US" sz="2400">
              <a:latin typeface="Times New Roman" panose="02020603050405020304" pitchFamily="18" charset="0"/>
              <a:cs typeface="Times New Roman" panose="02020603050405020304" pitchFamily="18" charset="0"/>
            </a:endParaRPr>
          </a:p>
          <a:p>
            <a:pPr algn="just"/>
            <a:endParaRPr lang="en-US" sz="2400">
              <a:latin typeface="Times New Roman" panose="02020603050405020304" pitchFamily="18" charset="0"/>
              <a:cs typeface="Times New Roman" panose="02020603050405020304" pitchFamily="18" charset="0"/>
            </a:endParaRPr>
          </a:p>
          <a:p>
            <a:pPr algn="just"/>
            <a:r>
              <a:rPr lang="en-US" sz="2400">
                <a:latin typeface="Times New Roman" panose="02020603050405020304" pitchFamily="18" charset="0"/>
                <a:cs typeface="Times New Roman" panose="02020603050405020304" pitchFamily="18" charset="0"/>
              </a:rPr>
              <a:t>Products include goods, services, ideas, people, and places.</a:t>
            </a:r>
            <a:endParaRPr lang="en-US" sz="240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p>
            <a:pPr lvl="0"/>
            <a:fld id="{9A0DB2DC-4C9A-4742-B13C-FB6460FD3503}" type="slidenum">
              <a:rPr lang="zh-TW" altLang="en-US" dirty="0"/>
            </a:fld>
            <a:endParaRPr lang="zh-TW" altLang="en-US" dirty="0"/>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Solomon Melese,PhD</a:t>
            </a: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Title 5"/>
          <p:cNvSpPr>
            <a:spLocks noGrp="1"/>
          </p:cNvSpPr>
          <p:nvPr>
            <p:ph type="title"/>
          </p:nvPr>
        </p:nvSpPr>
        <p:spPr/>
        <p:txBody>
          <a:bodyPr/>
          <a:p>
            <a:pPr algn="ctr"/>
            <a:r>
              <a:rPr lang="en-US" sz="2800">
                <a:latin typeface="Times New Roman" panose="02020603050405020304" pitchFamily="18" charset="0"/>
                <a:cs typeface="Times New Roman" panose="02020603050405020304" pitchFamily="18" charset="0"/>
                <a:sym typeface="+mn-ea"/>
              </a:rPr>
              <a:t>Definitions of Marketing</a:t>
            </a:r>
            <a:endParaRPr lang="en-US" sz="2800">
              <a:latin typeface="Times New Roman" panose="02020603050405020304" pitchFamily="18" charset="0"/>
              <a:cs typeface="Times New Roman" panose="02020603050405020304" pitchFamily="18" charset="0"/>
            </a:endParaRPr>
          </a:p>
        </p:txBody>
      </p:sp>
      <p:sp>
        <p:nvSpPr>
          <p:cNvPr id="7" name="Content Placeholder 6"/>
          <p:cNvSpPr>
            <a:spLocks noGrp="1"/>
          </p:cNvSpPr>
          <p:nvPr>
            <p:ph idx="1"/>
          </p:nvPr>
        </p:nvSpPr>
        <p:spPr>
          <a:xfrm>
            <a:off x="135890" y="989330"/>
            <a:ext cx="8550910" cy="5732145"/>
          </a:xfrm>
        </p:spPr>
        <p:txBody>
          <a:bodyPr/>
          <a:p>
            <a:pPr marL="0" algn="just">
              <a:buClrTx/>
              <a:buSzTx/>
              <a:buFontTx/>
              <a:buNone/>
            </a:pPr>
            <a:endParaRPr lang="en-US" sz="1800">
              <a:latin typeface="Times New Roman" panose="02020603050405020304" pitchFamily="18" charset="0"/>
              <a:cs typeface="Times New Roman" panose="02020603050405020304" pitchFamily="18" charset="0"/>
            </a:endParaRPr>
          </a:p>
          <a:p>
            <a:pPr marL="0" algn="just">
              <a:buClrTx/>
              <a:buSzTx/>
              <a:buFontTx/>
              <a:buNone/>
            </a:pPr>
            <a:endParaRPr lang="en-US" sz="1800">
              <a:latin typeface="Times New Roman" panose="02020603050405020304" pitchFamily="18" charset="0"/>
              <a:cs typeface="Times New Roman" panose="02020603050405020304" pitchFamily="18" charset="0"/>
            </a:endParaRPr>
          </a:p>
          <a:p>
            <a:pPr marL="0" algn="just">
              <a:buClrTx/>
              <a:buSzTx/>
              <a:buFontTx/>
              <a:buNone/>
            </a:pPr>
            <a:endParaRPr lang="en-US" sz="1800">
              <a:latin typeface="Times New Roman" panose="02020603050405020304" pitchFamily="18" charset="0"/>
              <a:cs typeface="Times New Roman" panose="02020603050405020304" pitchFamily="18" charset="0"/>
            </a:endParaRPr>
          </a:p>
          <a:p>
            <a:pPr marL="0" algn="just">
              <a:buClrTx/>
              <a:buSzTx/>
              <a:buFontTx/>
              <a:buNone/>
            </a:pPr>
            <a:endParaRPr lang="en-US" sz="1800">
              <a:latin typeface="Times New Roman" panose="02020603050405020304" pitchFamily="18" charset="0"/>
              <a:cs typeface="Times New Roman" panose="02020603050405020304" pitchFamily="18" charset="0"/>
            </a:endParaRPr>
          </a:p>
          <a:p>
            <a:pPr marL="0" algn="just">
              <a:buClrTx/>
              <a:buSzTx/>
              <a:buFontTx/>
              <a:buNone/>
            </a:pPr>
            <a:endParaRPr lang="en-US" sz="1800">
              <a:latin typeface="Times New Roman" panose="02020603050405020304" pitchFamily="18" charset="0"/>
              <a:cs typeface="Times New Roman" panose="02020603050405020304" pitchFamily="18" charset="0"/>
            </a:endParaRPr>
          </a:p>
          <a:p>
            <a:pPr marL="0" algn="just">
              <a:buClrTx/>
              <a:buSzTx/>
              <a:buFontTx/>
              <a:buNone/>
            </a:pPr>
            <a:endParaRPr lang="en-US" sz="1800">
              <a:latin typeface="Times New Roman" panose="02020603050405020304" pitchFamily="18" charset="0"/>
              <a:cs typeface="Times New Roman" panose="02020603050405020304" pitchFamily="18" charset="0"/>
            </a:endParaRPr>
          </a:p>
          <a:p>
            <a:pPr marL="0" algn="just">
              <a:buClrTx/>
              <a:buSzTx/>
              <a:buFontTx/>
              <a:buNone/>
            </a:pPr>
            <a:endParaRPr lang="en-US" sz="1800">
              <a:latin typeface="Times New Roman" panose="02020603050405020304" pitchFamily="18" charset="0"/>
              <a:cs typeface="Times New Roman" panose="02020603050405020304" pitchFamily="18" charset="0"/>
            </a:endParaRPr>
          </a:p>
          <a:p>
            <a:pPr marL="0" algn="just">
              <a:buClrTx/>
              <a:buSzTx/>
              <a:buFontTx/>
              <a:buNone/>
            </a:pPr>
            <a:endParaRPr lang="en-US" sz="1800">
              <a:latin typeface="Times New Roman" panose="02020603050405020304" pitchFamily="18" charset="0"/>
              <a:cs typeface="Times New Roman" panose="02020603050405020304" pitchFamily="18" charset="0"/>
            </a:endParaRPr>
          </a:p>
          <a:p>
            <a:pPr marL="0" algn="just">
              <a:buClrTx/>
              <a:buSzTx/>
              <a:buFontTx/>
              <a:buNone/>
            </a:pPr>
            <a:endParaRPr lang="en-US" sz="1800">
              <a:latin typeface="Times New Roman" panose="02020603050405020304" pitchFamily="18" charset="0"/>
              <a:cs typeface="Times New Roman" panose="02020603050405020304" pitchFamily="18" charset="0"/>
            </a:endParaRPr>
          </a:p>
          <a:p>
            <a:pPr marL="0" algn="just">
              <a:buClrTx/>
              <a:buSzTx/>
              <a:buFontTx/>
              <a:buNone/>
            </a:pPr>
            <a:endParaRPr lang="en-US" sz="1800">
              <a:latin typeface="Times New Roman" panose="02020603050405020304" pitchFamily="18" charset="0"/>
              <a:cs typeface="Times New Roman" panose="02020603050405020304" pitchFamily="18" charset="0"/>
            </a:endParaRPr>
          </a:p>
          <a:p>
            <a:pPr marL="0" algn="just">
              <a:buClrTx/>
              <a:buSzTx/>
              <a:buFontTx/>
              <a:buNone/>
            </a:pPr>
            <a:endParaRPr lang="en-US" sz="1800">
              <a:latin typeface="Times New Roman" panose="02020603050405020304" pitchFamily="18" charset="0"/>
              <a:cs typeface="Times New Roman" panose="02020603050405020304" pitchFamily="18" charset="0"/>
            </a:endParaRPr>
          </a:p>
          <a:p>
            <a:pPr marL="0" algn="just">
              <a:buClrTx/>
              <a:buSzTx/>
              <a:buFontTx/>
              <a:buNone/>
            </a:pPr>
            <a:endParaRPr lang="en-US" sz="1800">
              <a:latin typeface="Times New Roman" panose="02020603050405020304" pitchFamily="18" charset="0"/>
              <a:cs typeface="Times New Roman" panose="02020603050405020304" pitchFamily="18" charset="0"/>
            </a:endParaRPr>
          </a:p>
          <a:p>
            <a:pPr marL="0" algn="just">
              <a:buClrTx/>
              <a:buSzTx/>
              <a:buFontTx/>
              <a:buNone/>
            </a:pPr>
            <a:endParaRPr lang="en-US" sz="1800">
              <a:latin typeface="Times New Roman" panose="02020603050405020304" pitchFamily="18" charset="0"/>
              <a:cs typeface="Times New Roman" panose="02020603050405020304" pitchFamily="18" charset="0"/>
            </a:endParaRPr>
          </a:p>
          <a:p>
            <a:pPr marL="0" algn="just">
              <a:buClrTx/>
              <a:buSzTx/>
              <a:buFontTx/>
              <a:buNone/>
            </a:pPr>
            <a:endParaRPr lang="en-US" sz="1800">
              <a:latin typeface="Times New Roman" panose="02020603050405020304" pitchFamily="18" charset="0"/>
              <a:cs typeface="Times New Roman" panose="02020603050405020304" pitchFamily="18" charset="0"/>
            </a:endParaRPr>
          </a:p>
          <a:p>
            <a:pPr marL="0" algn="just">
              <a:buClrTx/>
              <a:buSzTx/>
              <a:buFontTx/>
              <a:buNone/>
            </a:pPr>
            <a:endParaRPr lang="en-US" sz="1800">
              <a:latin typeface="Times New Roman" panose="02020603050405020304" pitchFamily="18" charset="0"/>
              <a:cs typeface="Times New Roman" panose="02020603050405020304" pitchFamily="18" charset="0"/>
            </a:endParaRPr>
          </a:p>
          <a:p>
            <a:pPr marL="0" algn="just">
              <a:buClrTx/>
              <a:buSzTx/>
              <a:buFontTx/>
              <a:buNone/>
            </a:pPr>
            <a:endParaRPr lang="en-US" sz="180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p>
            <a:pPr lvl="0"/>
            <a:fld id="{9A0DB2DC-4C9A-4742-B13C-FB6460FD3503}" type="slidenum">
              <a:rPr lang="zh-TW" altLang="en-US" dirty="0"/>
            </a:fld>
            <a:endParaRPr lang="zh-TW" altLang="en-US" dirty="0"/>
          </a:p>
        </p:txBody>
      </p:sp>
      <p:sp>
        <p:nvSpPr>
          <p:cNvPr id="10" name="Text Box 9"/>
          <p:cNvSpPr txBox="1"/>
          <p:nvPr/>
        </p:nvSpPr>
        <p:spPr>
          <a:xfrm>
            <a:off x="277495" y="838200"/>
            <a:ext cx="8589645" cy="922020"/>
          </a:xfrm>
          <a:prstGeom prst="rect">
            <a:avLst/>
          </a:prstGeom>
          <a:solidFill>
            <a:schemeClr val="accent2">
              <a:lumMod val="60000"/>
              <a:lumOff val="40000"/>
            </a:schemeClr>
          </a:solidFill>
        </p:spPr>
        <p:txBody>
          <a:bodyPr wrap="square" rtlCol="0">
            <a:spAutoFit/>
          </a:bodyPr>
          <a:p>
            <a:pPr algn="just">
              <a:buFont typeface="+mj-lt"/>
            </a:pPr>
            <a:r>
              <a:rPr lang="en-US" sz="1800">
                <a:cs typeface="Times New Roman" panose="02020603050405020304" pitchFamily="18" charset="0"/>
                <a:sym typeface="+mn-ea"/>
              </a:rPr>
              <a:t>1. Marketing is a social and managerial process by which an individual or group obtain what they need and want through creating, offering and exchanging of product of values with others (Philip Kotler,2012).</a:t>
            </a:r>
            <a:endParaRPr lang="en-US"/>
          </a:p>
        </p:txBody>
      </p:sp>
      <p:sp>
        <p:nvSpPr>
          <p:cNvPr id="12" name="Text Box 11"/>
          <p:cNvSpPr txBox="1"/>
          <p:nvPr/>
        </p:nvSpPr>
        <p:spPr>
          <a:xfrm>
            <a:off x="262255" y="1981200"/>
            <a:ext cx="8576945" cy="922020"/>
          </a:xfrm>
          <a:prstGeom prst="rect">
            <a:avLst/>
          </a:prstGeom>
          <a:solidFill>
            <a:schemeClr val="accent6">
              <a:lumMod val="20000"/>
              <a:lumOff val="80000"/>
            </a:schemeClr>
          </a:solidFill>
        </p:spPr>
        <p:txBody>
          <a:bodyPr wrap="square" rtlCol="0">
            <a:spAutoFit/>
          </a:bodyPr>
          <a:p>
            <a:pPr algn="just">
              <a:buFont typeface="+mj-lt"/>
            </a:pPr>
            <a:r>
              <a:rPr lang="en-US" sz="1800">
                <a:cs typeface="Times New Roman" panose="02020603050405020304" pitchFamily="18" charset="0"/>
                <a:sym typeface="+mn-ea"/>
              </a:rPr>
              <a:t>2.Marketing is the total business activity designed to plan, price, promote and distribute want satisfying products to target market to achieve organizational goal (William J.Stanton, 1984).</a:t>
            </a:r>
            <a:endParaRPr lang="en-US" sz="1800">
              <a:latin typeface="Times New Roman" panose="02020603050405020304" pitchFamily="18" charset="0"/>
              <a:cs typeface="Times New Roman" panose="02020603050405020304" pitchFamily="18" charset="0"/>
            </a:endParaRPr>
          </a:p>
        </p:txBody>
      </p:sp>
      <p:sp>
        <p:nvSpPr>
          <p:cNvPr id="13" name="Text Box 12"/>
          <p:cNvSpPr txBox="1"/>
          <p:nvPr/>
        </p:nvSpPr>
        <p:spPr>
          <a:xfrm>
            <a:off x="214630" y="3124200"/>
            <a:ext cx="8424545" cy="645160"/>
          </a:xfrm>
          <a:prstGeom prst="rect">
            <a:avLst/>
          </a:prstGeom>
          <a:solidFill>
            <a:schemeClr val="accent2">
              <a:lumMod val="60000"/>
              <a:lumOff val="40000"/>
            </a:schemeClr>
          </a:solidFill>
        </p:spPr>
        <p:txBody>
          <a:bodyPr wrap="square" rtlCol="0">
            <a:spAutoFit/>
          </a:bodyPr>
          <a:p>
            <a:pPr algn="just"/>
            <a:r>
              <a:rPr lang="en-US" sz="1800">
                <a:cs typeface="Times New Roman" panose="02020603050405020304" pitchFamily="18" charset="0"/>
                <a:sym typeface="+mn-ea"/>
              </a:rPr>
              <a:t>3.Marketing is the creation and delivery of standard of living to society (Paul. Mazor, 2005).</a:t>
            </a:r>
            <a:endParaRPr lang="en-US" sz="1800">
              <a:cs typeface="Times New Roman" panose="02020603050405020304" pitchFamily="18" charset="0"/>
              <a:sym typeface="+mn-ea"/>
            </a:endParaRPr>
          </a:p>
        </p:txBody>
      </p:sp>
      <p:sp>
        <p:nvSpPr>
          <p:cNvPr id="14" name="Text Box 13"/>
          <p:cNvSpPr txBox="1"/>
          <p:nvPr/>
        </p:nvSpPr>
        <p:spPr>
          <a:xfrm>
            <a:off x="152400" y="3962400"/>
            <a:ext cx="8604885" cy="922020"/>
          </a:xfrm>
          <a:prstGeom prst="rect">
            <a:avLst/>
          </a:prstGeom>
          <a:solidFill>
            <a:schemeClr val="bg1">
              <a:lumMod val="75000"/>
            </a:schemeClr>
          </a:solidFill>
        </p:spPr>
        <p:txBody>
          <a:bodyPr wrap="square" rtlCol="0">
            <a:spAutoFit/>
          </a:bodyPr>
          <a:p>
            <a:pPr algn="just"/>
            <a:r>
              <a:rPr lang="en-US" sz="1800">
                <a:cs typeface="Times New Roman" panose="02020603050405020304" pitchFamily="18" charset="0"/>
                <a:sym typeface="+mn-ea"/>
              </a:rPr>
              <a:t>4.Marketing management is the process of planning and executing, the conception, pricing, promoting and distributing of ideas, goods and services to create an exchange that satisfy individual or group objectives (American marketing Association, 2015).</a:t>
            </a:r>
            <a:endParaRPr lang="en-US" sz="1800">
              <a:cs typeface="Times New Roman" panose="02020603050405020304" pitchFamily="18" charset="0"/>
              <a:sym typeface="+mn-ea"/>
            </a:endParaRPr>
          </a:p>
        </p:txBody>
      </p:sp>
      <p:sp>
        <p:nvSpPr>
          <p:cNvPr id="2" name="Text Box 1"/>
          <p:cNvSpPr txBox="1"/>
          <p:nvPr/>
        </p:nvSpPr>
        <p:spPr>
          <a:xfrm>
            <a:off x="242570" y="5245100"/>
            <a:ext cx="8424545" cy="1198880"/>
          </a:xfrm>
          <a:prstGeom prst="rect">
            <a:avLst/>
          </a:prstGeom>
          <a:solidFill>
            <a:schemeClr val="accent2">
              <a:lumMod val="60000"/>
              <a:lumOff val="40000"/>
            </a:schemeClr>
          </a:solidFill>
        </p:spPr>
        <p:txBody>
          <a:bodyPr wrap="square" rtlCol="0">
            <a:spAutoFit/>
          </a:bodyPr>
          <a:p>
            <a:pPr algn="just"/>
            <a:r>
              <a:rPr lang="en-US" sz="1800">
                <a:cs typeface="Times New Roman" panose="02020603050405020304" pitchFamily="18" charset="0"/>
                <a:sym typeface="+mn-ea"/>
              </a:rPr>
              <a:t>5. Marketing is the effort to identify and satisfy customers’ needs and wants. It involves finding out who your customers are, what they need and want, the prices, the level of competition. It involves the knowledge and all the processes you undertake to sell your product.ation and delivery of standard of living to society (Paul. Mazor, 2005).</a:t>
            </a:r>
            <a:endParaRPr lang="en-US" sz="1800">
              <a:cs typeface="Times New Roman" panose="02020603050405020304" pitchFamily="18" charset="0"/>
              <a:sym typeface="+mn-ea"/>
            </a:endParaRPr>
          </a:p>
        </p:txBody>
      </p:sp>
      <p:sp>
        <p:nvSpPr>
          <p:cNvPr id="3" name="Footer Placeholder 2"/>
          <p:cNvSpPr>
            <a:spLocks noGrp="1"/>
          </p:cNvSpPr>
          <p:nvPr>
            <p:ph type="ftr" sz="quarter" idx="11"/>
          </p:nvPr>
        </p:nvSpPr>
        <p:spPr>
          <a:xfrm>
            <a:off x="3124200" y="6477000"/>
            <a:ext cx="2895600" cy="277495"/>
          </a:xfrm>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Solomon Melese,PhD</a:t>
            </a: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a:latin typeface="Times New Roman" panose="02020603050405020304" pitchFamily="18" charset="0"/>
                <a:cs typeface="Times New Roman" panose="02020603050405020304" pitchFamily="18" charset="0"/>
                <a:sym typeface="+mn-ea"/>
              </a:rPr>
              <a:t>Definitions of Marketing</a:t>
            </a:r>
            <a:endParaRPr lang="en-US">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half" idx="1"/>
          </p:nvPr>
        </p:nvSpPr>
        <p:spPr>
          <a:xfrm>
            <a:off x="66040" y="990600"/>
            <a:ext cx="8667115" cy="5461000"/>
          </a:xfrm>
        </p:spPr>
        <p:txBody>
          <a:bodyPr/>
          <a:p>
            <a:pPr algn="just"/>
            <a:r>
              <a:rPr lang="en-US" sz="2400">
                <a:latin typeface="Times New Roman" panose="02020603050405020304" pitchFamily="18" charset="0"/>
                <a:cs typeface="Times New Roman" panose="02020603050405020304" pitchFamily="18" charset="0"/>
              </a:rPr>
              <a:t>The above definitions of marketing reset on the following core concepts:</a:t>
            </a:r>
            <a:endParaRPr lang="en-US" sz="2400">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Needs, wants, and demands</a:t>
            </a:r>
            <a:endParaRPr lang="en-US" sz="2100">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Products (goods, services, ideas)</a:t>
            </a:r>
            <a:endParaRPr lang="en-US" sz="2100">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Value, cost, and satisfaction</a:t>
            </a:r>
            <a:endParaRPr lang="en-US" sz="2100">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Exchange and transaction</a:t>
            </a:r>
            <a:endParaRPr lang="en-US" sz="2100">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Relationships and networks</a:t>
            </a:r>
            <a:endParaRPr lang="en-US" sz="2100">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Market</a:t>
            </a:r>
            <a:endParaRPr lang="en-US" sz="2100">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Marketers and prospects</a:t>
            </a:r>
            <a:endParaRPr lang="en-US" sz="210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p>
            <a:pPr lvl="0"/>
            <a:fld id="{9A0DB2DC-4C9A-4742-B13C-FB6460FD3503}" type="slidenum">
              <a:rPr lang="zh-TW" altLang="en-US" dirty="0"/>
            </a:fld>
            <a:endParaRPr lang="zh-TW" altLang="en-US" dirty="0"/>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Solomon Melese,PhD</a:t>
            </a: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a:latin typeface="Times New Roman" panose="02020603050405020304" pitchFamily="18" charset="0"/>
                <a:cs typeface="Times New Roman" panose="02020603050405020304" pitchFamily="18" charset="0"/>
                <a:sym typeface="+mn-ea"/>
              </a:rPr>
              <a:t>Key Marketing Questions</a:t>
            </a:r>
            <a:endParaRPr lang="en-US">
              <a:latin typeface="Times New Roman" panose="02020603050405020304" pitchFamily="18" charset="0"/>
              <a:cs typeface="Times New Roman" panose="02020603050405020304" pitchFamily="18" charset="0"/>
              <a:sym typeface="+mn-ea"/>
            </a:endParaRPr>
          </a:p>
        </p:txBody>
      </p:sp>
      <p:sp>
        <p:nvSpPr>
          <p:cNvPr id="3" name="Content Placeholder 2"/>
          <p:cNvSpPr>
            <a:spLocks noGrp="1"/>
          </p:cNvSpPr>
          <p:nvPr>
            <p:ph sz="half" idx="1"/>
          </p:nvPr>
        </p:nvSpPr>
        <p:spPr>
          <a:xfrm>
            <a:off x="66040" y="990600"/>
            <a:ext cx="8667115" cy="5461000"/>
          </a:xfrm>
        </p:spPr>
        <p:txBody>
          <a:bodyPr/>
          <a:p>
            <a:pPr algn="just"/>
            <a:r>
              <a:rPr lang="en-US" sz="2400">
                <a:latin typeface="Times New Roman" panose="02020603050405020304" pitchFamily="18" charset="0"/>
                <a:cs typeface="Times New Roman" panose="02020603050405020304" pitchFamily="18" charset="0"/>
              </a:rPr>
              <a:t>Who are my customers?</a:t>
            </a:r>
            <a:endParaRPr lang="en-US" sz="2400">
              <a:latin typeface="Times New Roman" panose="02020603050405020304" pitchFamily="18" charset="0"/>
              <a:cs typeface="Times New Roman" panose="02020603050405020304" pitchFamily="18" charset="0"/>
            </a:endParaRPr>
          </a:p>
          <a:p>
            <a:pPr algn="just"/>
            <a:endParaRPr lang="en-US" sz="2400">
              <a:latin typeface="Times New Roman" panose="02020603050405020304" pitchFamily="18" charset="0"/>
              <a:cs typeface="Times New Roman" panose="02020603050405020304" pitchFamily="18" charset="0"/>
            </a:endParaRPr>
          </a:p>
          <a:p>
            <a:pPr algn="just"/>
            <a:r>
              <a:rPr lang="en-US" sz="2400">
                <a:latin typeface="Times New Roman" panose="02020603050405020304" pitchFamily="18" charset="0"/>
                <a:cs typeface="Times New Roman" panose="02020603050405020304" pitchFamily="18" charset="0"/>
              </a:rPr>
              <a:t>What are my customers’ needs and wants?</a:t>
            </a:r>
            <a:endParaRPr lang="en-US" sz="2400">
              <a:latin typeface="Times New Roman" panose="02020603050405020304" pitchFamily="18" charset="0"/>
              <a:cs typeface="Times New Roman" panose="02020603050405020304" pitchFamily="18" charset="0"/>
            </a:endParaRPr>
          </a:p>
          <a:p>
            <a:pPr algn="just"/>
            <a:endParaRPr lang="en-US" sz="2400">
              <a:latin typeface="Times New Roman" panose="02020603050405020304" pitchFamily="18" charset="0"/>
              <a:cs typeface="Times New Roman" panose="02020603050405020304" pitchFamily="18" charset="0"/>
            </a:endParaRPr>
          </a:p>
          <a:p>
            <a:pPr algn="just"/>
            <a:r>
              <a:rPr lang="en-US" sz="2400">
                <a:latin typeface="Times New Roman" panose="02020603050405020304" pitchFamily="18" charset="0"/>
                <a:cs typeface="Times New Roman" panose="02020603050405020304" pitchFamily="18" charset="0"/>
              </a:rPr>
              <a:t>How can I satisfy my customers?</a:t>
            </a:r>
            <a:endParaRPr lang="en-US" sz="2400">
              <a:latin typeface="Times New Roman" panose="02020603050405020304" pitchFamily="18" charset="0"/>
              <a:cs typeface="Times New Roman" panose="02020603050405020304" pitchFamily="18" charset="0"/>
            </a:endParaRPr>
          </a:p>
          <a:p>
            <a:pPr algn="just"/>
            <a:endParaRPr lang="en-US" sz="2400">
              <a:latin typeface="Times New Roman" panose="02020603050405020304" pitchFamily="18" charset="0"/>
              <a:cs typeface="Times New Roman" panose="02020603050405020304" pitchFamily="18" charset="0"/>
            </a:endParaRPr>
          </a:p>
          <a:p>
            <a:pPr algn="just"/>
            <a:r>
              <a:rPr lang="en-US" sz="2400">
                <a:latin typeface="Times New Roman" panose="02020603050405020304" pitchFamily="18" charset="0"/>
                <a:cs typeface="Times New Roman" panose="02020603050405020304" pitchFamily="18" charset="0"/>
              </a:rPr>
              <a:t>How do I make a profit while satisfying customers?</a:t>
            </a:r>
            <a:endParaRPr lang="en-US" sz="240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p>
            <a:pPr lvl="0"/>
            <a:fld id="{9A0DB2DC-4C9A-4742-B13C-FB6460FD3503}" type="slidenum">
              <a:rPr lang="zh-TW" altLang="en-US" dirty="0"/>
            </a:fld>
            <a:endParaRPr lang="zh-TW" altLang="en-US" dirty="0"/>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Solomon Melese,PhD</a:t>
            </a: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a:latin typeface="Times New Roman" panose="02020603050405020304" pitchFamily="18" charset="0"/>
                <a:cs typeface="Times New Roman" panose="02020603050405020304" pitchFamily="18" charset="0"/>
                <a:sym typeface="+mn-ea"/>
              </a:rPr>
              <a:t>Who Are Your Customers?</a:t>
            </a:r>
            <a:endParaRPr lang="en-US">
              <a:latin typeface="Times New Roman" panose="02020603050405020304" pitchFamily="18" charset="0"/>
              <a:cs typeface="Times New Roman" panose="02020603050405020304" pitchFamily="18" charset="0"/>
              <a:sym typeface="+mn-ea"/>
            </a:endParaRPr>
          </a:p>
        </p:txBody>
      </p:sp>
      <p:sp>
        <p:nvSpPr>
          <p:cNvPr id="3" name="Content Placeholder 2"/>
          <p:cNvSpPr>
            <a:spLocks noGrp="1"/>
          </p:cNvSpPr>
          <p:nvPr>
            <p:ph sz="half" idx="1"/>
          </p:nvPr>
        </p:nvSpPr>
        <p:spPr>
          <a:xfrm>
            <a:off x="66040" y="990600"/>
            <a:ext cx="8667115" cy="5461000"/>
          </a:xfrm>
        </p:spPr>
        <p:txBody>
          <a:bodyPr/>
          <a:p>
            <a:pPr algn="just"/>
            <a:r>
              <a:rPr lang="en-US" sz="2400">
                <a:latin typeface="Times New Roman" panose="02020603050405020304" pitchFamily="18" charset="0"/>
                <a:cs typeface="Times New Roman" panose="02020603050405020304" pitchFamily="18" charset="0"/>
              </a:rPr>
              <a:t>People or businesses who want your products/services and are willing to pay.</a:t>
            </a:r>
            <a:endParaRPr lang="en-US" sz="2400">
              <a:latin typeface="Times New Roman" panose="02020603050405020304" pitchFamily="18" charset="0"/>
              <a:cs typeface="Times New Roman" panose="02020603050405020304" pitchFamily="18" charset="0"/>
            </a:endParaRPr>
          </a:p>
          <a:p>
            <a:pPr algn="just"/>
            <a:endParaRPr lang="en-US" sz="2400">
              <a:latin typeface="Times New Roman" panose="02020603050405020304" pitchFamily="18" charset="0"/>
              <a:cs typeface="Times New Roman" panose="02020603050405020304" pitchFamily="18" charset="0"/>
            </a:endParaRPr>
          </a:p>
          <a:p>
            <a:pPr algn="just"/>
            <a:r>
              <a:rPr lang="en-US" sz="2400">
                <a:latin typeface="Times New Roman" panose="02020603050405020304" pitchFamily="18" charset="0"/>
                <a:cs typeface="Times New Roman" panose="02020603050405020304" pitchFamily="18" charset="0"/>
              </a:rPr>
              <a:t>Include:</a:t>
            </a:r>
            <a:endParaRPr lang="en-US" sz="2400">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Current customers</a:t>
            </a:r>
            <a:endParaRPr lang="en-US" sz="2100">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Potential future customers</a:t>
            </a:r>
            <a:endParaRPr lang="en-US" sz="2100">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Former customers you want to regain</a:t>
            </a:r>
            <a:endParaRPr lang="en-US" sz="210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p>
            <a:pPr lvl="0"/>
            <a:fld id="{9A0DB2DC-4C9A-4742-B13C-FB6460FD3503}" type="slidenum">
              <a:rPr lang="zh-TW" altLang="en-US" dirty="0"/>
            </a:fld>
            <a:endParaRPr lang="zh-TW" altLang="en-US" dirty="0"/>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Solomon Melese,PhD</a:t>
            </a: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a:latin typeface="Times New Roman" panose="02020603050405020304" pitchFamily="18" charset="0"/>
                <a:cs typeface="Times New Roman" panose="02020603050405020304" pitchFamily="18" charset="0"/>
                <a:sym typeface="+mn-ea"/>
              </a:rPr>
              <a:t>What are my customer’s needs and wants?</a:t>
            </a:r>
            <a:endParaRPr lang="en-US">
              <a:latin typeface="Times New Roman" panose="02020603050405020304" pitchFamily="18" charset="0"/>
              <a:cs typeface="Times New Roman" panose="02020603050405020304" pitchFamily="18" charset="0"/>
              <a:sym typeface="+mn-ea"/>
            </a:endParaRPr>
          </a:p>
        </p:txBody>
      </p:sp>
      <p:sp>
        <p:nvSpPr>
          <p:cNvPr id="3" name="Content Placeholder 2"/>
          <p:cNvSpPr>
            <a:spLocks noGrp="1"/>
          </p:cNvSpPr>
          <p:nvPr>
            <p:ph sz="half" idx="1"/>
          </p:nvPr>
        </p:nvSpPr>
        <p:spPr>
          <a:xfrm>
            <a:off x="66040" y="990600"/>
            <a:ext cx="8667115" cy="5461000"/>
          </a:xfrm>
        </p:spPr>
        <p:txBody>
          <a:bodyPr/>
          <a:p>
            <a:pPr algn="just"/>
            <a:r>
              <a:rPr lang="en-US" sz="2400">
                <a:latin typeface="Times New Roman" panose="02020603050405020304" pitchFamily="18" charset="0"/>
                <a:cs typeface="Times New Roman" panose="02020603050405020304" pitchFamily="18" charset="0"/>
              </a:rPr>
              <a:t>Customers compare different products before choosing.</a:t>
            </a:r>
            <a:endParaRPr lang="en-US" sz="2400">
              <a:latin typeface="Times New Roman" panose="02020603050405020304" pitchFamily="18" charset="0"/>
              <a:cs typeface="Times New Roman" panose="02020603050405020304" pitchFamily="18" charset="0"/>
            </a:endParaRPr>
          </a:p>
          <a:p>
            <a:pPr algn="just"/>
            <a:endParaRPr lang="en-US" sz="2400">
              <a:latin typeface="Times New Roman" panose="02020603050405020304" pitchFamily="18" charset="0"/>
              <a:cs typeface="Times New Roman" panose="02020603050405020304" pitchFamily="18" charset="0"/>
            </a:endParaRPr>
          </a:p>
          <a:p>
            <a:pPr algn="just"/>
            <a:r>
              <a:rPr lang="en-US" sz="2400">
                <a:latin typeface="Times New Roman" panose="02020603050405020304" pitchFamily="18" charset="0"/>
                <a:cs typeface="Times New Roman" panose="02020603050405020304" pitchFamily="18" charset="0"/>
              </a:rPr>
              <a:t>Some prefer different designs.</a:t>
            </a:r>
            <a:endParaRPr lang="en-US" sz="2400">
              <a:latin typeface="Times New Roman" panose="02020603050405020304" pitchFamily="18" charset="0"/>
              <a:cs typeface="Times New Roman" panose="02020603050405020304" pitchFamily="18" charset="0"/>
            </a:endParaRPr>
          </a:p>
          <a:p>
            <a:pPr algn="just"/>
            <a:endParaRPr lang="en-US" sz="2400">
              <a:latin typeface="Times New Roman" panose="02020603050405020304" pitchFamily="18" charset="0"/>
              <a:cs typeface="Times New Roman" panose="02020603050405020304" pitchFamily="18" charset="0"/>
            </a:endParaRPr>
          </a:p>
          <a:p>
            <a:pPr algn="just"/>
            <a:r>
              <a:rPr lang="en-US" sz="2400">
                <a:latin typeface="Times New Roman" panose="02020603050405020304" pitchFamily="18" charset="0"/>
                <a:cs typeface="Times New Roman" panose="02020603050405020304" pitchFamily="18" charset="0"/>
              </a:rPr>
              <a:t>Others prefer high quality and are willing to pay more.</a:t>
            </a:r>
            <a:endParaRPr lang="en-US" sz="240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p>
            <a:pPr lvl="0"/>
            <a:fld id="{9A0DB2DC-4C9A-4742-B13C-FB6460FD3503}" type="slidenum">
              <a:rPr lang="zh-TW" altLang="en-US" dirty="0"/>
            </a:fld>
            <a:endParaRPr lang="zh-TW" altLang="en-US" dirty="0"/>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Solomon Melese,PhD</a:t>
            </a: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a:latin typeface="Times New Roman" panose="02020603050405020304" pitchFamily="18" charset="0"/>
                <a:cs typeface="Times New Roman" panose="02020603050405020304" pitchFamily="18" charset="0"/>
                <a:sym typeface="+mn-ea"/>
              </a:rPr>
              <a:t>How can I satisfy my customers’?</a:t>
            </a:r>
            <a:endParaRPr lang="en-US">
              <a:latin typeface="Times New Roman" panose="02020603050405020304" pitchFamily="18" charset="0"/>
              <a:cs typeface="Times New Roman" panose="02020603050405020304" pitchFamily="18" charset="0"/>
              <a:sym typeface="+mn-ea"/>
            </a:endParaRPr>
          </a:p>
        </p:txBody>
      </p:sp>
      <p:sp>
        <p:nvSpPr>
          <p:cNvPr id="3" name="Content Placeholder 2"/>
          <p:cNvSpPr>
            <a:spLocks noGrp="1"/>
          </p:cNvSpPr>
          <p:nvPr>
            <p:ph sz="half" idx="1"/>
          </p:nvPr>
        </p:nvSpPr>
        <p:spPr>
          <a:xfrm>
            <a:off x="66040" y="990600"/>
            <a:ext cx="8667115" cy="5461000"/>
          </a:xfrm>
        </p:spPr>
        <p:txBody>
          <a:bodyPr/>
          <a:p>
            <a:pPr algn="just"/>
            <a:r>
              <a:rPr lang="en-US" sz="2400">
                <a:latin typeface="Times New Roman" panose="02020603050405020304" pitchFamily="18" charset="0"/>
                <a:cs typeface="Times New Roman" panose="02020603050405020304" pitchFamily="18" charset="0"/>
              </a:rPr>
              <a:t>Identify who your customers are and what they need and want.</a:t>
            </a:r>
            <a:endParaRPr lang="en-US" sz="2400">
              <a:latin typeface="Times New Roman" panose="02020603050405020304" pitchFamily="18" charset="0"/>
              <a:cs typeface="Times New Roman" panose="02020603050405020304" pitchFamily="18" charset="0"/>
            </a:endParaRPr>
          </a:p>
          <a:p>
            <a:pPr algn="just"/>
            <a:endParaRPr lang="en-US" sz="2400">
              <a:latin typeface="Times New Roman" panose="02020603050405020304" pitchFamily="18" charset="0"/>
              <a:cs typeface="Times New Roman" panose="02020603050405020304" pitchFamily="18" charset="0"/>
            </a:endParaRPr>
          </a:p>
          <a:p>
            <a:pPr algn="just"/>
            <a:r>
              <a:rPr lang="en-US" sz="2400" b="1">
                <a:latin typeface="Times New Roman" panose="02020603050405020304" pitchFamily="18" charset="0"/>
                <a:cs typeface="Times New Roman" panose="02020603050405020304" pitchFamily="18" charset="0"/>
              </a:rPr>
              <a:t>Determine:</a:t>
            </a:r>
            <a:endParaRPr lang="en-US" sz="2400" b="1">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Products/services customers want</a:t>
            </a:r>
            <a:endParaRPr lang="en-US" sz="2100">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Price customers are willing to pay</a:t>
            </a:r>
            <a:endParaRPr lang="en-US" sz="2100">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Business location (Place)</a:t>
            </a:r>
            <a:endParaRPr lang="en-US" sz="2100">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Promotion methods to inform and attract customers</a:t>
            </a:r>
            <a:endParaRPr lang="en-US" sz="210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p>
            <a:pPr lvl="0"/>
            <a:fld id="{9A0DB2DC-4C9A-4742-B13C-FB6460FD3503}" type="slidenum">
              <a:rPr lang="zh-TW" altLang="en-US" dirty="0"/>
            </a:fld>
            <a:endParaRPr lang="zh-TW" altLang="en-US" dirty="0"/>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Solomon Melese,PhD</a:t>
            </a: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66675"/>
            <a:ext cx="8229600" cy="859790"/>
          </a:xfrm>
        </p:spPr>
        <p:txBody>
          <a:bodyPr/>
          <a:p>
            <a:pPr algn="ctr"/>
            <a:br>
              <a:rPr lang="en-US" sz="2400">
                <a:latin typeface="Times New Roman" panose="02020603050405020304" pitchFamily="18" charset="0"/>
                <a:cs typeface="Times New Roman" panose="02020603050405020304" pitchFamily="18" charset="0"/>
                <a:sym typeface="+mn-ea"/>
              </a:rPr>
            </a:br>
            <a:r>
              <a:rPr lang="en-US" sz="2800">
                <a:latin typeface="Times New Roman" panose="02020603050405020304" pitchFamily="18" charset="0"/>
                <a:cs typeface="Times New Roman" panose="02020603050405020304" pitchFamily="18" charset="0"/>
                <a:sym typeface="+mn-ea"/>
              </a:rPr>
              <a:t>5.3 Core Concepts of Marketing</a:t>
            </a:r>
            <a:br>
              <a:rPr lang="en-US" sz="2400">
                <a:latin typeface="Times New Roman" panose="02020603050405020304" pitchFamily="18" charset="0"/>
                <a:cs typeface="Times New Roman" panose="02020603050405020304" pitchFamily="18" charset="0"/>
                <a:sym typeface="+mn-ea"/>
              </a:rPr>
            </a:br>
            <a:r>
              <a:rPr lang="en-US" sz="2400">
                <a:latin typeface="Times New Roman" panose="02020603050405020304" pitchFamily="18" charset="0"/>
                <a:cs typeface="Times New Roman" panose="02020603050405020304" pitchFamily="18" charset="0"/>
                <a:sym typeface="+mn-ea"/>
              </a:rPr>
              <a:t>5.3.1 Needs, Wants, and Demand</a:t>
            </a:r>
            <a:br>
              <a:rPr lang="en-US" sz="2400">
                <a:latin typeface="Times New Roman" panose="02020603050405020304" pitchFamily="18" charset="0"/>
                <a:cs typeface="Times New Roman" panose="02020603050405020304" pitchFamily="18" charset="0"/>
              </a:rPr>
            </a:br>
            <a:endParaRPr lang="en-US" sz="2400">
              <a:latin typeface="Times New Roman" panose="02020603050405020304" pitchFamily="18" charset="0"/>
              <a:cs typeface="Times New Roman" panose="02020603050405020304" pitchFamily="18" charset="0"/>
              <a:sym typeface="+mn-ea"/>
            </a:endParaRPr>
          </a:p>
        </p:txBody>
      </p:sp>
      <p:sp>
        <p:nvSpPr>
          <p:cNvPr id="3" name="Content Placeholder 2"/>
          <p:cNvSpPr>
            <a:spLocks noGrp="1"/>
          </p:cNvSpPr>
          <p:nvPr>
            <p:ph sz="half" idx="1"/>
          </p:nvPr>
        </p:nvSpPr>
        <p:spPr>
          <a:xfrm>
            <a:off x="66040" y="990600"/>
            <a:ext cx="8667115" cy="5461000"/>
          </a:xfrm>
        </p:spPr>
        <p:txBody>
          <a:bodyPr/>
          <a:p>
            <a:pPr algn="just"/>
            <a:endParaRPr lang="en-US" sz="2400">
              <a:latin typeface="Times New Roman" panose="02020603050405020304" pitchFamily="18" charset="0"/>
              <a:cs typeface="Times New Roman" panose="02020603050405020304" pitchFamily="18" charset="0"/>
            </a:endParaRPr>
          </a:p>
          <a:p>
            <a:pPr algn="just"/>
            <a:r>
              <a:rPr lang="en-US" sz="2400">
                <a:latin typeface="Times New Roman" panose="02020603050405020304" pitchFamily="18" charset="0"/>
                <a:cs typeface="Times New Roman" panose="02020603050405020304" pitchFamily="18" charset="0"/>
              </a:rPr>
              <a:t>Marketing begins with human needs and wants.</a:t>
            </a:r>
            <a:endParaRPr lang="en-US" sz="2400">
              <a:latin typeface="Times New Roman" panose="02020603050405020304" pitchFamily="18" charset="0"/>
              <a:cs typeface="Times New Roman" panose="02020603050405020304" pitchFamily="18" charset="0"/>
            </a:endParaRPr>
          </a:p>
          <a:p>
            <a:pPr algn="just"/>
            <a:endParaRPr lang="en-US" sz="2400">
              <a:latin typeface="Times New Roman" panose="02020603050405020304" pitchFamily="18" charset="0"/>
              <a:cs typeface="Times New Roman" panose="02020603050405020304" pitchFamily="18" charset="0"/>
            </a:endParaRPr>
          </a:p>
          <a:p>
            <a:pPr algn="just"/>
            <a:r>
              <a:rPr lang="en-US" sz="2400">
                <a:latin typeface="Times New Roman" panose="02020603050405020304" pitchFamily="18" charset="0"/>
                <a:cs typeface="Times New Roman" panose="02020603050405020304" pitchFamily="18" charset="0"/>
              </a:rPr>
              <a:t>People need food, air, water, clothing, and shelter to survive.</a:t>
            </a:r>
            <a:endParaRPr lang="en-US" sz="2400">
              <a:latin typeface="Times New Roman" panose="02020603050405020304" pitchFamily="18" charset="0"/>
              <a:cs typeface="Times New Roman" panose="02020603050405020304" pitchFamily="18" charset="0"/>
            </a:endParaRPr>
          </a:p>
          <a:p>
            <a:pPr algn="just"/>
            <a:endParaRPr lang="en-US" sz="2400">
              <a:latin typeface="Times New Roman" panose="02020603050405020304" pitchFamily="18" charset="0"/>
              <a:cs typeface="Times New Roman" panose="02020603050405020304" pitchFamily="18" charset="0"/>
            </a:endParaRPr>
          </a:p>
          <a:p>
            <a:pPr algn="just"/>
            <a:r>
              <a:rPr lang="en-US" sz="2400">
                <a:latin typeface="Times New Roman" panose="02020603050405020304" pitchFamily="18" charset="0"/>
                <a:cs typeface="Times New Roman" panose="02020603050405020304" pitchFamily="18" charset="0"/>
              </a:rPr>
              <a:t>Beyond basic needs, people desire recreation, education, and other services.</a:t>
            </a:r>
            <a:endParaRPr lang="en-US" sz="240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p>
            <a:pPr lvl="0"/>
            <a:fld id="{9A0DB2DC-4C9A-4742-B13C-FB6460FD3503}" type="slidenum">
              <a:rPr lang="zh-TW" altLang="en-US" dirty="0"/>
            </a:fld>
            <a:endParaRPr lang="zh-TW" altLang="en-US" dirty="0"/>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Solomon Melese,PhD</a:t>
            </a: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66675"/>
            <a:ext cx="8229600" cy="859790"/>
          </a:xfrm>
        </p:spPr>
        <p:txBody>
          <a:bodyPr/>
          <a:p>
            <a:pPr algn="ctr"/>
            <a:r>
              <a:rPr lang="en-US">
                <a:latin typeface="Times New Roman" panose="02020603050405020304" pitchFamily="18" charset="0"/>
                <a:cs typeface="Times New Roman" panose="02020603050405020304" pitchFamily="18" charset="0"/>
              </a:rPr>
              <a:t>Key Terms</a:t>
            </a:r>
            <a:endParaRPr lang="en-US">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half" idx="1"/>
          </p:nvPr>
        </p:nvSpPr>
        <p:spPr>
          <a:xfrm>
            <a:off x="66040" y="990600"/>
            <a:ext cx="8667115" cy="5461000"/>
          </a:xfrm>
        </p:spPr>
        <p:txBody>
          <a:bodyPr/>
          <a:p>
            <a:pPr algn="just"/>
            <a:r>
              <a:rPr lang="en-US" sz="2400" b="1">
                <a:latin typeface="Times New Roman" panose="02020603050405020304" pitchFamily="18" charset="0"/>
                <a:cs typeface="Times New Roman" panose="02020603050405020304" pitchFamily="18" charset="0"/>
              </a:rPr>
              <a:t>Need: </a:t>
            </a:r>
            <a:r>
              <a:rPr lang="en-US" sz="2400">
                <a:latin typeface="Times New Roman" panose="02020603050405020304" pitchFamily="18" charset="0"/>
                <a:cs typeface="Times New Roman" panose="02020603050405020304" pitchFamily="18" charset="0"/>
              </a:rPr>
              <a:t>State of deprivation for basic satisfaction (food, clothing, shelter, safety, belonging, esteem).</a:t>
            </a:r>
            <a:endParaRPr lang="en-US" sz="2400">
              <a:latin typeface="Times New Roman" panose="02020603050405020304" pitchFamily="18" charset="0"/>
              <a:cs typeface="Times New Roman" panose="02020603050405020304" pitchFamily="18" charset="0"/>
            </a:endParaRPr>
          </a:p>
          <a:p>
            <a:pPr algn="just"/>
            <a:endParaRPr lang="en-US" sz="2400">
              <a:latin typeface="Times New Roman" panose="02020603050405020304" pitchFamily="18" charset="0"/>
              <a:cs typeface="Times New Roman" panose="02020603050405020304" pitchFamily="18" charset="0"/>
            </a:endParaRPr>
          </a:p>
          <a:p>
            <a:pPr algn="just"/>
            <a:r>
              <a:rPr lang="en-US" sz="2400" b="1">
                <a:latin typeface="Times New Roman" panose="02020603050405020304" pitchFamily="18" charset="0"/>
                <a:cs typeface="Times New Roman" panose="02020603050405020304" pitchFamily="18" charset="0"/>
              </a:rPr>
              <a:t>Want: </a:t>
            </a:r>
            <a:r>
              <a:rPr lang="en-US" sz="2400">
                <a:latin typeface="Times New Roman" panose="02020603050405020304" pitchFamily="18" charset="0"/>
                <a:cs typeface="Times New Roman" panose="02020603050405020304" pitchFamily="18" charset="0"/>
              </a:rPr>
              <a:t>Desires for specific satisfiers shaped by social forces (e.g., need food → want spaghetti).</a:t>
            </a:r>
            <a:endParaRPr lang="en-US" sz="2400">
              <a:latin typeface="Times New Roman" panose="02020603050405020304" pitchFamily="18" charset="0"/>
              <a:cs typeface="Times New Roman" panose="02020603050405020304" pitchFamily="18" charset="0"/>
            </a:endParaRPr>
          </a:p>
          <a:p>
            <a:pPr algn="just"/>
            <a:endParaRPr lang="en-US" sz="2400">
              <a:latin typeface="Times New Roman" panose="02020603050405020304" pitchFamily="18" charset="0"/>
              <a:cs typeface="Times New Roman" panose="02020603050405020304" pitchFamily="18" charset="0"/>
            </a:endParaRPr>
          </a:p>
          <a:p>
            <a:pPr algn="just"/>
            <a:r>
              <a:rPr lang="en-US" sz="2400" b="1">
                <a:latin typeface="Times New Roman" panose="02020603050405020304" pitchFamily="18" charset="0"/>
                <a:cs typeface="Times New Roman" panose="02020603050405020304" pitchFamily="18" charset="0"/>
              </a:rPr>
              <a:t>Demand: </a:t>
            </a:r>
            <a:r>
              <a:rPr lang="en-US" sz="2400">
                <a:latin typeface="Times New Roman" panose="02020603050405020304" pitchFamily="18" charset="0"/>
                <a:cs typeface="Times New Roman" panose="02020603050405020304" pitchFamily="18" charset="0"/>
              </a:rPr>
              <a:t>Wants backed by ability and willingness to buy.</a:t>
            </a:r>
            <a:endParaRPr lang="en-US" sz="240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p>
            <a:pPr lvl="0"/>
            <a:fld id="{9A0DB2DC-4C9A-4742-B13C-FB6460FD3503}" type="slidenum">
              <a:rPr lang="zh-TW" altLang="en-US" dirty="0"/>
            </a:fld>
            <a:endParaRPr lang="zh-TW" altLang="en-US" dirty="0"/>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Solomon Melese,PhD</a:t>
            </a: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66675"/>
            <a:ext cx="8229600" cy="859790"/>
          </a:xfrm>
        </p:spPr>
        <p:txBody>
          <a:bodyPr/>
          <a:p>
            <a:pPr algn="ctr"/>
            <a:r>
              <a:rPr lang="en-US">
                <a:latin typeface="Times New Roman" panose="02020603050405020304" pitchFamily="18" charset="0"/>
                <a:cs typeface="Times New Roman" panose="02020603050405020304" pitchFamily="18" charset="0"/>
              </a:rPr>
              <a:t>Key Terms</a:t>
            </a:r>
            <a:endParaRPr lang="en-US">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half" idx="1"/>
          </p:nvPr>
        </p:nvSpPr>
        <p:spPr>
          <a:xfrm>
            <a:off x="66040" y="990600"/>
            <a:ext cx="8667115" cy="5461000"/>
          </a:xfrm>
        </p:spPr>
        <p:txBody>
          <a:bodyPr/>
          <a:p>
            <a:pPr algn="just"/>
            <a:r>
              <a:rPr lang="en-US" sz="2400" b="1">
                <a:latin typeface="Times New Roman" panose="02020603050405020304" pitchFamily="18" charset="0"/>
                <a:cs typeface="Times New Roman" panose="02020603050405020304" pitchFamily="18" charset="0"/>
              </a:rPr>
              <a:t>Product:</a:t>
            </a:r>
            <a:r>
              <a:rPr lang="en-US" sz="2400">
                <a:latin typeface="Times New Roman" panose="02020603050405020304" pitchFamily="18" charset="0"/>
                <a:cs typeface="Times New Roman" panose="02020603050405020304" pitchFamily="18" charset="0"/>
              </a:rPr>
              <a:t> Anything offered to satisfy a need or want (tangible or intangible).</a:t>
            </a:r>
            <a:endParaRPr lang="en-US" sz="2400">
              <a:latin typeface="Times New Roman" panose="02020603050405020304" pitchFamily="18" charset="0"/>
              <a:cs typeface="Times New Roman" panose="02020603050405020304" pitchFamily="18" charset="0"/>
            </a:endParaRPr>
          </a:p>
          <a:p>
            <a:pPr algn="just"/>
            <a:endParaRPr lang="en-US" sz="2400">
              <a:latin typeface="Times New Roman" panose="02020603050405020304" pitchFamily="18" charset="0"/>
              <a:cs typeface="Times New Roman" panose="02020603050405020304" pitchFamily="18" charset="0"/>
            </a:endParaRPr>
          </a:p>
          <a:p>
            <a:pPr algn="just"/>
            <a:r>
              <a:rPr lang="en-US" sz="2400" b="1">
                <a:latin typeface="Times New Roman" panose="02020603050405020304" pitchFamily="18" charset="0"/>
                <a:cs typeface="Times New Roman" panose="02020603050405020304" pitchFamily="18" charset="0"/>
              </a:rPr>
              <a:t>Value:</a:t>
            </a:r>
            <a:r>
              <a:rPr lang="en-US" sz="2400">
                <a:latin typeface="Times New Roman" panose="02020603050405020304" pitchFamily="18" charset="0"/>
                <a:cs typeface="Times New Roman" panose="02020603050405020304" pitchFamily="18" charset="0"/>
              </a:rPr>
              <a:t> Consumer’s estimate of a product’s ability to satisfy needs.</a:t>
            </a:r>
            <a:endParaRPr lang="en-US" sz="2400">
              <a:latin typeface="Times New Roman" panose="02020603050405020304" pitchFamily="18" charset="0"/>
              <a:cs typeface="Times New Roman" panose="02020603050405020304" pitchFamily="18" charset="0"/>
            </a:endParaRPr>
          </a:p>
          <a:p>
            <a:pPr algn="just"/>
            <a:endParaRPr lang="en-US" sz="2400">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DeRose: Satisfaction at lowest cost of acquisition, ownership, and use.</a:t>
            </a:r>
            <a:endParaRPr lang="en-US" sz="2100">
              <a:latin typeface="Times New Roman" panose="02020603050405020304" pitchFamily="18" charset="0"/>
              <a:cs typeface="Times New Roman" panose="02020603050405020304" pitchFamily="18" charset="0"/>
            </a:endParaRPr>
          </a:p>
          <a:p>
            <a:pPr algn="just"/>
            <a:endParaRPr lang="en-US" sz="2400">
              <a:latin typeface="Times New Roman" panose="02020603050405020304" pitchFamily="18" charset="0"/>
              <a:cs typeface="Times New Roman" panose="02020603050405020304" pitchFamily="18" charset="0"/>
            </a:endParaRPr>
          </a:p>
          <a:p>
            <a:pPr algn="just"/>
            <a:r>
              <a:rPr lang="en-US" sz="2400" b="1">
                <a:latin typeface="Times New Roman" panose="02020603050405020304" pitchFamily="18" charset="0"/>
                <a:cs typeface="Times New Roman" panose="02020603050405020304" pitchFamily="18" charset="0"/>
              </a:rPr>
              <a:t>Cost:</a:t>
            </a:r>
            <a:r>
              <a:rPr lang="en-US" sz="2400">
                <a:latin typeface="Times New Roman" panose="02020603050405020304" pitchFamily="18" charset="0"/>
                <a:cs typeface="Times New Roman" panose="02020603050405020304" pitchFamily="18" charset="0"/>
              </a:rPr>
              <a:t> Money expended or incurred to acquire a product.</a:t>
            </a:r>
            <a:endParaRPr lang="en-US" sz="240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p>
            <a:pPr lvl="0"/>
            <a:fld id="{9A0DB2DC-4C9A-4742-B13C-FB6460FD3503}" type="slidenum">
              <a:rPr lang="zh-TW" altLang="en-US" dirty="0"/>
            </a:fld>
            <a:endParaRPr lang="zh-TW" altLang="en-US" dirty="0"/>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Solomon Melese,PhD</a:t>
            </a: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66675"/>
            <a:ext cx="8229600" cy="859790"/>
          </a:xfrm>
        </p:spPr>
        <p:txBody>
          <a:bodyPr/>
          <a:p>
            <a:pPr algn="ctr"/>
            <a:r>
              <a:rPr lang="en-US">
                <a:latin typeface="Times New Roman" panose="02020603050405020304" pitchFamily="18" charset="0"/>
                <a:cs typeface="Times New Roman" panose="02020603050405020304" pitchFamily="18" charset="0"/>
              </a:rPr>
              <a:t>Key Terms</a:t>
            </a:r>
            <a:endParaRPr lang="en-US">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half" idx="1"/>
          </p:nvPr>
        </p:nvSpPr>
        <p:spPr>
          <a:xfrm>
            <a:off x="66040" y="990600"/>
            <a:ext cx="8667115" cy="5461000"/>
          </a:xfrm>
        </p:spPr>
        <p:txBody>
          <a:bodyPr/>
          <a:p>
            <a:pPr algn="just"/>
            <a:r>
              <a:rPr lang="en-US" sz="2400" b="1">
                <a:latin typeface="Times New Roman" panose="02020603050405020304" pitchFamily="18" charset="0"/>
                <a:cs typeface="Times New Roman" panose="02020603050405020304" pitchFamily="18" charset="0"/>
              </a:rPr>
              <a:t>Exchange: </a:t>
            </a:r>
            <a:r>
              <a:rPr lang="en-US" sz="2400">
                <a:latin typeface="Times New Roman" panose="02020603050405020304" pitchFamily="18" charset="0"/>
                <a:cs typeface="Times New Roman" panose="02020603050405020304" pitchFamily="18" charset="0"/>
              </a:rPr>
              <a:t>Obtaining a desired product by offering something in return.</a:t>
            </a:r>
            <a:endParaRPr lang="en-US" sz="2400">
              <a:latin typeface="Times New Roman" panose="02020603050405020304" pitchFamily="18" charset="0"/>
              <a:cs typeface="Times New Roman" panose="02020603050405020304" pitchFamily="18" charset="0"/>
            </a:endParaRPr>
          </a:p>
          <a:p>
            <a:pPr algn="just"/>
            <a:endParaRPr lang="en-US" sz="2400">
              <a:latin typeface="Times New Roman" panose="02020603050405020304" pitchFamily="18" charset="0"/>
              <a:cs typeface="Times New Roman" panose="02020603050405020304" pitchFamily="18" charset="0"/>
            </a:endParaRPr>
          </a:p>
          <a:p>
            <a:pPr algn="just"/>
            <a:r>
              <a:rPr lang="en-US" sz="2400" b="1">
                <a:latin typeface="Times New Roman" panose="02020603050405020304" pitchFamily="18" charset="0"/>
                <a:cs typeface="Times New Roman" panose="02020603050405020304" pitchFamily="18" charset="0"/>
              </a:rPr>
              <a:t>Transaction</a:t>
            </a:r>
            <a:r>
              <a:rPr lang="en-US" sz="2400">
                <a:latin typeface="Times New Roman" panose="02020603050405020304" pitchFamily="18" charset="0"/>
                <a:cs typeface="Times New Roman" panose="02020603050405020304" pitchFamily="18" charset="0"/>
              </a:rPr>
              <a:t>: Trade of values between two parties.</a:t>
            </a:r>
            <a:endParaRPr lang="en-US" sz="2400">
              <a:latin typeface="Times New Roman" panose="02020603050405020304" pitchFamily="18" charset="0"/>
              <a:cs typeface="Times New Roman" panose="02020603050405020304" pitchFamily="18" charset="0"/>
            </a:endParaRPr>
          </a:p>
          <a:p>
            <a:pPr algn="just"/>
            <a:endParaRPr lang="en-US" sz="2400">
              <a:latin typeface="Times New Roman" panose="02020603050405020304" pitchFamily="18" charset="0"/>
              <a:cs typeface="Times New Roman" panose="02020603050405020304" pitchFamily="18" charset="0"/>
            </a:endParaRPr>
          </a:p>
          <a:p>
            <a:pPr algn="just"/>
            <a:r>
              <a:rPr lang="en-US" sz="2400" b="1">
                <a:latin typeface="Times New Roman" panose="02020603050405020304" pitchFamily="18" charset="0"/>
                <a:cs typeface="Times New Roman" panose="02020603050405020304" pitchFamily="18" charset="0"/>
              </a:rPr>
              <a:t>Market:</a:t>
            </a:r>
            <a:r>
              <a:rPr lang="en-US" sz="2400">
                <a:latin typeface="Times New Roman" panose="02020603050405020304" pitchFamily="18" charset="0"/>
                <a:cs typeface="Times New Roman" panose="02020603050405020304" pitchFamily="18" charset="0"/>
              </a:rPr>
              <a:t> All potential customers sharing a need or want and willing/able to engage in exchange.</a:t>
            </a:r>
            <a:endParaRPr lang="en-US" sz="240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p>
            <a:pPr lvl="0"/>
            <a:fld id="{9A0DB2DC-4C9A-4742-B13C-FB6460FD3503}" type="slidenum">
              <a:rPr lang="zh-TW" altLang="en-US" dirty="0"/>
            </a:fld>
            <a:endParaRPr lang="zh-TW" altLang="en-US" dirty="0"/>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Solomon Melese,PhD</a:t>
            </a: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66675"/>
            <a:ext cx="8229600" cy="859790"/>
          </a:xfrm>
        </p:spPr>
        <p:txBody>
          <a:bodyPr/>
          <a:p>
            <a:pPr algn="ctr"/>
            <a:r>
              <a:rPr lang="en-US">
                <a:latin typeface="Times New Roman" panose="02020603050405020304" pitchFamily="18" charset="0"/>
                <a:cs typeface="Times New Roman" panose="02020603050405020304" pitchFamily="18" charset="0"/>
              </a:rPr>
              <a:t>5.4 Importance of Marketing</a:t>
            </a:r>
            <a:endParaRPr lang="en-US">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half" idx="1"/>
          </p:nvPr>
        </p:nvSpPr>
        <p:spPr>
          <a:xfrm>
            <a:off x="66040" y="990600"/>
            <a:ext cx="8667115" cy="5461000"/>
          </a:xfrm>
        </p:spPr>
        <p:txBody>
          <a:bodyPr/>
          <a:p>
            <a:pPr algn="just"/>
            <a:r>
              <a:rPr lang="en-US" sz="2400">
                <a:latin typeface="Times New Roman" panose="02020603050405020304" pitchFamily="18" charset="0"/>
                <a:cs typeface="Times New Roman" panose="02020603050405020304" pitchFamily="18" charset="0"/>
              </a:rPr>
              <a:t>About 50 cents of every consumer dollar goes to marketing costs.</a:t>
            </a:r>
            <a:endParaRPr lang="en-US" sz="2400">
              <a:latin typeface="Times New Roman" panose="02020603050405020304" pitchFamily="18" charset="0"/>
              <a:cs typeface="Times New Roman" panose="02020603050405020304" pitchFamily="18" charset="0"/>
            </a:endParaRPr>
          </a:p>
          <a:p>
            <a:pPr algn="just"/>
            <a:endParaRPr lang="en-US" sz="2400">
              <a:latin typeface="Times New Roman" panose="02020603050405020304" pitchFamily="18" charset="0"/>
              <a:cs typeface="Times New Roman" panose="02020603050405020304" pitchFamily="18" charset="0"/>
            </a:endParaRPr>
          </a:p>
          <a:p>
            <a:pPr algn="just"/>
            <a:r>
              <a:rPr lang="en-US" sz="2400" b="1">
                <a:latin typeface="Times New Roman" panose="02020603050405020304" pitchFamily="18" charset="0"/>
                <a:cs typeface="Times New Roman" panose="02020603050405020304" pitchFamily="18" charset="0"/>
              </a:rPr>
              <a:t>Marketing covers:</a:t>
            </a:r>
            <a:endParaRPr lang="en-US" sz="2400" b="1">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Product design to meet needs</a:t>
            </a:r>
            <a:endParaRPr lang="en-US" sz="2100">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Making products available when/where needed</a:t>
            </a:r>
            <a:endParaRPr lang="en-US" sz="2100">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Informing consumers about products and benefits</a:t>
            </a:r>
            <a:endParaRPr lang="en-US" sz="2100">
              <a:latin typeface="Times New Roman" panose="02020603050405020304" pitchFamily="18" charset="0"/>
              <a:cs typeface="Times New Roman" panose="02020603050405020304" pitchFamily="18" charset="0"/>
            </a:endParaRPr>
          </a:p>
          <a:p>
            <a:pPr algn="just"/>
            <a:endParaRPr lang="en-US" sz="2400">
              <a:latin typeface="Times New Roman" panose="02020603050405020304" pitchFamily="18" charset="0"/>
              <a:cs typeface="Times New Roman" panose="02020603050405020304" pitchFamily="18" charset="0"/>
            </a:endParaRPr>
          </a:p>
          <a:p>
            <a:pPr algn="just"/>
            <a:r>
              <a:rPr lang="en-US" sz="2400">
                <a:latin typeface="Times New Roman" panose="02020603050405020304" pitchFamily="18" charset="0"/>
                <a:cs typeface="Times New Roman" panose="02020603050405020304" pitchFamily="18" charset="0"/>
              </a:rPr>
              <a:t>Marketing creates utility, which makes products satisfying to customers.</a:t>
            </a:r>
            <a:endParaRPr lang="en-US" sz="240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p>
            <a:pPr lvl="0"/>
            <a:fld id="{9A0DB2DC-4C9A-4742-B13C-FB6460FD3503}" type="slidenum">
              <a:rPr lang="zh-TW" altLang="en-US" dirty="0"/>
            </a:fld>
            <a:endParaRPr lang="zh-TW" altLang="en-US" dirty="0"/>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Solomon Melese,PhD</a:t>
            </a: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66675"/>
            <a:ext cx="8229600" cy="859790"/>
          </a:xfrm>
        </p:spPr>
        <p:txBody>
          <a:bodyPr/>
          <a:p>
            <a:pPr algn="ctr"/>
            <a:r>
              <a:rPr lang="en-US">
                <a:latin typeface="Times New Roman" panose="02020603050405020304" pitchFamily="18" charset="0"/>
                <a:cs typeface="Times New Roman" panose="02020603050405020304" pitchFamily="18" charset="0"/>
              </a:rPr>
              <a:t>Types of Utility in Marketing</a:t>
            </a:r>
            <a:endParaRPr lang="en-US">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half" idx="1"/>
          </p:nvPr>
        </p:nvSpPr>
        <p:spPr>
          <a:xfrm>
            <a:off x="66040" y="990600"/>
            <a:ext cx="8667115" cy="5461000"/>
          </a:xfrm>
        </p:spPr>
        <p:txBody>
          <a:bodyPr/>
          <a:p>
            <a:pPr algn="just"/>
            <a:r>
              <a:rPr lang="en-US" sz="2400" b="1">
                <a:latin typeface="Times New Roman" panose="02020603050405020304" pitchFamily="18" charset="0"/>
                <a:cs typeface="Times New Roman" panose="02020603050405020304" pitchFamily="18" charset="0"/>
              </a:rPr>
              <a:t>Form Utility</a:t>
            </a:r>
            <a:endParaRPr lang="en-US" sz="2400" b="1">
              <a:latin typeface="Times New Roman" panose="02020603050405020304" pitchFamily="18" charset="0"/>
              <a:cs typeface="Times New Roman" panose="02020603050405020304" pitchFamily="18" charset="0"/>
            </a:endParaRPr>
          </a:p>
          <a:p>
            <a:pPr algn="just"/>
            <a:endParaRPr lang="en-US" sz="2400">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Physical or chemical changes that make a product more valuable.</a:t>
            </a:r>
            <a:endParaRPr lang="en-US" sz="2100">
              <a:latin typeface="Times New Roman" panose="02020603050405020304" pitchFamily="18" charset="0"/>
              <a:cs typeface="Times New Roman" panose="02020603050405020304" pitchFamily="18" charset="0"/>
            </a:endParaRPr>
          </a:p>
          <a:p>
            <a:pPr algn="just"/>
            <a:endParaRPr lang="en-US" sz="2400">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Example: Timber made into furniture.</a:t>
            </a:r>
            <a:endParaRPr lang="en-US" sz="2100">
              <a:latin typeface="Times New Roman" panose="02020603050405020304" pitchFamily="18" charset="0"/>
              <a:cs typeface="Times New Roman" panose="02020603050405020304" pitchFamily="18" charset="0"/>
            </a:endParaRPr>
          </a:p>
          <a:p>
            <a:pPr algn="just"/>
            <a:endParaRPr lang="en-US" sz="2400">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Marketing aids in product design, color, and quantity decisions.</a:t>
            </a:r>
            <a:endParaRPr lang="en-US" sz="210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p>
            <a:pPr lvl="0"/>
            <a:fld id="{9A0DB2DC-4C9A-4742-B13C-FB6460FD3503}" type="slidenum">
              <a:rPr lang="zh-TW" altLang="en-US" dirty="0"/>
            </a:fld>
            <a:endParaRPr lang="zh-TW" altLang="en-US" dirty="0"/>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Solomon Melese,PhD</a:t>
            </a: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66675"/>
            <a:ext cx="8229600" cy="859790"/>
          </a:xfrm>
        </p:spPr>
        <p:txBody>
          <a:bodyPr/>
          <a:p>
            <a:pPr algn="ctr"/>
            <a:r>
              <a:rPr lang="en-US">
                <a:latin typeface="Times New Roman" panose="02020603050405020304" pitchFamily="18" charset="0"/>
                <a:cs typeface="Times New Roman" panose="02020603050405020304" pitchFamily="18" charset="0"/>
              </a:rPr>
              <a:t>Types of Utility in Marketing</a:t>
            </a:r>
            <a:endParaRPr lang="en-US">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half" idx="1"/>
          </p:nvPr>
        </p:nvSpPr>
        <p:spPr>
          <a:xfrm>
            <a:off x="66040" y="990600"/>
            <a:ext cx="8667115" cy="5461000"/>
          </a:xfrm>
        </p:spPr>
        <p:txBody>
          <a:bodyPr/>
          <a:p>
            <a:pPr algn="just"/>
            <a:r>
              <a:rPr lang="en-US" sz="2400" b="1">
                <a:latin typeface="Times New Roman" panose="02020603050405020304" pitchFamily="18" charset="0"/>
                <a:cs typeface="Times New Roman" panose="02020603050405020304" pitchFamily="18" charset="0"/>
              </a:rPr>
              <a:t>Place Utility</a:t>
            </a:r>
            <a:endParaRPr lang="en-US" sz="2400" b="1">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Product is readily accessible to customers.</a:t>
            </a:r>
            <a:endParaRPr lang="en-US" sz="2100">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Moving products to nearby stores adds value.</a:t>
            </a:r>
            <a:endParaRPr lang="en-US" sz="2100">
              <a:latin typeface="Times New Roman" panose="02020603050405020304" pitchFamily="18" charset="0"/>
              <a:cs typeface="Times New Roman" panose="02020603050405020304" pitchFamily="18" charset="0"/>
            </a:endParaRPr>
          </a:p>
          <a:p>
            <a:pPr algn="just"/>
            <a:endParaRPr lang="en-US" sz="2400">
              <a:latin typeface="Times New Roman" panose="02020603050405020304" pitchFamily="18" charset="0"/>
              <a:cs typeface="Times New Roman" panose="02020603050405020304" pitchFamily="18" charset="0"/>
            </a:endParaRPr>
          </a:p>
          <a:p>
            <a:pPr algn="just"/>
            <a:r>
              <a:rPr lang="en-US" sz="2400" b="1">
                <a:latin typeface="Times New Roman" panose="02020603050405020304" pitchFamily="18" charset="0"/>
                <a:cs typeface="Times New Roman" panose="02020603050405020304" pitchFamily="18" charset="0"/>
              </a:rPr>
              <a:t>Time Utility</a:t>
            </a:r>
            <a:endParaRPr lang="en-US" sz="2400" b="1">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Product available when the customer wants it.</a:t>
            </a:r>
            <a:endParaRPr lang="en-US" sz="2100">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Requires inventory management and anticipating customer needs.</a:t>
            </a:r>
            <a:endParaRPr lang="en-US" sz="210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p>
            <a:pPr lvl="0"/>
            <a:fld id="{9A0DB2DC-4C9A-4742-B13C-FB6460FD3503}" type="slidenum">
              <a:rPr lang="zh-TW" altLang="en-US" dirty="0"/>
            </a:fld>
            <a:endParaRPr lang="zh-TW" altLang="en-US" dirty="0"/>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Solomon Melese,PhD</a:t>
            </a: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66675"/>
            <a:ext cx="8229600" cy="859790"/>
          </a:xfrm>
        </p:spPr>
        <p:txBody>
          <a:bodyPr/>
          <a:p>
            <a:pPr algn="ctr"/>
            <a:r>
              <a:rPr lang="en-US">
                <a:latin typeface="Times New Roman" panose="02020603050405020304" pitchFamily="18" charset="0"/>
                <a:cs typeface="Times New Roman" panose="02020603050405020304" pitchFamily="18" charset="0"/>
              </a:rPr>
              <a:t>Types of Utility in Marketing</a:t>
            </a:r>
            <a:endParaRPr lang="en-US">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half" idx="1"/>
          </p:nvPr>
        </p:nvSpPr>
        <p:spPr>
          <a:xfrm>
            <a:off x="66040" y="990600"/>
            <a:ext cx="8667115" cy="5461000"/>
          </a:xfrm>
        </p:spPr>
        <p:txBody>
          <a:bodyPr/>
          <a:p>
            <a:pPr algn="just"/>
            <a:r>
              <a:rPr lang="en-US" sz="2400" b="1">
                <a:latin typeface="Times New Roman" panose="02020603050405020304" pitchFamily="18" charset="0"/>
                <a:cs typeface="Times New Roman" panose="02020603050405020304" pitchFamily="18" charset="0"/>
              </a:rPr>
              <a:t>Information Utility</a:t>
            </a:r>
            <a:endParaRPr lang="en-US" sz="2400" b="1">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Informing buyers that a product exists and its benefits.</a:t>
            </a:r>
            <a:endParaRPr lang="en-US" sz="2100">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Includes advertising and sales support.</a:t>
            </a:r>
            <a:endParaRPr lang="en-US" sz="2100">
              <a:latin typeface="Times New Roman" panose="02020603050405020304" pitchFamily="18" charset="0"/>
              <a:cs typeface="Times New Roman" panose="02020603050405020304" pitchFamily="18" charset="0"/>
            </a:endParaRPr>
          </a:p>
          <a:p>
            <a:pPr lvl="1" algn="just"/>
            <a:r>
              <a:rPr lang="en-US" sz="2100" b="1">
                <a:latin typeface="Times New Roman" panose="02020603050405020304" pitchFamily="18" charset="0"/>
                <a:cs typeface="Times New Roman" panose="02020603050405020304" pitchFamily="18" charset="0"/>
              </a:rPr>
              <a:t>Image Utility:</a:t>
            </a:r>
            <a:r>
              <a:rPr lang="en-US" sz="2100">
                <a:latin typeface="Times New Roman" panose="02020603050405020304" pitchFamily="18" charset="0"/>
                <a:cs typeface="Times New Roman" panose="02020603050405020304" pitchFamily="18" charset="0"/>
              </a:rPr>
              <a:t> Emotional or psychological value from brand reputation.</a:t>
            </a:r>
            <a:endParaRPr lang="en-US" sz="2100">
              <a:latin typeface="Times New Roman" panose="02020603050405020304" pitchFamily="18" charset="0"/>
              <a:cs typeface="Times New Roman" panose="02020603050405020304" pitchFamily="18" charset="0"/>
            </a:endParaRPr>
          </a:p>
          <a:p>
            <a:pPr algn="just"/>
            <a:endParaRPr lang="en-US" sz="2400">
              <a:latin typeface="Times New Roman" panose="02020603050405020304" pitchFamily="18" charset="0"/>
              <a:cs typeface="Times New Roman" panose="02020603050405020304" pitchFamily="18" charset="0"/>
            </a:endParaRPr>
          </a:p>
          <a:p>
            <a:pPr algn="just"/>
            <a:r>
              <a:rPr lang="en-US" sz="2400" b="1">
                <a:latin typeface="Times New Roman" panose="02020603050405020304" pitchFamily="18" charset="0"/>
                <a:cs typeface="Times New Roman" panose="02020603050405020304" pitchFamily="18" charset="0"/>
              </a:rPr>
              <a:t>Possession Utility</a:t>
            </a:r>
            <a:endParaRPr lang="en-US" sz="2400" b="1">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Created when ownership is transferred to the buyer.</a:t>
            </a:r>
            <a:endParaRPr lang="en-US" sz="2100">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Requires a transaction, exchanging money for the product.</a:t>
            </a:r>
            <a:endParaRPr lang="en-US" sz="210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p>
            <a:pPr lvl="0"/>
            <a:fld id="{9A0DB2DC-4C9A-4742-B13C-FB6460FD3503}" type="slidenum">
              <a:rPr lang="zh-TW" altLang="en-US" dirty="0"/>
            </a:fld>
            <a:endParaRPr lang="zh-TW" altLang="en-US" dirty="0"/>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Solomon Melese,PhD</a:t>
            </a: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66675"/>
            <a:ext cx="8229600" cy="859790"/>
          </a:xfrm>
        </p:spPr>
        <p:txBody>
          <a:bodyPr/>
          <a:p>
            <a:pPr algn="ctr"/>
            <a:r>
              <a:rPr lang="en-US">
                <a:latin typeface="Times New Roman" panose="02020603050405020304" pitchFamily="18" charset="0"/>
                <a:cs typeface="Times New Roman" panose="02020603050405020304" pitchFamily="18" charset="0"/>
              </a:rPr>
              <a:t>5.5 Marketing Philosophies</a:t>
            </a:r>
            <a:endParaRPr lang="en-US">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half" idx="1"/>
          </p:nvPr>
        </p:nvSpPr>
        <p:spPr>
          <a:xfrm>
            <a:off x="66040" y="990600"/>
            <a:ext cx="8667115" cy="5461000"/>
          </a:xfrm>
        </p:spPr>
        <p:txBody>
          <a:bodyPr/>
          <a:p>
            <a:pPr algn="just"/>
            <a:r>
              <a:rPr lang="en-US" sz="2400">
                <a:latin typeface="Times New Roman" panose="02020603050405020304" pitchFamily="18" charset="0"/>
                <a:cs typeface="Times New Roman" panose="02020603050405020304" pitchFamily="18" charset="0"/>
              </a:rPr>
              <a:t>Marketing requires a well-thought philosophy for efficiency, effectiveness, and social responsibility.</a:t>
            </a:r>
            <a:endParaRPr lang="en-US" sz="2400">
              <a:latin typeface="Times New Roman" panose="02020603050405020304" pitchFamily="18" charset="0"/>
              <a:cs typeface="Times New Roman" panose="02020603050405020304" pitchFamily="18" charset="0"/>
            </a:endParaRPr>
          </a:p>
          <a:p>
            <a:pPr algn="just"/>
            <a:r>
              <a:rPr lang="en-US" sz="2400" b="1">
                <a:latin typeface="Times New Roman" panose="02020603050405020304" pitchFamily="18" charset="0"/>
                <a:cs typeface="Times New Roman" panose="02020603050405020304" pitchFamily="18" charset="0"/>
              </a:rPr>
              <a:t>Six main marketing concepts:</a:t>
            </a:r>
            <a:endParaRPr lang="en-US" sz="2400" b="1">
              <a:latin typeface="Times New Roman" panose="02020603050405020304" pitchFamily="18" charset="0"/>
              <a:cs typeface="Times New Roman" panose="02020603050405020304" pitchFamily="18" charset="0"/>
            </a:endParaRPr>
          </a:p>
          <a:p>
            <a:pPr marL="914400" lvl="1" indent="-457200" algn="just">
              <a:buFont typeface="+mj-lt"/>
              <a:buAutoNum type="arabicPeriod"/>
            </a:pPr>
            <a:r>
              <a:rPr lang="en-US" sz="2100">
                <a:latin typeface="Times New Roman" panose="02020603050405020304" pitchFamily="18" charset="0"/>
                <a:cs typeface="Times New Roman" panose="02020603050405020304" pitchFamily="18" charset="0"/>
              </a:rPr>
              <a:t>Production Concep</a:t>
            </a:r>
            <a:endParaRPr lang="en-US" sz="2100">
              <a:latin typeface="Times New Roman" panose="02020603050405020304" pitchFamily="18" charset="0"/>
              <a:cs typeface="Times New Roman" panose="02020603050405020304" pitchFamily="18" charset="0"/>
            </a:endParaRPr>
          </a:p>
          <a:p>
            <a:pPr marL="914400" lvl="1" indent="-457200" algn="just">
              <a:buFont typeface="+mj-lt"/>
              <a:buAutoNum type="arabicPeriod"/>
            </a:pPr>
            <a:r>
              <a:rPr lang="en-US" sz="2100">
                <a:latin typeface="Times New Roman" panose="02020603050405020304" pitchFamily="18" charset="0"/>
                <a:cs typeface="Times New Roman" panose="02020603050405020304" pitchFamily="18" charset="0"/>
              </a:rPr>
              <a:t>Product Concept</a:t>
            </a:r>
            <a:endParaRPr lang="en-US" sz="2100">
              <a:latin typeface="Times New Roman" panose="02020603050405020304" pitchFamily="18" charset="0"/>
              <a:cs typeface="Times New Roman" panose="02020603050405020304" pitchFamily="18" charset="0"/>
            </a:endParaRPr>
          </a:p>
          <a:p>
            <a:pPr marL="914400" lvl="1" indent="-457200" algn="just">
              <a:buFont typeface="+mj-lt"/>
              <a:buAutoNum type="arabicPeriod"/>
            </a:pPr>
            <a:r>
              <a:rPr lang="en-US" sz="2100">
                <a:latin typeface="Times New Roman" panose="02020603050405020304" pitchFamily="18" charset="0"/>
                <a:cs typeface="Times New Roman" panose="02020603050405020304" pitchFamily="18" charset="0"/>
              </a:rPr>
              <a:t>Selling/Sales Concept</a:t>
            </a:r>
            <a:endParaRPr lang="en-US" sz="2100">
              <a:latin typeface="Times New Roman" panose="02020603050405020304" pitchFamily="18" charset="0"/>
              <a:cs typeface="Times New Roman" panose="02020603050405020304" pitchFamily="18" charset="0"/>
            </a:endParaRPr>
          </a:p>
          <a:p>
            <a:pPr marL="914400" lvl="1" indent="-457200" algn="just">
              <a:buFont typeface="+mj-lt"/>
              <a:buAutoNum type="arabicPeriod"/>
            </a:pPr>
            <a:r>
              <a:rPr lang="en-US" sz="2100">
                <a:latin typeface="Times New Roman" panose="02020603050405020304" pitchFamily="18" charset="0"/>
                <a:cs typeface="Times New Roman" panose="02020603050405020304" pitchFamily="18" charset="0"/>
              </a:rPr>
              <a:t>Marketing Concept</a:t>
            </a:r>
            <a:endParaRPr lang="en-US" sz="2100">
              <a:latin typeface="Times New Roman" panose="02020603050405020304" pitchFamily="18" charset="0"/>
              <a:cs typeface="Times New Roman" panose="02020603050405020304" pitchFamily="18" charset="0"/>
            </a:endParaRPr>
          </a:p>
          <a:p>
            <a:pPr marL="914400" lvl="1" indent="-457200" algn="just">
              <a:buFont typeface="+mj-lt"/>
              <a:buAutoNum type="arabicPeriod"/>
            </a:pPr>
            <a:r>
              <a:rPr lang="en-US" sz="2100">
                <a:latin typeface="Times New Roman" panose="02020603050405020304" pitchFamily="18" charset="0"/>
                <a:cs typeface="Times New Roman" panose="02020603050405020304" pitchFamily="18" charset="0"/>
              </a:rPr>
              <a:t>Societal Marketing Concept</a:t>
            </a:r>
            <a:endParaRPr lang="en-US" sz="2100">
              <a:latin typeface="Times New Roman" panose="02020603050405020304" pitchFamily="18" charset="0"/>
              <a:cs typeface="Times New Roman" panose="02020603050405020304" pitchFamily="18" charset="0"/>
            </a:endParaRPr>
          </a:p>
          <a:p>
            <a:pPr marL="914400" lvl="1" indent="-457200" algn="just">
              <a:buFont typeface="+mj-lt"/>
              <a:buAutoNum type="arabicPeriod"/>
            </a:pPr>
            <a:r>
              <a:rPr lang="en-US" sz="2100">
                <a:latin typeface="Times New Roman" panose="02020603050405020304" pitchFamily="18" charset="0"/>
                <a:cs typeface="Times New Roman" panose="02020603050405020304" pitchFamily="18" charset="0"/>
              </a:rPr>
              <a:t>Relationship Marketing Concept</a:t>
            </a:r>
            <a:endParaRPr lang="en-US" sz="210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p>
            <a:pPr lvl="0"/>
            <a:fld id="{9A0DB2DC-4C9A-4742-B13C-FB6460FD3503}" type="slidenum">
              <a:rPr lang="zh-TW" altLang="en-US" dirty="0"/>
            </a:fld>
            <a:endParaRPr lang="zh-TW" altLang="en-US" dirty="0"/>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Solomon Melese,PhD</a:t>
            </a: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66675"/>
            <a:ext cx="8229600" cy="859790"/>
          </a:xfrm>
        </p:spPr>
        <p:txBody>
          <a:bodyPr/>
          <a:p>
            <a:pPr algn="ctr"/>
            <a:r>
              <a:rPr lang="en-US">
                <a:latin typeface="Times New Roman" panose="02020603050405020304" pitchFamily="18" charset="0"/>
                <a:cs typeface="Times New Roman" panose="02020603050405020304" pitchFamily="18" charset="0"/>
              </a:rPr>
              <a:t>1. Production Concept</a:t>
            </a:r>
            <a:endParaRPr lang="en-US">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half" idx="1"/>
          </p:nvPr>
        </p:nvSpPr>
        <p:spPr>
          <a:xfrm>
            <a:off x="66040" y="990600"/>
            <a:ext cx="8667115" cy="5461000"/>
          </a:xfrm>
        </p:spPr>
        <p:txBody>
          <a:bodyPr/>
          <a:p>
            <a:pPr algn="just"/>
            <a:r>
              <a:rPr lang="en-US" sz="2400">
                <a:latin typeface="Times New Roman" panose="02020603050405020304" pitchFamily="18" charset="0"/>
                <a:cs typeface="Times New Roman" panose="02020603050405020304" pitchFamily="18" charset="0"/>
              </a:rPr>
              <a:t>Consumers favor widely available, low-cost products.</a:t>
            </a:r>
            <a:endParaRPr lang="en-US" sz="2400">
              <a:latin typeface="Times New Roman" panose="02020603050405020304" pitchFamily="18" charset="0"/>
              <a:cs typeface="Times New Roman" panose="02020603050405020304" pitchFamily="18" charset="0"/>
            </a:endParaRPr>
          </a:p>
          <a:p>
            <a:pPr algn="just"/>
            <a:endParaRPr lang="en-US" sz="2400">
              <a:latin typeface="Times New Roman" panose="02020603050405020304" pitchFamily="18" charset="0"/>
              <a:cs typeface="Times New Roman" panose="02020603050405020304" pitchFamily="18" charset="0"/>
            </a:endParaRPr>
          </a:p>
          <a:p>
            <a:pPr algn="just"/>
            <a:r>
              <a:rPr lang="en-US" sz="2400" b="1">
                <a:latin typeface="Times New Roman" panose="02020603050405020304" pitchFamily="18" charset="0"/>
                <a:cs typeface="Times New Roman" panose="02020603050405020304" pitchFamily="18" charset="0"/>
              </a:rPr>
              <a:t>Focus:</a:t>
            </a:r>
            <a:r>
              <a:rPr lang="en-US" sz="2400">
                <a:latin typeface="Times New Roman" panose="02020603050405020304" pitchFamily="18" charset="0"/>
                <a:cs typeface="Times New Roman" panose="02020603050405020304" pitchFamily="18" charset="0"/>
              </a:rPr>
              <a:t> High production efficiency and wide distribution.</a:t>
            </a:r>
            <a:endParaRPr lang="en-US" sz="2400">
              <a:latin typeface="Times New Roman" panose="02020603050405020304" pitchFamily="18" charset="0"/>
              <a:cs typeface="Times New Roman" panose="02020603050405020304" pitchFamily="18" charset="0"/>
            </a:endParaRPr>
          </a:p>
          <a:p>
            <a:pPr algn="just"/>
            <a:endParaRPr lang="en-US" sz="2400">
              <a:latin typeface="Times New Roman" panose="02020603050405020304" pitchFamily="18" charset="0"/>
              <a:cs typeface="Times New Roman" panose="02020603050405020304" pitchFamily="18" charset="0"/>
            </a:endParaRPr>
          </a:p>
          <a:p>
            <a:pPr algn="just"/>
            <a:r>
              <a:rPr lang="en-US" sz="2400" b="1">
                <a:latin typeface="Times New Roman" panose="02020603050405020304" pitchFamily="18" charset="0"/>
                <a:cs typeface="Times New Roman" panose="02020603050405020304" pitchFamily="18" charset="0"/>
              </a:rPr>
              <a:t>Applies when:</a:t>
            </a:r>
            <a:endParaRPr lang="en-US" sz="2400" b="1">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Demand exceeds supply (e.g., developing countries)</a:t>
            </a:r>
            <a:endParaRPr lang="en-US" sz="2100">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High product costs need reduction to expand market</a:t>
            </a:r>
            <a:endParaRPr lang="en-US" sz="210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p>
            <a:pPr lvl="0"/>
            <a:fld id="{9A0DB2DC-4C9A-4742-B13C-FB6460FD3503}" type="slidenum">
              <a:rPr lang="zh-TW" altLang="en-US" dirty="0"/>
            </a:fld>
            <a:endParaRPr lang="zh-TW" altLang="en-US" dirty="0"/>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Solomon Melese,PhD</a:t>
            </a: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66675"/>
            <a:ext cx="8229600" cy="859790"/>
          </a:xfrm>
        </p:spPr>
        <p:txBody>
          <a:bodyPr/>
          <a:p>
            <a:pPr algn="ctr"/>
            <a:r>
              <a:rPr lang="en-US">
                <a:latin typeface="Times New Roman" panose="02020603050405020304" pitchFamily="18" charset="0"/>
                <a:cs typeface="Times New Roman" panose="02020603050405020304" pitchFamily="18" charset="0"/>
              </a:rPr>
              <a:t>2. Product Concept</a:t>
            </a:r>
            <a:endParaRPr lang="en-US">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half" idx="1"/>
          </p:nvPr>
        </p:nvSpPr>
        <p:spPr>
          <a:xfrm>
            <a:off x="66040" y="990600"/>
            <a:ext cx="8667115" cy="5461000"/>
          </a:xfrm>
        </p:spPr>
        <p:txBody>
          <a:bodyPr/>
          <a:p>
            <a:pPr algn="just"/>
            <a:r>
              <a:rPr lang="en-US" sz="2400">
                <a:latin typeface="Times New Roman" panose="02020603050405020304" pitchFamily="18" charset="0"/>
                <a:cs typeface="Times New Roman" panose="02020603050405020304" pitchFamily="18" charset="0"/>
              </a:rPr>
              <a:t>Consumers favor products with high quality, performance, or innovation.</a:t>
            </a:r>
            <a:endParaRPr lang="en-US" sz="2400">
              <a:latin typeface="Times New Roman" panose="02020603050405020304" pitchFamily="18" charset="0"/>
              <a:cs typeface="Times New Roman" panose="02020603050405020304" pitchFamily="18" charset="0"/>
            </a:endParaRPr>
          </a:p>
          <a:p>
            <a:pPr algn="just"/>
            <a:endParaRPr lang="en-US" sz="2400">
              <a:latin typeface="Times New Roman" panose="02020603050405020304" pitchFamily="18" charset="0"/>
              <a:cs typeface="Times New Roman" panose="02020603050405020304" pitchFamily="18" charset="0"/>
            </a:endParaRPr>
          </a:p>
          <a:p>
            <a:pPr algn="just"/>
            <a:r>
              <a:rPr lang="en-US" sz="2400">
                <a:latin typeface="Times New Roman" panose="02020603050405020304" pitchFamily="18" charset="0"/>
                <a:cs typeface="Times New Roman" panose="02020603050405020304" pitchFamily="18" charset="0"/>
              </a:rPr>
              <a:t>Focus: Making superior products and continuous improvement.</a:t>
            </a:r>
            <a:endParaRPr lang="en-US" sz="2400">
              <a:latin typeface="Times New Roman" panose="02020603050405020304" pitchFamily="18" charset="0"/>
              <a:cs typeface="Times New Roman" panose="02020603050405020304" pitchFamily="18" charset="0"/>
            </a:endParaRPr>
          </a:p>
          <a:p>
            <a:pPr algn="just"/>
            <a:endParaRPr lang="en-US" sz="2400">
              <a:latin typeface="Times New Roman" panose="02020603050405020304" pitchFamily="18" charset="0"/>
              <a:cs typeface="Times New Roman" panose="02020603050405020304" pitchFamily="18" charset="0"/>
            </a:endParaRPr>
          </a:p>
          <a:p>
            <a:pPr algn="just"/>
            <a:r>
              <a:rPr lang="en-US" sz="2400">
                <a:latin typeface="Times New Roman" panose="02020603050405020304" pitchFamily="18" charset="0"/>
                <a:cs typeface="Times New Roman" panose="02020603050405020304" pitchFamily="18" charset="0"/>
              </a:rPr>
              <a:t>Assumes buyers can appraise quality and are willing to pay extra.</a:t>
            </a:r>
            <a:endParaRPr lang="en-US" sz="2400">
              <a:latin typeface="Times New Roman" panose="02020603050405020304" pitchFamily="18" charset="0"/>
              <a:cs typeface="Times New Roman" panose="02020603050405020304" pitchFamily="18" charset="0"/>
            </a:endParaRPr>
          </a:p>
          <a:p>
            <a:pPr algn="just"/>
            <a:endParaRPr lang="en-US" sz="2400">
              <a:latin typeface="Times New Roman" panose="02020603050405020304" pitchFamily="18" charset="0"/>
              <a:cs typeface="Times New Roman" panose="02020603050405020304" pitchFamily="18" charset="0"/>
            </a:endParaRPr>
          </a:p>
          <a:p>
            <a:pPr algn="just"/>
            <a:r>
              <a:rPr lang="en-US" sz="2400">
                <a:latin typeface="Times New Roman" panose="02020603050405020304" pitchFamily="18" charset="0"/>
                <a:cs typeface="Times New Roman" panose="02020603050405020304" pitchFamily="18" charset="0"/>
              </a:rPr>
              <a:t>Often minimal customer input; engineers guide design.</a:t>
            </a:r>
            <a:endParaRPr lang="en-US" sz="240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p>
            <a:pPr lvl="0"/>
            <a:fld id="{9A0DB2DC-4C9A-4742-B13C-FB6460FD3503}" type="slidenum">
              <a:rPr lang="zh-TW" altLang="en-US" dirty="0"/>
            </a:fld>
            <a:endParaRPr lang="zh-TW" altLang="en-US" dirty="0"/>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Solomon Melese,PhD</a:t>
            </a: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66675"/>
            <a:ext cx="8229600" cy="859790"/>
          </a:xfrm>
        </p:spPr>
        <p:txBody>
          <a:bodyPr/>
          <a:p>
            <a:pPr algn="ctr"/>
            <a:r>
              <a:rPr lang="en-US">
                <a:latin typeface="Times New Roman" panose="02020603050405020304" pitchFamily="18" charset="0"/>
                <a:cs typeface="Times New Roman" panose="02020603050405020304" pitchFamily="18" charset="0"/>
              </a:rPr>
              <a:t>3. Selling/Sales Concept</a:t>
            </a:r>
            <a:endParaRPr lang="en-US">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half" idx="1"/>
          </p:nvPr>
        </p:nvSpPr>
        <p:spPr>
          <a:xfrm>
            <a:off x="66040" y="990600"/>
            <a:ext cx="8667115" cy="5461000"/>
          </a:xfrm>
        </p:spPr>
        <p:txBody>
          <a:bodyPr/>
          <a:p>
            <a:pPr algn="just"/>
            <a:r>
              <a:rPr lang="en-US" sz="2400">
                <a:latin typeface="Times New Roman" panose="02020603050405020304" pitchFamily="18" charset="0"/>
                <a:cs typeface="Times New Roman" panose="02020603050405020304" pitchFamily="18" charset="0"/>
              </a:rPr>
              <a:t>Consumers will not buy enough unless prompted.</a:t>
            </a:r>
            <a:endParaRPr lang="en-US" sz="2400">
              <a:latin typeface="Times New Roman" panose="02020603050405020304" pitchFamily="18" charset="0"/>
              <a:cs typeface="Times New Roman" panose="02020603050405020304" pitchFamily="18" charset="0"/>
            </a:endParaRPr>
          </a:p>
          <a:p>
            <a:pPr algn="just"/>
            <a:endParaRPr lang="en-US" sz="2400">
              <a:latin typeface="Times New Roman" panose="02020603050405020304" pitchFamily="18" charset="0"/>
              <a:cs typeface="Times New Roman" panose="02020603050405020304" pitchFamily="18" charset="0"/>
            </a:endParaRPr>
          </a:p>
          <a:p>
            <a:pPr algn="just"/>
            <a:r>
              <a:rPr lang="en-US" sz="2400">
                <a:latin typeface="Times New Roman" panose="02020603050405020304" pitchFamily="18" charset="0"/>
                <a:cs typeface="Times New Roman" panose="02020603050405020304" pitchFamily="18" charset="0"/>
              </a:rPr>
              <a:t>Requires aggressive selling and promotion.</a:t>
            </a:r>
            <a:endParaRPr lang="en-US" sz="2400">
              <a:latin typeface="Times New Roman" panose="02020603050405020304" pitchFamily="18" charset="0"/>
              <a:cs typeface="Times New Roman" panose="02020603050405020304" pitchFamily="18" charset="0"/>
            </a:endParaRPr>
          </a:p>
          <a:p>
            <a:pPr algn="just"/>
            <a:endParaRPr lang="en-US" sz="2400">
              <a:latin typeface="Times New Roman" panose="02020603050405020304" pitchFamily="18" charset="0"/>
              <a:cs typeface="Times New Roman" panose="02020603050405020304" pitchFamily="18" charset="0"/>
            </a:endParaRPr>
          </a:p>
          <a:p>
            <a:pPr algn="just"/>
            <a:r>
              <a:rPr lang="en-US" sz="2400">
                <a:latin typeface="Times New Roman" panose="02020603050405020304" pitchFamily="18" charset="0"/>
                <a:cs typeface="Times New Roman" panose="02020603050405020304" pitchFamily="18" charset="0"/>
              </a:rPr>
              <a:t>Assumes buyers show inertia or resistance.</a:t>
            </a:r>
            <a:endParaRPr lang="en-US" sz="2400">
              <a:latin typeface="Times New Roman" panose="02020603050405020304" pitchFamily="18" charset="0"/>
              <a:cs typeface="Times New Roman" panose="02020603050405020304" pitchFamily="18" charset="0"/>
            </a:endParaRPr>
          </a:p>
          <a:p>
            <a:pPr algn="just"/>
            <a:endParaRPr lang="en-US" sz="2400">
              <a:latin typeface="Times New Roman" panose="02020603050405020304" pitchFamily="18" charset="0"/>
              <a:cs typeface="Times New Roman" panose="02020603050405020304" pitchFamily="18" charset="0"/>
            </a:endParaRPr>
          </a:p>
          <a:p>
            <a:pPr algn="just"/>
            <a:r>
              <a:rPr lang="en-US" sz="2400" b="1">
                <a:latin typeface="Times New Roman" panose="02020603050405020304" pitchFamily="18" charset="0"/>
                <a:cs typeface="Times New Roman" panose="02020603050405020304" pitchFamily="18" charset="0"/>
              </a:rPr>
              <a:t>Common for:</a:t>
            </a:r>
            <a:endParaRPr lang="en-US" sz="2400">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Unsought goods (insurance, encyclopedias, funeral plots)</a:t>
            </a:r>
            <a:endParaRPr lang="en-US" sz="2100">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Firms with overcapacity aiming to sell what they make</a:t>
            </a:r>
            <a:endParaRPr lang="en-US" sz="210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p>
            <a:pPr lvl="0"/>
            <a:fld id="{9A0DB2DC-4C9A-4742-B13C-FB6460FD3503}" type="slidenum">
              <a:rPr lang="zh-TW" altLang="en-US" dirty="0"/>
            </a:fld>
            <a:endParaRPr lang="zh-TW" altLang="en-US" dirty="0"/>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Solomon Melese,PhD</a:t>
            </a: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66675"/>
            <a:ext cx="8229600" cy="859790"/>
          </a:xfrm>
        </p:spPr>
        <p:txBody>
          <a:bodyPr/>
          <a:p>
            <a:pPr algn="ctr"/>
            <a:r>
              <a:rPr lang="en-US">
                <a:latin typeface="Times New Roman" panose="02020603050405020304" pitchFamily="18" charset="0"/>
                <a:cs typeface="Times New Roman" panose="02020603050405020304" pitchFamily="18" charset="0"/>
              </a:rPr>
              <a:t>4. </a:t>
            </a:r>
            <a:r>
              <a:rPr lang="en-US">
                <a:latin typeface="Times New Roman" panose="02020603050405020304" pitchFamily="18" charset="0"/>
                <a:cs typeface="Times New Roman" panose="02020603050405020304" pitchFamily="18" charset="0"/>
                <a:sym typeface="+mn-ea"/>
              </a:rPr>
              <a:t>Marketing Concept</a:t>
            </a:r>
            <a:endParaRPr lang="en-US">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half" idx="1"/>
          </p:nvPr>
        </p:nvSpPr>
        <p:spPr>
          <a:xfrm>
            <a:off x="66040" y="990600"/>
            <a:ext cx="8667115" cy="5461000"/>
          </a:xfrm>
        </p:spPr>
        <p:txBody>
          <a:bodyPr/>
          <a:p>
            <a:pPr algn="just"/>
            <a:r>
              <a:rPr lang="en-US" sz="2400">
                <a:latin typeface="Times New Roman" panose="02020603050405020304" pitchFamily="18" charset="0"/>
                <a:cs typeface="Times New Roman" panose="02020603050405020304" pitchFamily="18" charset="0"/>
              </a:rPr>
              <a:t>Achieve goals by satisfying target market needs better than competitors.</a:t>
            </a:r>
            <a:endParaRPr lang="en-US" sz="2400">
              <a:latin typeface="Times New Roman" panose="02020603050405020304" pitchFamily="18" charset="0"/>
              <a:cs typeface="Times New Roman" panose="02020603050405020304" pitchFamily="18" charset="0"/>
            </a:endParaRPr>
          </a:p>
          <a:p>
            <a:pPr algn="just"/>
            <a:endParaRPr lang="en-US" sz="2400">
              <a:latin typeface="Times New Roman" panose="02020603050405020304" pitchFamily="18" charset="0"/>
              <a:cs typeface="Times New Roman" panose="02020603050405020304" pitchFamily="18" charset="0"/>
            </a:endParaRPr>
          </a:p>
          <a:p>
            <a:pPr algn="just"/>
            <a:r>
              <a:rPr lang="en-US" sz="2400" b="1">
                <a:latin typeface="Times New Roman" panose="02020603050405020304" pitchFamily="18" charset="0"/>
                <a:cs typeface="Times New Roman" panose="02020603050405020304" pitchFamily="18" charset="0"/>
              </a:rPr>
              <a:t>Expressed as:</a:t>
            </a:r>
            <a:endParaRPr lang="en-US" sz="2400" b="1">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“Meeting needs profitably”</a:t>
            </a:r>
            <a:endParaRPr lang="en-US" sz="2100">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“Find wants and fill them”</a:t>
            </a:r>
            <a:endParaRPr lang="en-US" sz="2100">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“Love the customers, not the product”</a:t>
            </a:r>
            <a:endParaRPr lang="en-US" sz="2100">
              <a:latin typeface="Times New Roman" panose="02020603050405020304" pitchFamily="18" charset="0"/>
              <a:cs typeface="Times New Roman" panose="02020603050405020304" pitchFamily="18" charset="0"/>
            </a:endParaRPr>
          </a:p>
          <a:p>
            <a:pPr algn="just"/>
            <a:endParaRPr lang="en-US" sz="2400">
              <a:latin typeface="Times New Roman" panose="02020603050405020304" pitchFamily="18" charset="0"/>
              <a:cs typeface="Times New Roman" panose="02020603050405020304" pitchFamily="18" charset="0"/>
            </a:endParaRPr>
          </a:p>
          <a:p>
            <a:pPr algn="just"/>
            <a:r>
              <a:rPr lang="en-US" sz="2400" b="1">
                <a:latin typeface="Times New Roman" panose="02020603050405020304" pitchFamily="18" charset="0"/>
                <a:cs typeface="Times New Roman" panose="02020603050405020304" pitchFamily="18" charset="0"/>
              </a:rPr>
              <a:t>Focus:</a:t>
            </a:r>
            <a:r>
              <a:rPr lang="en-US" sz="2400">
                <a:latin typeface="Times New Roman" panose="02020603050405020304" pitchFamily="18" charset="0"/>
                <a:cs typeface="Times New Roman" panose="02020603050405020304" pitchFamily="18" charset="0"/>
              </a:rPr>
              <a:t> Customer needs and integrated marketing activities</a:t>
            </a:r>
            <a:endParaRPr lang="en-US" sz="240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p>
            <a:pPr lvl="0"/>
            <a:fld id="{9A0DB2DC-4C9A-4742-B13C-FB6460FD3503}" type="slidenum">
              <a:rPr lang="zh-TW" altLang="en-US" dirty="0"/>
            </a:fld>
            <a:endParaRPr lang="zh-TW" altLang="en-US" dirty="0"/>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Solomon Melese,PhD</a:t>
            </a: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a:latin typeface="Times New Roman" panose="02020603050405020304" pitchFamily="18" charset="0"/>
                <a:cs typeface="Times New Roman" panose="02020603050405020304" pitchFamily="18" charset="0"/>
              </a:rPr>
              <a:t>Table 5.1 Selling and Marketing Concept Contrasted</a:t>
            </a:r>
            <a:endParaRPr lang="en-US">
              <a:latin typeface="Times New Roman" panose="02020603050405020304" pitchFamily="18" charset="0"/>
              <a:cs typeface="Times New Roman" panose="02020603050405020304" pitchFamily="18" charset="0"/>
            </a:endParaRPr>
          </a:p>
        </p:txBody>
      </p:sp>
      <p:pic>
        <p:nvPicPr>
          <p:cNvPr id="6" name="Content Placeholder 5"/>
          <p:cNvPicPr>
            <a:picLocks noChangeAspect="1"/>
          </p:cNvPicPr>
          <p:nvPr>
            <p:ph idx="1"/>
          </p:nvPr>
        </p:nvPicPr>
        <p:blipFill>
          <a:blip r:embed="rId1"/>
          <a:stretch>
            <a:fillRect/>
          </a:stretch>
        </p:blipFill>
        <p:spPr>
          <a:xfrm>
            <a:off x="228600" y="1447800"/>
            <a:ext cx="8855710" cy="3284855"/>
          </a:xfrm>
          <a:prstGeom prst="rect">
            <a:avLst/>
          </a:prstGeom>
        </p:spPr>
      </p:pic>
      <p:sp>
        <p:nvSpPr>
          <p:cNvPr id="3" name="Slide Number Placeholder 2"/>
          <p:cNvSpPr>
            <a:spLocks noGrp="1"/>
          </p:cNvSpPr>
          <p:nvPr>
            <p:ph type="sldNum" sz="quarter" idx="12"/>
          </p:nvPr>
        </p:nvSpPr>
        <p:spPr/>
        <p:txBody>
          <a:bodyPr/>
          <a:p>
            <a:pPr lvl="0"/>
            <a:fld id="{9A0DB2DC-4C9A-4742-B13C-FB6460FD3503}" type="slidenum">
              <a:rPr lang="zh-TW" altLang="en-US" dirty="0"/>
            </a:fld>
            <a:endParaRPr lang="zh-TW" altLang="en-US" dirty="0"/>
          </a:p>
        </p:txBody>
      </p:sp>
      <p:sp>
        <p:nvSpPr>
          <p:cNvPr id="4" name="Footer Placeholder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Solomon Melese,PhD</a:t>
            </a: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66675"/>
            <a:ext cx="8229600" cy="859790"/>
          </a:xfrm>
        </p:spPr>
        <p:txBody>
          <a:bodyPr/>
          <a:p>
            <a:pPr algn="ctr"/>
            <a:r>
              <a:rPr lang="en-US">
                <a:latin typeface="Times New Roman" panose="02020603050405020304" pitchFamily="18" charset="0"/>
                <a:cs typeface="Times New Roman" panose="02020603050405020304" pitchFamily="18" charset="0"/>
              </a:rPr>
              <a:t> 5. Societal Marketing Concept</a:t>
            </a:r>
            <a:endParaRPr lang="en-US">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half" idx="1"/>
          </p:nvPr>
        </p:nvSpPr>
        <p:spPr>
          <a:xfrm>
            <a:off x="66040" y="990600"/>
            <a:ext cx="8667115" cy="5461000"/>
          </a:xfrm>
        </p:spPr>
        <p:txBody>
          <a:bodyPr/>
          <a:p>
            <a:pPr algn="just"/>
            <a:r>
              <a:rPr lang="en-US" sz="2400">
                <a:latin typeface="Times New Roman" panose="02020603050405020304" pitchFamily="18" charset="0"/>
                <a:cs typeface="Times New Roman" panose="02020603050405020304" pitchFamily="18" charset="0"/>
              </a:rPr>
              <a:t>Deliver desired satisfactions efficiently while enhancing consumer and societal well-being.</a:t>
            </a:r>
            <a:endParaRPr lang="en-US" sz="2400">
              <a:latin typeface="Times New Roman" panose="02020603050405020304" pitchFamily="18" charset="0"/>
              <a:cs typeface="Times New Roman" panose="02020603050405020304" pitchFamily="18" charset="0"/>
            </a:endParaRPr>
          </a:p>
          <a:p>
            <a:pPr algn="just"/>
            <a:endParaRPr lang="en-US" sz="2400">
              <a:latin typeface="Times New Roman" panose="02020603050405020304" pitchFamily="18" charset="0"/>
              <a:cs typeface="Times New Roman" panose="02020603050405020304" pitchFamily="18" charset="0"/>
            </a:endParaRPr>
          </a:p>
          <a:p>
            <a:pPr algn="just"/>
            <a:r>
              <a:rPr lang="en-US" sz="2400" b="1">
                <a:latin typeface="Times New Roman" panose="02020603050405020304" pitchFamily="18" charset="0"/>
                <a:cs typeface="Times New Roman" panose="02020603050405020304" pitchFamily="18" charset="0"/>
              </a:rPr>
              <a:t>Considers:</a:t>
            </a:r>
            <a:endParaRPr lang="en-US" sz="2400" b="1">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Environmental issues</a:t>
            </a:r>
            <a:endParaRPr lang="en-US" sz="2100">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Resource shortages</a:t>
            </a:r>
            <a:endParaRPr lang="en-US" sz="2100">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Population growth</a:t>
            </a:r>
            <a:endParaRPr lang="en-US" sz="2100">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Economic and social problems</a:t>
            </a:r>
            <a:endParaRPr lang="en-US" sz="2100">
              <a:latin typeface="Times New Roman" panose="02020603050405020304" pitchFamily="18" charset="0"/>
              <a:cs typeface="Times New Roman" panose="02020603050405020304" pitchFamily="18" charset="0"/>
            </a:endParaRPr>
          </a:p>
          <a:p>
            <a:pPr algn="just"/>
            <a:endParaRPr lang="en-US" sz="2400">
              <a:latin typeface="Times New Roman" panose="02020603050405020304" pitchFamily="18" charset="0"/>
              <a:cs typeface="Times New Roman" panose="02020603050405020304" pitchFamily="18" charset="0"/>
            </a:endParaRPr>
          </a:p>
          <a:p>
            <a:pPr algn="just"/>
            <a:r>
              <a:rPr lang="en-US" sz="2400">
                <a:latin typeface="Times New Roman" panose="02020603050405020304" pitchFamily="18" charset="0"/>
                <a:cs typeface="Times New Roman" panose="02020603050405020304" pitchFamily="18" charset="0"/>
              </a:rPr>
              <a:t>Ensures long-term consumer welfare, not just short-term wants</a:t>
            </a:r>
            <a:endParaRPr lang="en-US" sz="240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p>
            <a:pPr lvl="0"/>
            <a:fld id="{9A0DB2DC-4C9A-4742-B13C-FB6460FD3503}" type="slidenum">
              <a:rPr lang="zh-TW" altLang="en-US" dirty="0"/>
            </a:fld>
            <a:endParaRPr lang="zh-TW" altLang="en-US" dirty="0"/>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Solomon Melese,PhD</a:t>
            </a: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66675"/>
            <a:ext cx="8229600" cy="859790"/>
          </a:xfrm>
        </p:spPr>
        <p:txBody>
          <a:bodyPr/>
          <a:p>
            <a:pPr algn="ctr"/>
            <a:r>
              <a:rPr lang="en-US">
                <a:latin typeface="Times New Roman" panose="02020603050405020304" pitchFamily="18" charset="0"/>
                <a:cs typeface="Times New Roman" panose="02020603050405020304" pitchFamily="18" charset="0"/>
              </a:rPr>
              <a:t>6. Relationship Marketing</a:t>
            </a:r>
            <a:endParaRPr lang="en-US">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half" idx="1"/>
          </p:nvPr>
        </p:nvSpPr>
        <p:spPr>
          <a:xfrm>
            <a:off x="66040" y="990600"/>
            <a:ext cx="8667115" cy="5461000"/>
          </a:xfrm>
        </p:spPr>
        <p:txBody>
          <a:bodyPr/>
          <a:p>
            <a:pPr algn="just"/>
            <a:r>
              <a:rPr lang="en-US" sz="2400">
                <a:latin typeface="Times New Roman" panose="02020603050405020304" pitchFamily="18" charset="0"/>
                <a:cs typeface="Times New Roman" panose="02020603050405020304" pitchFamily="18" charset="0"/>
              </a:rPr>
              <a:t> Build long-term, satisfying relationships with customers, suppliers, and distributors.</a:t>
            </a:r>
            <a:endParaRPr lang="en-US" sz="2400">
              <a:latin typeface="Times New Roman" panose="02020603050405020304" pitchFamily="18" charset="0"/>
              <a:cs typeface="Times New Roman" panose="02020603050405020304" pitchFamily="18" charset="0"/>
            </a:endParaRPr>
          </a:p>
          <a:p>
            <a:pPr algn="just"/>
            <a:endParaRPr lang="en-US" sz="2400">
              <a:latin typeface="Times New Roman" panose="02020603050405020304" pitchFamily="18" charset="0"/>
              <a:cs typeface="Times New Roman" panose="02020603050405020304" pitchFamily="18" charset="0"/>
            </a:endParaRPr>
          </a:p>
          <a:p>
            <a:pPr algn="just"/>
            <a:r>
              <a:rPr lang="en-US" sz="2400">
                <a:latin typeface="Times New Roman" panose="02020603050405020304" pitchFamily="18" charset="0"/>
                <a:cs typeface="Times New Roman" panose="02020603050405020304" pitchFamily="18" charset="0"/>
              </a:rPr>
              <a:t>Retain long-term preferences and business.</a:t>
            </a:r>
            <a:endParaRPr lang="en-US" sz="2400">
              <a:latin typeface="Times New Roman" panose="02020603050405020304" pitchFamily="18" charset="0"/>
              <a:cs typeface="Times New Roman" panose="02020603050405020304" pitchFamily="18" charset="0"/>
            </a:endParaRPr>
          </a:p>
          <a:p>
            <a:pPr algn="just"/>
            <a:endParaRPr lang="en-US" sz="2400">
              <a:latin typeface="Times New Roman" panose="02020603050405020304" pitchFamily="18" charset="0"/>
              <a:cs typeface="Times New Roman" panose="02020603050405020304" pitchFamily="18" charset="0"/>
            </a:endParaRPr>
          </a:p>
          <a:p>
            <a:pPr algn="just"/>
            <a:r>
              <a:rPr lang="en-US" sz="2400">
                <a:latin typeface="Times New Roman" panose="02020603050405020304" pitchFamily="18" charset="0"/>
                <a:cs typeface="Times New Roman" panose="02020603050405020304" pitchFamily="18" charset="0"/>
              </a:rPr>
              <a:t>Outcome: Unique marketing network.</a:t>
            </a:r>
            <a:endParaRPr lang="en-US" sz="2400">
              <a:latin typeface="Times New Roman" panose="02020603050405020304" pitchFamily="18" charset="0"/>
              <a:cs typeface="Times New Roman" panose="02020603050405020304" pitchFamily="18" charset="0"/>
            </a:endParaRPr>
          </a:p>
          <a:p>
            <a:pPr algn="just"/>
            <a:endParaRPr lang="en-US" sz="2400">
              <a:latin typeface="Times New Roman" panose="02020603050405020304" pitchFamily="18" charset="0"/>
              <a:cs typeface="Times New Roman" panose="02020603050405020304" pitchFamily="18" charset="0"/>
            </a:endParaRPr>
          </a:p>
          <a:p>
            <a:pPr algn="just"/>
            <a:r>
              <a:rPr lang="en-US" sz="2400">
                <a:latin typeface="Times New Roman" panose="02020603050405020304" pitchFamily="18" charset="0"/>
                <a:cs typeface="Times New Roman" panose="02020603050405020304" pitchFamily="18" charset="0"/>
              </a:rPr>
              <a:t>Customer experience is more critical than customer satisfaction.</a:t>
            </a:r>
            <a:endParaRPr lang="en-US" sz="240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p>
            <a:pPr lvl="0"/>
            <a:fld id="{9A0DB2DC-4C9A-4742-B13C-FB6460FD3503}" type="slidenum">
              <a:rPr lang="zh-TW" altLang="en-US" dirty="0"/>
            </a:fld>
            <a:endParaRPr lang="zh-TW" altLang="en-US" dirty="0"/>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Solomon Melese,PhD</a:t>
            </a: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Title 5"/>
          <p:cNvSpPr>
            <a:spLocks noGrp="1"/>
          </p:cNvSpPr>
          <p:nvPr>
            <p:ph type="title"/>
          </p:nvPr>
        </p:nvSpPr>
        <p:spPr/>
        <p:txBody>
          <a:bodyPr/>
          <a:p>
            <a:pPr algn="ctr"/>
            <a:r>
              <a:rPr lang="en-US" sz="2800">
                <a:latin typeface="Times New Roman" panose="02020603050405020304" pitchFamily="18" charset="0"/>
                <a:cs typeface="Times New Roman" panose="02020603050405020304" pitchFamily="18" charset="0"/>
              </a:rPr>
              <a:t>Table 5.2: Summary of the Evolution of Marketing</a:t>
            </a:r>
            <a:endParaRPr lang="en-US" sz="280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p>
            <a:pPr lvl="0"/>
            <a:fld id="{9A0DB2DC-4C9A-4742-B13C-FB6460FD3503}" type="slidenum">
              <a:rPr lang="zh-TW" altLang="en-US" dirty="0"/>
            </a:fld>
            <a:endParaRPr lang="zh-TW" altLang="en-US" dirty="0"/>
          </a:p>
        </p:txBody>
      </p:sp>
      <p:pic>
        <p:nvPicPr>
          <p:cNvPr id="8" name="Content Placeholder 7"/>
          <p:cNvPicPr>
            <a:picLocks noChangeAspect="1"/>
          </p:cNvPicPr>
          <p:nvPr>
            <p:ph idx="1"/>
          </p:nvPr>
        </p:nvPicPr>
        <p:blipFill>
          <a:blip r:embed="rId1"/>
          <a:stretch>
            <a:fillRect/>
          </a:stretch>
        </p:blipFill>
        <p:spPr>
          <a:xfrm>
            <a:off x="228600" y="1097915"/>
            <a:ext cx="8730615" cy="4974590"/>
          </a:xfrm>
          <a:prstGeom prst="rect">
            <a:avLst/>
          </a:prstGeom>
        </p:spPr>
      </p:pic>
      <p:sp>
        <p:nvSpPr>
          <p:cNvPr id="2" name="Footer Placeholder 1"/>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Solomon Melese,PhD</a:t>
            </a: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sz="3200">
                <a:latin typeface="Times New Roman" panose="02020603050405020304" pitchFamily="18" charset="0"/>
                <a:cs typeface="Times New Roman" panose="02020603050405020304" pitchFamily="18" charset="0"/>
              </a:rPr>
              <a:t>5.6 Marketing Information Systems</a:t>
            </a:r>
            <a:endParaRPr lang="en-US" sz="320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p>
            <a:pPr algn="just"/>
            <a:r>
              <a:rPr lang="en-US" sz="2400">
                <a:latin typeface="Times New Roman" panose="02020603050405020304" pitchFamily="18" charset="0"/>
                <a:cs typeface="Times New Roman" panose="02020603050405020304" pitchFamily="18" charset="0"/>
              </a:rPr>
              <a:t>Organizes information flow to marketing managers.</a:t>
            </a:r>
            <a:endParaRPr lang="en-US" sz="2400">
              <a:latin typeface="Times New Roman" panose="02020603050405020304" pitchFamily="18" charset="0"/>
              <a:cs typeface="Times New Roman" panose="02020603050405020304" pitchFamily="18" charset="0"/>
            </a:endParaRPr>
          </a:p>
          <a:p>
            <a:pPr algn="just"/>
            <a:r>
              <a:rPr lang="en-US" sz="2400">
                <a:latin typeface="Times New Roman" panose="02020603050405020304" pitchFamily="18" charset="0"/>
                <a:cs typeface="Times New Roman" panose="02020603050405020304" pitchFamily="18" charset="0"/>
              </a:rPr>
              <a:t>Consists of people, equipment, and procedures to:</a:t>
            </a:r>
            <a:endParaRPr lang="en-US" sz="2400">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Gather, sort, analyze, evaluate, and distribute timely, accurate information.</a:t>
            </a:r>
            <a:endParaRPr lang="en-US" sz="2100">
              <a:latin typeface="Times New Roman" panose="02020603050405020304" pitchFamily="18" charset="0"/>
              <a:cs typeface="Times New Roman" panose="02020603050405020304" pitchFamily="18" charset="0"/>
            </a:endParaRPr>
          </a:p>
          <a:p>
            <a:pPr algn="just"/>
            <a:r>
              <a:rPr lang="en-US" sz="2400">
                <a:latin typeface="Times New Roman" panose="02020603050405020304" pitchFamily="18" charset="0"/>
                <a:cs typeface="Times New Roman" panose="02020603050405020304" pitchFamily="18" charset="0"/>
              </a:rPr>
              <a:t>Supports marketing managers in analysis, planning, implementation, and control.</a:t>
            </a:r>
            <a:endParaRPr lang="en-US" sz="2400">
              <a:latin typeface="Times New Roman" panose="02020603050405020304" pitchFamily="18" charset="0"/>
              <a:cs typeface="Times New Roman" panose="02020603050405020304" pitchFamily="18" charset="0"/>
            </a:endParaRPr>
          </a:p>
          <a:p>
            <a:pPr algn="just"/>
            <a:r>
              <a:rPr lang="en-US" sz="2400" b="1">
                <a:latin typeface="Times New Roman" panose="02020603050405020304" pitchFamily="18" charset="0"/>
                <a:cs typeface="Times New Roman" panose="02020603050405020304" pitchFamily="18" charset="0"/>
              </a:rPr>
              <a:t>Sources of information:</a:t>
            </a:r>
            <a:endParaRPr lang="en-US" sz="2400" b="1">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Internal company records</a:t>
            </a:r>
            <a:endParaRPr lang="en-US" sz="2100">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Marketing intelligence</a:t>
            </a:r>
            <a:endParaRPr lang="en-US" sz="2100">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Marketing research</a:t>
            </a:r>
            <a:endParaRPr lang="en-US" sz="2100">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Marketing decision support analysis</a:t>
            </a:r>
            <a:endParaRPr lang="en-US" sz="210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p>
            <a:pPr lvl="0"/>
            <a:fld id="{9A0DB2DC-4C9A-4742-B13C-FB6460FD3503}" type="slidenum">
              <a:rPr lang="zh-TW" altLang="en-US" dirty="0"/>
            </a:fld>
            <a:endParaRPr lang="zh-TW" altLang="en-US" dirty="0"/>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Solomon Melese,PhD</a:t>
            </a: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sz="3200">
                <a:latin typeface="Times New Roman" panose="02020603050405020304" pitchFamily="18" charset="0"/>
                <a:cs typeface="Times New Roman" panose="02020603050405020304" pitchFamily="18" charset="0"/>
              </a:rPr>
              <a:t>Figure 5.1 Marketing information systems</a:t>
            </a:r>
            <a:endParaRPr lang="en-US" sz="320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p>
            <a:pPr lvl="0"/>
            <a:fld id="{9A0DB2DC-4C9A-4742-B13C-FB6460FD3503}" type="slidenum">
              <a:rPr lang="zh-TW" altLang="en-US" dirty="0"/>
            </a:fld>
            <a:endParaRPr lang="zh-TW" altLang="en-US" dirty="0"/>
          </a:p>
        </p:txBody>
      </p:sp>
      <p:pic>
        <p:nvPicPr>
          <p:cNvPr id="128" name="Image 128"/>
          <p:cNvPicPr>
            <a:picLocks noChangeAspect="1"/>
          </p:cNvPicPr>
          <p:nvPr>
            <p:ph idx="1"/>
          </p:nvPr>
        </p:nvPicPr>
        <p:blipFill>
          <a:blip r:embed="rId1" cstate="print"/>
          <a:stretch>
            <a:fillRect/>
          </a:stretch>
        </p:blipFill>
        <p:spPr>
          <a:xfrm>
            <a:off x="381000" y="914400"/>
            <a:ext cx="8574405" cy="5283200"/>
          </a:xfrm>
          <a:prstGeom prst="rect">
            <a:avLst/>
          </a:prstGeom>
        </p:spPr>
      </p:pic>
      <p:sp>
        <p:nvSpPr>
          <p:cNvPr id="3" name="Footer Placeholder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Solomon Melese,PhD</a:t>
            </a: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sz="3200">
                <a:latin typeface="Times New Roman" panose="02020603050405020304" pitchFamily="18" charset="0"/>
                <a:cs typeface="Times New Roman" panose="02020603050405020304" pitchFamily="18" charset="0"/>
              </a:rPr>
              <a:t>5.6.1 Marketing Research</a:t>
            </a:r>
            <a:endParaRPr lang="en-US" sz="320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p>
            <a:pPr algn="just"/>
            <a:r>
              <a:rPr lang="en-US" sz="2400">
                <a:latin typeface="Times New Roman" panose="02020603050405020304" pitchFamily="18" charset="0"/>
                <a:cs typeface="Times New Roman" panose="02020603050405020304" pitchFamily="18" charset="0"/>
              </a:rPr>
              <a:t>Systematic and objective process to collect, analyze, and disseminate information.</a:t>
            </a:r>
            <a:endParaRPr lang="en-US" sz="2400">
              <a:latin typeface="Times New Roman" panose="02020603050405020304" pitchFamily="18" charset="0"/>
              <a:cs typeface="Times New Roman" panose="02020603050405020304" pitchFamily="18" charset="0"/>
            </a:endParaRPr>
          </a:p>
          <a:p>
            <a:pPr algn="just"/>
            <a:endParaRPr lang="en-US" sz="2400">
              <a:latin typeface="Times New Roman" panose="02020603050405020304" pitchFamily="18" charset="0"/>
              <a:cs typeface="Times New Roman" panose="02020603050405020304" pitchFamily="18" charset="0"/>
            </a:endParaRPr>
          </a:p>
          <a:p>
            <a:pPr algn="just"/>
            <a:r>
              <a:rPr lang="en-US" sz="2400">
                <a:latin typeface="Times New Roman" panose="02020603050405020304" pitchFamily="18" charset="0"/>
                <a:cs typeface="Times New Roman" panose="02020603050405020304" pitchFamily="18" charset="0"/>
              </a:rPr>
              <a:t>Supports decision-making for identifying and solving marketing problems and opportunities.</a:t>
            </a:r>
            <a:endParaRPr lang="en-US" sz="2400">
              <a:latin typeface="Times New Roman" panose="02020603050405020304" pitchFamily="18" charset="0"/>
              <a:cs typeface="Times New Roman" panose="02020603050405020304" pitchFamily="18" charset="0"/>
            </a:endParaRPr>
          </a:p>
          <a:p>
            <a:pPr algn="just"/>
            <a:endParaRPr lang="en-US" sz="2400">
              <a:latin typeface="Times New Roman" panose="02020603050405020304" pitchFamily="18" charset="0"/>
              <a:cs typeface="Times New Roman" panose="02020603050405020304" pitchFamily="18" charset="0"/>
            </a:endParaRPr>
          </a:p>
          <a:p>
            <a:pPr algn="just"/>
            <a:r>
              <a:rPr lang="en-US" sz="2400">
                <a:latin typeface="Times New Roman" panose="02020603050405020304" pitchFamily="18" charset="0"/>
                <a:cs typeface="Times New Roman" panose="02020603050405020304" pitchFamily="18" charset="0"/>
              </a:rPr>
              <a:t>Research is methodologically sound, documented, and uses the scientific method.</a:t>
            </a:r>
            <a:endParaRPr lang="en-US" sz="2400">
              <a:latin typeface="Times New Roman" panose="02020603050405020304" pitchFamily="18" charset="0"/>
              <a:cs typeface="Times New Roman" panose="02020603050405020304" pitchFamily="18" charset="0"/>
            </a:endParaRPr>
          </a:p>
          <a:p>
            <a:pPr algn="just"/>
            <a:endParaRPr lang="en-US" sz="2400">
              <a:latin typeface="Times New Roman" panose="02020603050405020304" pitchFamily="18" charset="0"/>
              <a:cs typeface="Times New Roman" panose="02020603050405020304" pitchFamily="18" charset="0"/>
            </a:endParaRPr>
          </a:p>
          <a:p>
            <a:pPr algn="just"/>
            <a:r>
              <a:rPr lang="en-US" sz="2400">
                <a:latin typeface="Times New Roman" panose="02020603050405020304" pitchFamily="18" charset="0"/>
                <a:cs typeface="Times New Roman" panose="02020603050405020304" pitchFamily="18" charset="0"/>
              </a:rPr>
              <a:t>Objective: Provide accurate, impartial information.</a:t>
            </a:r>
            <a:endParaRPr lang="en-US" sz="240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p>
            <a:pPr lvl="0"/>
            <a:fld id="{9A0DB2DC-4C9A-4742-B13C-FB6460FD3503}" type="slidenum">
              <a:rPr lang="zh-TW" altLang="en-US" dirty="0"/>
            </a:fld>
            <a:endParaRPr lang="zh-TW" altLang="en-US" dirty="0"/>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Solomon Melese,PhD</a:t>
            </a: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sz="3200">
                <a:latin typeface="Times New Roman" panose="02020603050405020304" pitchFamily="18" charset="0"/>
                <a:cs typeface="Times New Roman" panose="02020603050405020304" pitchFamily="18" charset="0"/>
              </a:rPr>
              <a:t>Role of Marketing Researcharch</a:t>
            </a:r>
            <a:endParaRPr lang="en-US" sz="320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p>
            <a:pPr algn="just"/>
            <a:r>
              <a:rPr lang="en-US" sz="2400" b="1">
                <a:latin typeface="Times New Roman" panose="02020603050405020304" pitchFamily="18" charset="0"/>
                <a:cs typeface="Times New Roman" panose="02020603050405020304" pitchFamily="18" charset="0"/>
              </a:rPr>
              <a:t>Three functional roles:</a:t>
            </a:r>
            <a:endParaRPr lang="en-US" sz="2400" b="1">
              <a:latin typeface="Times New Roman" panose="02020603050405020304" pitchFamily="18" charset="0"/>
              <a:cs typeface="Times New Roman" panose="02020603050405020304" pitchFamily="18" charset="0"/>
            </a:endParaRPr>
          </a:p>
          <a:p>
            <a:pPr algn="just"/>
            <a:endParaRPr lang="en-US" sz="2400">
              <a:latin typeface="Times New Roman" panose="02020603050405020304" pitchFamily="18" charset="0"/>
              <a:cs typeface="Times New Roman" panose="02020603050405020304" pitchFamily="18" charset="0"/>
            </a:endParaRPr>
          </a:p>
          <a:p>
            <a:pPr marL="457200" indent="-457200" algn="just">
              <a:buFont typeface="+mj-lt"/>
              <a:buAutoNum type="arabicPeriod"/>
            </a:pPr>
            <a:r>
              <a:rPr lang="en-US" sz="2400" b="1">
                <a:latin typeface="Times New Roman" panose="02020603050405020304" pitchFamily="18" charset="0"/>
                <a:cs typeface="Times New Roman" panose="02020603050405020304" pitchFamily="18" charset="0"/>
              </a:rPr>
              <a:t>Descriptive Function </a:t>
            </a:r>
            <a:r>
              <a:rPr lang="en-US" sz="2400">
                <a:latin typeface="Times New Roman" panose="02020603050405020304" pitchFamily="18" charset="0"/>
                <a:cs typeface="Times New Roman" panose="02020603050405020304" pitchFamily="18" charset="0"/>
              </a:rPr>
              <a:t>– Gather and present statements of fact.</a:t>
            </a:r>
            <a:endParaRPr lang="en-US" sz="2400">
              <a:latin typeface="Times New Roman" panose="02020603050405020304" pitchFamily="18" charset="0"/>
              <a:cs typeface="Times New Roman" panose="02020603050405020304" pitchFamily="18" charset="0"/>
            </a:endParaRPr>
          </a:p>
          <a:p>
            <a:pPr marL="457200" indent="-457200" algn="just">
              <a:buFont typeface="+mj-lt"/>
              <a:buAutoNum type="arabicPeriod"/>
            </a:pPr>
            <a:endParaRPr lang="en-US" sz="2400">
              <a:latin typeface="Times New Roman" panose="02020603050405020304" pitchFamily="18" charset="0"/>
              <a:cs typeface="Times New Roman" panose="02020603050405020304" pitchFamily="18" charset="0"/>
            </a:endParaRPr>
          </a:p>
          <a:p>
            <a:pPr marL="457200" indent="-457200" algn="just">
              <a:buFont typeface="+mj-lt"/>
              <a:buAutoNum type="arabicPeriod"/>
            </a:pPr>
            <a:r>
              <a:rPr lang="en-US" sz="2400" b="1">
                <a:latin typeface="Times New Roman" panose="02020603050405020304" pitchFamily="18" charset="0"/>
                <a:cs typeface="Times New Roman" panose="02020603050405020304" pitchFamily="18" charset="0"/>
              </a:rPr>
              <a:t>Diagnostic Function</a:t>
            </a:r>
            <a:r>
              <a:rPr lang="en-US" sz="2400">
                <a:latin typeface="Times New Roman" panose="02020603050405020304" pitchFamily="18" charset="0"/>
                <a:cs typeface="Times New Roman" panose="02020603050405020304" pitchFamily="18" charset="0"/>
              </a:rPr>
              <a:t> – Explain data.</a:t>
            </a:r>
            <a:endParaRPr lang="en-US" sz="2400">
              <a:latin typeface="Times New Roman" panose="02020603050405020304" pitchFamily="18" charset="0"/>
              <a:cs typeface="Times New Roman" panose="02020603050405020304" pitchFamily="18" charset="0"/>
            </a:endParaRPr>
          </a:p>
          <a:p>
            <a:pPr marL="457200" indent="-457200" algn="just">
              <a:buFont typeface="+mj-lt"/>
              <a:buAutoNum type="arabicPeriod"/>
            </a:pPr>
            <a:endParaRPr lang="en-US" sz="2400">
              <a:latin typeface="Times New Roman" panose="02020603050405020304" pitchFamily="18" charset="0"/>
              <a:cs typeface="Times New Roman" panose="02020603050405020304" pitchFamily="18" charset="0"/>
            </a:endParaRPr>
          </a:p>
          <a:p>
            <a:pPr marL="457200" indent="-457200" algn="just">
              <a:buFont typeface="+mj-lt"/>
              <a:buAutoNum type="arabicPeriod"/>
            </a:pPr>
            <a:r>
              <a:rPr lang="en-US" sz="2400" b="1">
                <a:latin typeface="Times New Roman" panose="02020603050405020304" pitchFamily="18" charset="0"/>
                <a:cs typeface="Times New Roman" panose="02020603050405020304" pitchFamily="18" charset="0"/>
              </a:rPr>
              <a:t>Predictive Function</a:t>
            </a:r>
            <a:r>
              <a:rPr lang="en-US" sz="2400">
                <a:latin typeface="Times New Roman" panose="02020603050405020304" pitchFamily="18" charset="0"/>
                <a:cs typeface="Times New Roman" panose="02020603050405020304" pitchFamily="18" charset="0"/>
              </a:rPr>
              <a:t> – Use data to predict results of planned marketing decisions.</a:t>
            </a:r>
            <a:endParaRPr lang="en-US" sz="240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p>
            <a:pPr lvl="0"/>
            <a:fld id="{9A0DB2DC-4C9A-4742-B13C-FB6460FD3503}" type="slidenum">
              <a:rPr lang="zh-TW" altLang="en-US" dirty="0"/>
            </a:fld>
            <a:endParaRPr lang="zh-TW" altLang="en-US" dirty="0"/>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Solomon Melese,PhD</a:t>
            </a: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sz="3200">
                <a:latin typeface="Times New Roman" panose="02020603050405020304" pitchFamily="18" charset="0"/>
                <a:cs typeface="Times New Roman" panose="02020603050405020304" pitchFamily="18" charset="0"/>
              </a:rPr>
              <a:t>Marketing Research Components</a:t>
            </a:r>
            <a:endParaRPr lang="en-US" sz="320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p>
            <a:pPr algn="just"/>
            <a:r>
              <a:rPr lang="en-US" sz="2400" b="1">
                <a:latin typeface="Times New Roman" panose="02020603050405020304" pitchFamily="18" charset="0"/>
                <a:cs typeface="Times New Roman" panose="02020603050405020304" pitchFamily="18" charset="0"/>
              </a:rPr>
              <a:t>Market Size: </a:t>
            </a:r>
            <a:r>
              <a:rPr lang="en-US" sz="2400">
                <a:latin typeface="Times New Roman" panose="02020603050405020304" pitchFamily="18" charset="0"/>
                <a:cs typeface="Times New Roman" panose="02020603050405020304" pitchFamily="18" charset="0"/>
              </a:rPr>
              <a:t>Number/value of units sold in a period.</a:t>
            </a:r>
            <a:endParaRPr lang="en-US" sz="2400">
              <a:latin typeface="Times New Roman" panose="02020603050405020304" pitchFamily="18" charset="0"/>
              <a:cs typeface="Times New Roman" panose="02020603050405020304" pitchFamily="18" charset="0"/>
            </a:endParaRPr>
          </a:p>
          <a:p>
            <a:pPr algn="just"/>
            <a:endParaRPr lang="en-US" sz="2400">
              <a:latin typeface="Times New Roman" panose="02020603050405020304" pitchFamily="18" charset="0"/>
              <a:cs typeface="Times New Roman" panose="02020603050405020304" pitchFamily="18" charset="0"/>
            </a:endParaRPr>
          </a:p>
          <a:p>
            <a:pPr algn="just"/>
            <a:r>
              <a:rPr lang="en-US" sz="2400" b="1">
                <a:latin typeface="Times New Roman" panose="02020603050405020304" pitchFamily="18" charset="0"/>
                <a:cs typeface="Times New Roman" panose="02020603050405020304" pitchFamily="18" charset="0"/>
              </a:rPr>
              <a:t>Market Share: </a:t>
            </a:r>
            <a:r>
              <a:rPr lang="en-US" sz="2400">
                <a:latin typeface="Times New Roman" panose="02020603050405020304" pitchFamily="18" charset="0"/>
                <a:cs typeface="Times New Roman" panose="02020603050405020304" pitchFamily="18" charset="0"/>
              </a:rPr>
              <a:t>Company’s share of total market.</a:t>
            </a:r>
            <a:endParaRPr lang="en-US" sz="2400">
              <a:latin typeface="Times New Roman" panose="02020603050405020304" pitchFamily="18" charset="0"/>
              <a:cs typeface="Times New Roman" panose="02020603050405020304" pitchFamily="18" charset="0"/>
            </a:endParaRPr>
          </a:p>
          <a:p>
            <a:pPr algn="just"/>
            <a:endParaRPr lang="en-US" sz="2400">
              <a:latin typeface="Times New Roman" panose="02020603050405020304" pitchFamily="18" charset="0"/>
              <a:cs typeface="Times New Roman" panose="02020603050405020304" pitchFamily="18" charset="0"/>
            </a:endParaRPr>
          </a:p>
          <a:p>
            <a:pPr algn="just"/>
            <a:r>
              <a:rPr lang="en-US" sz="2400" b="1">
                <a:latin typeface="Times New Roman" panose="02020603050405020304" pitchFamily="18" charset="0"/>
                <a:cs typeface="Times New Roman" panose="02020603050405020304" pitchFamily="18" charset="0"/>
              </a:rPr>
              <a:t>Market Penetration:</a:t>
            </a:r>
            <a:r>
              <a:rPr lang="en-US" sz="2400">
                <a:latin typeface="Times New Roman" panose="02020603050405020304" pitchFamily="18" charset="0"/>
                <a:cs typeface="Times New Roman" panose="02020603050405020304" pitchFamily="18" charset="0"/>
              </a:rPr>
              <a:t> Strategy to increase market share, e.g., by lowering prices.</a:t>
            </a:r>
            <a:endParaRPr lang="en-US" sz="2400">
              <a:latin typeface="Times New Roman" panose="02020603050405020304" pitchFamily="18" charset="0"/>
              <a:cs typeface="Times New Roman" panose="02020603050405020304" pitchFamily="18" charset="0"/>
            </a:endParaRPr>
          </a:p>
          <a:p>
            <a:pPr algn="just"/>
            <a:endParaRPr lang="en-US" sz="2400">
              <a:latin typeface="Times New Roman" panose="02020603050405020304" pitchFamily="18" charset="0"/>
              <a:cs typeface="Times New Roman" panose="02020603050405020304" pitchFamily="18" charset="0"/>
            </a:endParaRPr>
          </a:p>
          <a:p>
            <a:pPr algn="just"/>
            <a:r>
              <a:rPr lang="en-US" sz="2400" b="1">
                <a:latin typeface="Times New Roman" panose="02020603050405020304" pitchFamily="18" charset="0"/>
                <a:cs typeface="Times New Roman" panose="02020603050405020304" pitchFamily="18" charset="0"/>
              </a:rPr>
              <a:t>Brand Equity Research: </a:t>
            </a:r>
            <a:r>
              <a:rPr lang="en-US" sz="2400">
                <a:latin typeface="Times New Roman" panose="02020603050405020304" pitchFamily="18" charset="0"/>
                <a:cs typeface="Times New Roman" panose="02020603050405020304" pitchFamily="18" charset="0"/>
              </a:rPr>
              <a:t>Measures consumer perception of a brand.</a:t>
            </a:r>
            <a:endParaRPr lang="en-US" sz="2400">
              <a:latin typeface="Times New Roman" panose="02020603050405020304" pitchFamily="18" charset="0"/>
              <a:cs typeface="Times New Roman" panose="02020603050405020304" pitchFamily="18" charset="0"/>
            </a:endParaRPr>
          </a:p>
          <a:p>
            <a:pPr algn="just"/>
            <a:endParaRPr lang="en-US" sz="2400">
              <a:latin typeface="Times New Roman" panose="02020603050405020304" pitchFamily="18" charset="0"/>
              <a:cs typeface="Times New Roman" panose="02020603050405020304" pitchFamily="18" charset="0"/>
            </a:endParaRPr>
          </a:p>
          <a:p>
            <a:pPr algn="just"/>
            <a:r>
              <a:rPr lang="en-US" sz="2400" b="1">
                <a:latin typeface="Times New Roman" panose="02020603050405020304" pitchFamily="18" charset="0"/>
                <a:cs typeface="Times New Roman" panose="02020603050405020304" pitchFamily="18" charset="0"/>
              </a:rPr>
              <a:t>Buyer Decision Process Research:</a:t>
            </a:r>
            <a:r>
              <a:rPr lang="en-US" sz="2400">
                <a:latin typeface="Times New Roman" panose="02020603050405020304" pitchFamily="18" charset="0"/>
                <a:cs typeface="Times New Roman" panose="02020603050405020304" pitchFamily="18" charset="0"/>
              </a:rPr>
              <a:t> Identifies motivations and decision-making process of buyers.</a:t>
            </a:r>
            <a:endParaRPr lang="en-US" sz="240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p>
            <a:pPr lvl="0"/>
            <a:fld id="{9A0DB2DC-4C9A-4742-B13C-FB6460FD3503}" type="slidenum">
              <a:rPr lang="zh-TW" altLang="en-US" dirty="0"/>
            </a:fld>
            <a:endParaRPr lang="zh-TW" altLang="en-US" dirty="0"/>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Solomon Melese,PhD</a:t>
            </a: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sz="3200">
                <a:latin typeface="Times New Roman" panose="02020603050405020304" pitchFamily="18" charset="0"/>
                <a:cs typeface="Times New Roman" panose="02020603050405020304" pitchFamily="18" charset="0"/>
              </a:rPr>
              <a:t>5.6.1.3 Customer Satisfaction Research</a:t>
            </a:r>
            <a:endParaRPr lang="en-US" sz="320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8900" y="990600"/>
            <a:ext cx="8521700" cy="5659755"/>
          </a:xfrm>
        </p:spPr>
        <p:txBody>
          <a:bodyPr/>
          <a:p>
            <a:pPr algn="just"/>
            <a:r>
              <a:rPr lang="en-US" sz="2400" b="1">
                <a:latin typeface="Times New Roman" panose="02020603050405020304" pitchFamily="18" charset="0"/>
                <a:cs typeface="Times New Roman" panose="02020603050405020304" pitchFamily="18" charset="0"/>
              </a:rPr>
              <a:t>Distribution Channel Audits:</a:t>
            </a:r>
            <a:r>
              <a:rPr lang="en-US" sz="2400">
                <a:latin typeface="Times New Roman" panose="02020603050405020304" pitchFamily="18" charset="0"/>
                <a:cs typeface="Times New Roman" panose="02020603050405020304" pitchFamily="18" charset="0"/>
              </a:rPr>
              <a:t> Assess distributor/retailer attitudes.</a:t>
            </a:r>
            <a:endParaRPr lang="en-US" sz="2400">
              <a:latin typeface="Times New Roman" panose="02020603050405020304" pitchFamily="18" charset="0"/>
              <a:cs typeface="Times New Roman" panose="02020603050405020304" pitchFamily="18" charset="0"/>
            </a:endParaRPr>
          </a:p>
          <a:p>
            <a:pPr algn="just"/>
            <a:r>
              <a:rPr lang="en-US" sz="2400" b="1">
                <a:latin typeface="Times New Roman" panose="02020603050405020304" pitchFamily="18" charset="0"/>
                <a:cs typeface="Times New Roman" panose="02020603050405020304" pitchFamily="18" charset="0"/>
              </a:rPr>
              <a:t>Marketing Effectiveness &amp; Analytics:</a:t>
            </a:r>
            <a:r>
              <a:rPr lang="en-US" sz="2400">
                <a:latin typeface="Times New Roman" panose="02020603050405020304" pitchFamily="18" charset="0"/>
                <a:cs typeface="Times New Roman" panose="02020603050405020304" pitchFamily="18" charset="0"/>
              </a:rPr>
              <a:t> Evaluate marketing activity results.</a:t>
            </a:r>
            <a:endParaRPr lang="en-US" sz="2400">
              <a:latin typeface="Times New Roman" panose="02020603050405020304" pitchFamily="18" charset="0"/>
              <a:cs typeface="Times New Roman" panose="02020603050405020304" pitchFamily="18" charset="0"/>
            </a:endParaRPr>
          </a:p>
          <a:p>
            <a:pPr algn="just"/>
            <a:r>
              <a:rPr lang="en-US" sz="2400" b="1">
                <a:latin typeface="Times New Roman" panose="02020603050405020304" pitchFamily="18" charset="0"/>
                <a:cs typeface="Times New Roman" panose="02020603050405020304" pitchFamily="18" charset="0"/>
              </a:rPr>
              <a:t>Mystery Shopping: </a:t>
            </a:r>
            <a:r>
              <a:rPr lang="en-US" sz="2400">
                <a:latin typeface="Times New Roman" panose="02020603050405020304" pitchFamily="18" charset="0"/>
                <a:cs typeface="Times New Roman" panose="02020603050405020304" pitchFamily="18" charset="0"/>
              </a:rPr>
              <a:t>Research competitors or quality control.</a:t>
            </a:r>
            <a:endParaRPr lang="en-US" sz="2400">
              <a:latin typeface="Times New Roman" panose="02020603050405020304" pitchFamily="18" charset="0"/>
              <a:cs typeface="Times New Roman" panose="02020603050405020304" pitchFamily="18" charset="0"/>
            </a:endParaRPr>
          </a:p>
          <a:p>
            <a:pPr algn="just"/>
            <a:r>
              <a:rPr lang="en-US" sz="2400" b="1">
                <a:latin typeface="Times New Roman" panose="02020603050405020304" pitchFamily="18" charset="0"/>
                <a:cs typeface="Times New Roman" panose="02020603050405020304" pitchFamily="18" charset="0"/>
              </a:rPr>
              <a:t>Positioning Research:</a:t>
            </a:r>
            <a:r>
              <a:rPr lang="en-US" sz="2400">
                <a:latin typeface="Times New Roman" panose="02020603050405020304" pitchFamily="18" charset="0"/>
                <a:cs typeface="Times New Roman" panose="02020603050405020304" pitchFamily="18" charset="0"/>
              </a:rPr>
              <a:t> Understand brand perception vs competitors.</a:t>
            </a:r>
            <a:endParaRPr lang="en-US" sz="2400">
              <a:latin typeface="Times New Roman" panose="02020603050405020304" pitchFamily="18" charset="0"/>
              <a:cs typeface="Times New Roman" panose="02020603050405020304" pitchFamily="18" charset="0"/>
            </a:endParaRPr>
          </a:p>
          <a:p>
            <a:pPr algn="just"/>
            <a:r>
              <a:rPr lang="en-US" sz="2400" b="1">
                <a:latin typeface="Times New Roman" panose="02020603050405020304" pitchFamily="18" charset="0"/>
                <a:cs typeface="Times New Roman" panose="02020603050405020304" pitchFamily="18" charset="0"/>
              </a:rPr>
              <a:t>Price Elasticity Testing:</a:t>
            </a:r>
            <a:r>
              <a:rPr lang="en-US" sz="2400">
                <a:latin typeface="Times New Roman" panose="02020603050405020304" pitchFamily="18" charset="0"/>
                <a:cs typeface="Times New Roman" panose="02020603050405020304" pitchFamily="18" charset="0"/>
              </a:rPr>
              <a:t> Measure sensitivity to price changes.</a:t>
            </a:r>
            <a:endParaRPr lang="en-US" sz="2400">
              <a:latin typeface="Times New Roman" panose="02020603050405020304" pitchFamily="18" charset="0"/>
              <a:cs typeface="Times New Roman" panose="02020603050405020304" pitchFamily="18" charset="0"/>
            </a:endParaRPr>
          </a:p>
          <a:p>
            <a:pPr algn="just"/>
            <a:r>
              <a:rPr lang="en-US" sz="2400" b="1">
                <a:latin typeface="Times New Roman" panose="02020603050405020304" pitchFamily="18" charset="0"/>
                <a:cs typeface="Times New Roman" panose="02020603050405020304" pitchFamily="18" charset="0"/>
              </a:rPr>
              <a:t>Sales Forecasting: </a:t>
            </a:r>
            <a:r>
              <a:rPr lang="en-US" sz="2400">
                <a:latin typeface="Times New Roman" panose="02020603050405020304" pitchFamily="18" charset="0"/>
                <a:cs typeface="Times New Roman" panose="02020603050405020304" pitchFamily="18" charset="0"/>
              </a:rPr>
              <a:t>Predict sales based on demand and marketing factors.</a:t>
            </a:r>
            <a:endParaRPr lang="en-US" sz="2400">
              <a:latin typeface="Times New Roman" panose="02020603050405020304" pitchFamily="18" charset="0"/>
              <a:cs typeface="Times New Roman" panose="02020603050405020304" pitchFamily="18" charset="0"/>
            </a:endParaRPr>
          </a:p>
          <a:p>
            <a:pPr algn="just"/>
            <a:r>
              <a:rPr lang="en-US" sz="2400" b="1">
                <a:latin typeface="Times New Roman" panose="02020603050405020304" pitchFamily="18" charset="0"/>
                <a:cs typeface="Times New Roman" panose="02020603050405020304" pitchFamily="18" charset="0"/>
              </a:rPr>
              <a:t>Segmentation Research:</a:t>
            </a:r>
            <a:r>
              <a:rPr lang="en-US" sz="2400">
                <a:latin typeface="Times New Roman" panose="02020603050405020304" pitchFamily="18" charset="0"/>
                <a:cs typeface="Times New Roman" panose="02020603050405020304" pitchFamily="18" charset="0"/>
              </a:rPr>
              <a:t> Identify demographic, psychographic, behavioral characteristics.</a:t>
            </a:r>
            <a:endParaRPr lang="en-US" sz="2400">
              <a:latin typeface="Times New Roman" panose="02020603050405020304" pitchFamily="18" charset="0"/>
              <a:cs typeface="Times New Roman" panose="02020603050405020304" pitchFamily="18" charset="0"/>
            </a:endParaRPr>
          </a:p>
          <a:p>
            <a:pPr algn="just"/>
            <a:r>
              <a:rPr lang="en-US" sz="2400" b="1">
                <a:latin typeface="Times New Roman" panose="02020603050405020304" pitchFamily="18" charset="0"/>
                <a:cs typeface="Times New Roman" panose="02020603050405020304" pitchFamily="18" charset="0"/>
              </a:rPr>
              <a:t>Test Marketing: </a:t>
            </a:r>
            <a:r>
              <a:rPr lang="en-US" sz="2400">
                <a:latin typeface="Times New Roman" panose="02020603050405020304" pitchFamily="18" charset="0"/>
                <a:cs typeface="Times New Roman" panose="02020603050405020304" pitchFamily="18" charset="0"/>
              </a:rPr>
              <a:t>Small-scale launch to assess market acceptance.</a:t>
            </a:r>
            <a:endParaRPr lang="en-US" sz="240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p>
            <a:pPr lvl="0"/>
            <a:fld id="{9A0DB2DC-4C9A-4742-B13C-FB6460FD3503}" type="slidenum">
              <a:rPr lang="zh-TW" altLang="en-US" dirty="0"/>
            </a:fld>
            <a:endParaRPr lang="zh-TW" altLang="en-US" dirty="0"/>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Solomon Melese,PhD</a:t>
            </a: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sz="3200">
                <a:latin typeface="Times New Roman" panose="02020603050405020304" pitchFamily="18" charset="0"/>
                <a:cs typeface="Times New Roman" panose="02020603050405020304" pitchFamily="18" charset="0"/>
              </a:rPr>
              <a:t>5.6.1.4 Marketing Research Process</a:t>
            </a:r>
            <a:endParaRPr lang="en-US" sz="320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8900" y="990600"/>
            <a:ext cx="8521700" cy="5659755"/>
          </a:xfrm>
        </p:spPr>
        <p:txBody>
          <a:bodyPr/>
          <a:p>
            <a:pPr algn="just"/>
            <a:r>
              <a:rPr lang="en-US" sz="2400" b="1">
                <a:latin typeface="Times New Roman" panose="02020603050405020304" pitchFamily="18" charset="0"/>
                <a:cs typeface="Times New Roman" panose="02020603050405020304" pitchFamily="18" charset="0"/>
              </a:rPr>
              <a:t>Step 1: Define Research Purpose/Objectives</a:t>
            </a:r>
            <a:endParaRPr lang="en-US" sz="2400" b="1">
              <a:latin typeface="Times New Roman" panose="02020603050405020304" pitchFamily="18" charset="0"/>
              <a:cs typeface="Times New Roman" panose="02020603050405020304" pitchFamily="18" charset="0"/>
            </a:endParaRPr>
          </a:p>
          <a:p>
            <a:pPr algn="just"/>
            <a:endParaRPr lang="en-US" sz="2400">
              <a:latin typeface="Times New Roman" panose="02020603050405020304" pitchFamily="18" charset="0"/>
              <a:cs typeface="Times New Roman" panose="02020603050405020304" pitchFamily="18" charset="0"/>
            </a:endParaRPr>
          </a:p>
          <a:p>
            <a:pPr algn="just"/>
            <a:r>
              <a:rPr lang="en-US" sz="2400" b="1">
                <a:latin typeface="Times New Roman" panose="02020603050405020304" pitchFamily="18" charset="0"/>
                <a:cs typeface="Times New Roman" panose="02020603050405020304" pitchFamily="18" charset="0"/>
              </a:rPr>
              <a:t>Key questions to establish objectives:</a:t>
            </a:r>
            <a:endParaRPr lang="en-US" sz="2400" b="1">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Where do potential customers buy the product?</a:t>
            </a:r>
            <a:endParaRPr lang="en-US" sz="2100">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Why do they purchase there?</a:t>
            </a:r>
            <a:endParaRPr lang="en-US" sz="2100">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What is the market size? How much can your business capture?</a:t>
            </a:r>
            <a:endParaRPr lang="en-US" sz="2100">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How does your business compare with competitors?</a:t>
            </a:r>
            <a:endParaRPr lang="en-US" sz="2100">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What is the impact of promotion on customers?</a:t>
            </a:r>
            <a:endParaRPr lang="en-US" sz="2100">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What types of products are desired by potential customers?</a:t>
            </a:r>
            <a:endParaRPr lang="en-US" sz="210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p>
            <a:pPr lvl="0"/>
            <a:fld id="{9A0DB2DC-4C9A-4742-B13C-FB6460FD3503}" type="slidenum">
              <a:rPr lang="zh-TW" altLang="en-US" dirty="0"/>
            </a:fld>
            <a:endParaRPr lang="zh-TW" altLang="en-US" dirty="0"/>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Solomon Melese,PhD</a:t>
            </a: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sz="3200">
                <a:latin typeface="Times New Roman" panose="02020603050405020304" pitchFamily="18" charset="0"/>
                <a:cs typeface="Times New Roman" panose="02020603050405020304" pitchFamily="18" charset="0"/>
              </a:rPr>
              <a:t>Marketing Research Process</a:t>
            </a:r>
            <a:endParaRPr lang="en-US" sz="320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8900" y="990600"/>
            <a:ext cx="8521700" cy="5659755"/>
          </a:xfrm>
        </p:spPr>
        <p:txBody>
          <a:bodyPr/>
          <a:p>
            <a:pPr algn="just"/>
            <a:r>
              <a:rPr lang="en-US" sz="2400" b="1">
                <a:latin typeface="Times New Roman" panose="02020603050405020304" pitchFamily="18" charset="0"/>
                <a:cs typeface="Times New Roman" panose="02020603050405020304" pitchFamily="18" charset="0"/>
              </a:rPr>
              <a:t>Step 1: Define Research Purpose/Objectives</a:t>
            </a:r>
            <a:endParaRPr lang="en-US" sz="2400" b="1">
              <a:latin typeface="Times New Roman" panose="02020603050405020304" pitchFamily="18" charset="0"/>
              <a:cs typeface="Times New Roman" panose="02020603050405020304" pitchFamily="18" charset="0"/>
            </a:endParaRPr>
          </a:p>
          <a:p>
            <a:pPr algn="just"/>
            <a:endParaRPr lang="en-US" sz="2400">
              <a:latin typeface="Times New Roman" panose="02020603050405020304" pitchFamily="18" charset="0"/>
              <a:cs typeface="Times New Roman" panose="02020603050405020304" pitchFamily="18" charset="0"/>
            </a:endParaRPr>
          </a:p>
          <a:p>
            <a:pPr algn="just"/>
            <a:r>
              <a:rPr lang="en-US" sz="2400" b="1">
                <a:latin typeface="Times New Roman" panose="02020603050405020304" pitchFamily="18" charset="0"/>
                <a:cs typeface="Times New Roman" panose="02020603050405020304" pitchFamily="18" charset="0"/>
              </a:rPr>
              <a:t>Key questions to establish objectives:</a:t>
            </a:r>
            <a:endParaRPr lang="en-US" sz="2400" b="1">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Where do potential customers buy the product?</a:t>
            </a:r>
            <a:endParaRPr lang="en-US" sz="2100">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Why do they purchase there?</a:t>
            </a:r>
            <a:endParaRPr lang="en-US" sz="2100">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What is the market size? How much can your business capture?</a:t>
            </a:r>
            <a:endParaRPr lang="en-US" sz="2100">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How does your business compare with competitors?</a:t>
            </a:r>
            <a:endParaRPr lang="en-US" sz="2100">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What is the impact of promotion on customers?</a:t>
            </a:r>
            <a:endParaRPr lang="en-US" sz="2100">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What types of products are desired by potential customers?</a:t>
            </a:r>
            <a:endParaRPr lang="en-US" sz="210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p>
            <a:pPr lvl="0"/>
            <a:fld id="{9A0DB2DC-4C9A-4742-B13C-FB6460FD3503}" type="slidenum">
              <a:rPr lang="zh-TW" altLang="en-US" dirty="0"/>
            </a:fld>
            <a:endParaRPr lang="zh-TW" altLang="en-US" dirty="0"/>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Solomon Melese,PhD</a:t>
            </a: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sz="3200">
                <a:latin typeface="Times New Roman" panose="02020603050405020304" pitchFamily="18" charset="0"/>
                <a:cs typeface="Times New Roman" panose="02020603050405020304" pitchFamily="18" charset="0"/>
              </a:rPr>
              <a:t>Marketing Research Process</a:t>
            </a:r>
            <a:endParaRPr lang="en-US" sz="320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8900" y="990600"/>
            <a:ext cx="8521700" cy="5659755"/>
          </a:xfrm>
        </p:spPr>
        <p:txBody>
          <a:bodyPr/>
          <a:p>
            <a:pPr algn="just"/>
            <a:r>
              <a:rPr lang="en-US" sz="2400" b="1">
                <a:latin typeface="Times New Roman" panose="02020603050405020304" pitchFamily="18" charset="0"/>
                <a:cs typeface="Times New Roman" panose="02020603050405020304" pitchFamily="18" charset="0"/>
              </a:rPr>
              <a:t>Step 2 – Research Design Formulation</a:t>
            </a:r>
            <a:endParaRPr lang="en-US" sz="2400" b="1">
              <a:latin typeface="Times New Roman" panose="02020603050405020304" pitchFamily="18" charset="0"/>
              <a:cs typeface="Times New Roman" panose="02020603050405020304" pitchFamily="18" charset="0"/>
            </a:endParaRPr>
          </a:p>
          <a:p>
            <a:pPr algn="just"/>
            <a:endParaRPr lang="en-US" sz="2400">
              <a:latin typeface="Times New Roman" panose="02020603050405020304" pitchFamily="18" charset="0"/>
              <a:cs typeface="Times New Roman" panose="02020603050405020304" pitchFamily="18" charset="0"/>
            </a:endParaRPr>
          </a:p>
          <a:p>
            <a:pPr algn="just"/>
            <a:r>
              <a:rPr lang="en-US" sz="2400">
                <a:latin typeface="Times New Roman" panose="02020603050405020304" pitchFamily="18" charset="0"/>
                <a:cs typeface="Times New Roman" panose="02020603050405020304" pitchFamily="18" charset="0"/>
              </a:rPr>
              <a:t>Research design: Blueprint for conducting marketing research.</a:t>
            </a:r>
            <a:endParaRPr lang="en-US" sz="2400">
              <a:latin typeface="Times New Roman" panose="02020603050405020304" pitchFamily="18" charset="0"/>
              <a:cs typeface="Times New Roman" panose="02020603050405020304" pitchFamily="18" charset="0"/>
            </a:endParaRPr>
          </a:p>
          <a:p>
            <a:pPr algn="just"/>
            <a:r>
              <a:rPr lang="en-US" sz="2400" b="1">
                <a:latin typeface="Times New Roman" panose="02020603050405020304" pitchFamily="18" charset="0"/>
                <a:cs typeface="Times New Roman" panose="02020603050405020304" pitchFamily="18" charset="0"/>
              </a:rPr>
              <a:t>Key elements:</a:t>
            </a:r>
            <a:endParaRPr lang="en-US" sz="2400" b="1">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Study period and location</a:t>
            </a:r>
            <a:endParaRPr lang="en-US" sz="2100">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Qualitative data collection methods</a:t>
            </a:r>
            <a:endParaRPr lang="en-US" sz="2100">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Quantitative methods: survey, observation, experimentation</a:t>
            </a:r>
            <a:endParaRPr lang="en-US" sz="2100">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Define required information</a:t>
            </a:r>
            <a:endParaRPr lang="en-US" sz="2100">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Questionnaire design</a:t>
            </a:r>
            <a:endParaRPr lang="en-US" sz="2100">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Measurement and scaling procedures</a:t>
            </a:r>
            <a:endParaRPr lang="en-US" sz="2100">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Sampling process and sample size</a:t>
            </a:r>
            <a:endParaRPr lang="en-US" sz="2100">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Data analysis plan</a:t>
            </a:r>
            <a:endParaRPr lang="en-US" sz="210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p>
            <a:pPr lvl="0"/>
            <a:fld id="{9A0DB2DC-4C9A-4742-B13C-FB6460FD3503}" type="slidenum">
              <a:rPr lang="zh-TW" altLang="en-US" dirty="0"/>
            </a:fld>
            <a:endParaRPr lang="zh-TW" altLang="en-US" dirty="0"/>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Solomon Melese,PhD</a:t>
            </a: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sz="3200">
                <a:latin typeface="Times New Roman" panose="02020603050405020304" pitchFamily="18" charset="0"/>
                <a:cs typeface="Times New Roman" panose="02020603050405020304" pitchFamily="18" charset="0"/>
              </a:rPr>
              <a:t>Marketing Research Process</a:t>
            </a:r>
            <a:endParaRPr lang="en-US" sz="320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8900" y="990600"/>
            <a:ext cx="8521700" cy="5659755"/>
          </a:xfrm>
        </p:spPr>
        <p:txBody>
          <a:bodyPr/>
          <a:p>
            <a:pPr algn="just"/>
            <a:r>
              <a:rPr lang="en-US" sz="2400" b="1">
                <a:latin typeface="Times New Roman" panose="02020603050405020304" pitchFamily="18" charset="0"/>
                <a:cs typeface="Times New Roman" panose="02020603050405020304" pitchFamily="18" charset="0"/>
              </a:rPr>
              <a:t>Step 3 – Gather Secondary Data</a:t>
            </a:r>
            <a:endParaRPr lang="en-US" sz="2400" b="1">
              <a:latin typeface="Times New Roman" panose="02020603050405020304" pitchFamily="18" charset="0"/>
              <a:cs typeface="Times New Roman" panose="02020603050405020304" pitchFamily="18" charset="0"/>
            </a:endParaRPr>
          </a:p>
          <a:p>
            <a:pPr algn="just"/>
            <a:r>
              <a:rPr lang="en-US" sz="2400">
                <a:latin typeface="Times New Roman" panose="02020603050405020304" pitchFamily="18" charset="0"/>
                <a:cs typeface="Times New Roman" panose="02020603050405020304" pitchFamily="18" charset="0"/>
              </a:rPr>
              <a:t>Secondary data: Collected by others but useful for current study.</a:t>
            </a:r>
            <a:endParaRPr lang="en-US" sz="2400">
              <a:latin typeface="Times New Roman" panose="02020603050405020304" pitchFamily="18" charset="0"/>
              <a:cs typeface="Times New Roman" panose="02020603050405020304" pitchFamily="18" charset="0"/>
            </a:endParaRPr>
          </a:p>
          <a:p>
            <a:pPr algn="just"/>
            <a:r>
              <a:rPr lang="en-US" sz="2400" b="1">
                <a:latin typeface="Times New Roman" panose="02020603050405020304" pitchFamily="18" charset="0"/>
                <a:cs typeface="Times New Roman" panose="02020603050405020304" pitchFamily="18" charset="0"/>
              </a:rPr>
              <a:t>Advantages:</a:t>
            </a:r>
            <a:endParaRPr lang="en-US" sz="2400" b="1">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Less expensive</a:t>
            </a:r>
            <a:endParaRPr lang="en-US" sz="2100">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Accessible internally or externally</a:t>
            </a:r>
            <a:endParaRPr lang="en-US" sz="2100">
              <a:latin typeface="Times New Roman" panose="02020603050405020304" pitchFamily="18" charset="0"/>
              <a:cs typeface="Times New Roman" panose="02020603050405020304" pitchFamily="18" charset="0"/>
            </a:endParaRPr>
          </a:p>
          <a:p>
            <a:pPr algn="just"/>
            <a:r>
              <a:rPr lang="en-US" sz="2400">
                <a:latin typeface="Times New Roman" panose="02020603050405020304" pitchFamily="18" charset="0"/>
                <a:cs typeface="Times New Roman" panose="02020603050405020304" pitchFamily="18" charset="0"/>
              </a:rPr>
              <a:t>Limitations:</a:t>
            </a:r>
            <a:endParaRPr lang="en-US" sz="2400">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May be outdated</a:t>
            </a:r>
            <a:endParaRPr lang="en-US" sz="2100">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Less valid</a:t>
            </a:r>
            <a:endParaRPr lang="en-US" sz="210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p>
            <a:pPr lvl="0"/>
            <a:fld id="{9A0DB2DC-4C9A-4742-B13C-FB6460FD3503}" type="slidenum">
              <a:rPr lang="zh-TW" altLang="en-US" dirty="0"/>
            </a:fld>
            <a:endParaRPr lang="zh-TW" altLang="en-US" dirty="0"/>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Solomon Melese,PhD</a:t>
            </a: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sz="3200">
                <a:latin typeface="Times New Roman" panose="02020603050405020304" pitchFamily="18" charset="0"/>
                <a:cs typeface="Times New Roman" panose="02020603050405020304" pitchFamily="18" charset="0"/>
              </a:rPr>
              <a:t>Marketing Research Process</a:t>
            </a:r>
            <a:endParaRPr lang="en-US" sz="320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8900" y="990600"/>
            <a:ext cx="8521700" cy="5659755"/>
          </a:xfrm>
        </p:spPr>
        <p:txBody>
          <a:bodyPr/>
          <a:p>
            <a:pPr algn="just"/>
            <a:r>
              <a:rPr lang="en-US" sz="2400" b="1">
                <a:latin typeface="Times New Roman" panose="02020603050405020304" pitchFamily="18" charset="0"/>
                <a:cs typeface="Times New Roman" panose="02020603050405020304" pitchFamily="18" charset="0"/>
              </a:rPr>
              <a:t>Step 4 – Gather Primary Data</a:t>
            </a:r>
            <a:endParaRPr lang="en-US" sz="2400" b="1">
              <a:latin typeface="Times New Roman" panose="02020603050405020304" pitchFamily="18" charset="0"/>
              <a:cs typeface="Times New Roman" panose="02020603050405020304" pitchFamily="18" charset="0"/>
            </a:endParaRPr>
          </a:p>
          <a:p>
            <a:pPr algn="just"/>
            <a:r>
              <a:rPr lang="en-US" sz="2400" b="1">
                <a:latin typeface="Times New Roman" panose="02020603050405020304" pitchFamily="18" charset="0"/>
                <a:cs typeface="Times New Roman" panose="02020603050405020304" pitchFamily="18" charset="0"/>
              </a:rPr>
              <a:t>Primary data collection techniques:</a:t>
            </a:r>
            <a:endParaRPr lang="en-US" sz="2400" b="1">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Observational: No direct contact with respondents</a:t>
            </a:r>
            <a:endParaRPr lang="en-US" sz="2100">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Focus groups</a:t>
            </a:r>
            <a:endParaRPr lang="en-US" sz="2100">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Experimentation: Tests cause-effect relationships</a:t>
            </a:r>
            <a:endParaRPr lang="en-US" sz="2100">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Survey techniques: Ask questions and record responses</a:t>
            </a:r>
            <a:endParaRPr lang="en-US" sz="2100">
              <a:latin typeface="Times New Roman" panose="02020603050405020304" pitchFamily="18" charset="0"/>
              <a:cs typeface="Times New Roman" panose="02020603050405020304" pitchFamily="18" charset="0"/>
            </a:endParaRPr>
          </a:p>
          <a:p>
            <a:pPr algn="just"/>
            <a:r>
              <a:rPr lang="en-US" sz="2400" b="1">
                <a:latin typeface="Times New Roman" panose="02020603050405020304" pitchFamily="18" charset="0"/>
                <a:cs typeface="Times New Roman" panose="02020603050405020304" pitchFamily="18" charset="0"/>
              </a:rPr>
              <a:t>Survey examples:</a:t>
            </a:r>
            <a:endParaRPr lang="en-US" sz="2400" b="1">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Mail questionnaires</a:t>
            </a:r>
            <a:endParaRPr lang="en-US" sz="2100">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Telephone interviews</a:t>
            </a:r>
            <a:endParaRPr lang="en-US" sz="2100">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Personal interviews (drop-off/pick-up or in-person)</a:t>
            </a:r>
            <a:endParaRPr lang="en-US" sz="210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p>
            <a:pPr lvl="0"/>
            <a:fld id="{9A0DB2DC-4C9A-4742-B13C-FB6460FD3503}" type="slidenum">
              <a:rPr lang="zh-TW" altLang="en-US" dirty="0"/>
            </a:fld>
            <a:endParaRPr lang="zh-TW" altLang="en-US" dirty="0"/>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Solomon Melese,PhD</a:t>
            </a: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sz="3200">
                <a:latin typeface="Times New Roman" panose="02020603050405020304" pitchFamily="18" charset="0"/>
                <a:cs typeface="Times New Roman" panose="02020603050405020304" pitchFamily="18" charset="0"/>
              </a:rPr>
              <a:t>Marketing Research Process</a:t>
            </a:r>
            <a:endParaRPr lang="en-US" sz="320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8900" y="990600"/>
            <a:ext cx="8521700" cy="5659755"/>
          </a:xfrm>
        </p:spPr>
        <p:txBody>
          <a:bodyPr/>
          <a:p>
            <a:pPr algn="just"/>
            <a:r>
              <a:rPr lang="en-US" sz="2400" b="1">
                <a:latin typeface="Times New Roman" panose="02020603050405020304" pitchFamily="18" charset="0"/>
                <a:cs typeface="Times New Roman" panose="02020603050405020304" pitchFamily="18" charset="0"/>
              </a:rPr>
              <a:t>Step 5 – Data Processing and Analysis</a:t>
            </a:r>
            <a:endParaRPr lang="en-US" sz="2400" b="1">
              <a:latin typeface="Times New Roman" panose="02020603050405020304" pitchFamily="18" charset="0"/>
              <a:cs typeface="Times New Roman" panose="02020603050405020304" pitchFamily="18" charset="0"/>
            </a:endParaRPr>
          </a:p>
          <a:p>
            <a:pPr algn="just"/>
            <a:endParaRPr lang="en-US" sz="2400">
              <a:latin typeface="Times New Roman" panose="02020603050405020304" pitchFamily="18" charset="0"/>
              <a:cs typeface="Times New Roman" panose="02020603050405020304" pitchFamily="18" charset="0"/>
            </a:endParaRPr>
          </a:p>
          <a:p>
            <a:pPr algn="just"/>
            <a:r>
              <a:rPr lang="en-US" sz="2400" b="1">
                <a:latin typeface="Times New Roman" panose="02020603050405020304" pitchFamily="18" charset="0"/>
                <a:cs typeface="Times New Roman" panose="02020603050405020304" pitchFamily="18" charset="0"/>
              </a:rPr>
              <a:t>Data Processing: </a:t>
            </a:r>
            <a:r>
              <a:rPr lang="en-US" sz="2400">
                <a:latin typeface="Times New Roman" panose="02020603050405020304" pitchFamily="18" charset="0"/>
                <a:cs typeface="Times New Roman" panose="02020603050405020304" pitchFamily="18" charset="0"/>
              </a:rPr>
              <a:t>Editing, coding, transcription, verification</a:t>
            </a:r>
            <a:endParaRPr lang="en-US" sz="2400">
              <a:latin typeface="Times New Roman" panose="02020603050405020304" pitchFamily="18" charset="0"/>
              <a:cs typeface="Times New Roman" panose="02020603050405020304" pitchFamily="18" charset="0"/>
            </a:endParaRPr>
          </a:p>
          <a:p>
            <a:pPr algn="just"/>
            <a:endParaRPr lang="en-US" sz="2400">
              <a:latin typeface="Times New Roman" panose="02020603050405020304" pitchFamily="18" charset="0"/>
              <a:cs typeface="Times New Roman" panose="02020603050405020304" pitchFamily="18" charset="0"/>
            </a:endParaRPr>
          </a:p>
          <a:p>
            <a:pPr algn="just"/>
            <a:r>
              <a:rPr lang="en-US" sz="2400" b="1">
                <a:latin typeface="Times New Roman" panose="02020603050405020304" pitchFamily="18" charset="0"/>
                <a:cs typeface="Times New Roman" panose="02020603050405020304" pitchFamily="18" charset="0"/>
              </a:rPr>
              <a:t>Data Analysis: </a:t>
            </a:r>
            <a:r>
              <a:rPr lang="en-US" sz="2400">
                <a:latin typeface="Times New Roman" panose="02020603050405020304" pitchFamily="18" charset="0"/>
                <a:cs typeface="Times New Roman" panose="02020603050405020304" pitchFamily="18" charset="0"/>
              </a:rPr>
              <a:t>Follow plan of analysis to interpret results</a:t>
            </a:r>
            <a:endParaRPr lang="en-US" sz="2400">
              <a:latin typeface="Times New Roman" panose="02020603050405020304" pitchFamily="18" charset="0"/>
              <a:cs typeface="Times New Roman" panose="02020603050405020304" pitchFamily="18" charset="0"/>
            </a:endParaRPr>
          </a:p>
          <a:p>
            <a:pPr algn="just"/>
            <a:endParaRPr lang="en-US" sz="2400">
              <a:latin typeface="Times New Roman" panose="02020603050405020304" pitchFamily="18" charset="0"/>
              <a:cs typeface="Times New Roman" panose="02020603050405020304" pitchFamily="18" charset="0"/>
            </a:endParaRPr>
          </a:p>
          <a:p>
            <a:pPr algn="just"/>
            <a:r>
              <a:rPr lang="en-US" sz="2400">
                <a:latin typeface="Times New Roman" panose="02020603050405020304" pitchFamily="18" charset="0"/>
                <a:cs typeface="Times New Roman" panose="02020603050405020304" pitchFamily="18" charset="0"/>
              </a:rPr>
              <a:t>Results are evaluated in response to research objectives</a:t>
            </a:r>
            <a:endParaRPr lang="en-US" sz="240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p>
            <a:pPr lvl="0"/>
            <a:fld id="{9A0DB2DC-4C9A-4742-B13C-FB6460FD3503}" type="slidenum">
              <a:rPr lang="zh-TW" altLang="en-US" dirty="0"/>
            </a:fld>
            <a:endParaRPr lang="zh-TW" altLang="en-US" dirty="0"/>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Solomon Melese,PhD</a:t>
            </a: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sz="3200">
                <a:latin typeface="Times New Roman" panose="02020603050405020304" pitchFamily="18" charset="0"/>
                <a:cs typeface="Times New Roman" panose="02020603050405020304" pitchFamily="18" charset="0"/>
              </a:rPr>
              <a:t>Marketing Research Process</a:t>
            </a:r>
            <a:endParaRPr lang="en-US" sz="320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8900" y="990600"/>
            <a:ext cx="8521700" cy="5659755"/>
          </a:xfrm>
        </p:spPr>
        <p:txBody>
          <a:bodyPr/>
          <a:p>
            <a:pPr algn="just"/>
            <a:r>
              <a:rPr lang="en-US" sz="2400" b="1">
                <a:latin typeface="Times New Roman" panose="02020603050405020304" pitchFamily="18" charset="0"/>
                <a:cs typeface="Times New Roman" panose="02020603050405020304" pitchFamily="18" charset="0"/>
              </a:rPr>
              <a:t>Step 6 – Report Preparation and Presentation</a:t>
            </a:r>
            <a:endParaRPr lang="en-US" sz="2400" b="1">
              <a:latin typeface="Times New Roman" panose="02020603050405020304" pitchFamily="18" charset="0"/>
              <a:cs typeface="Times New Roman" panose="02020603050405020304" pitchFamily="18" charset="0"/>
            </a:endParaRPr>
          </a:p>
          <a:p>
            <a:pPr algn="just"/>
            <a:r>
              <a:rPr lang="en-US" sz="2400" b="1">
                <a:latin typeface="Times New Roman" panose="02020603050405020304" pitchFamily="18" charset="0"/>
                <a:cs typeface="Times New Roman" panose="02020603050405020304" pitchFamily="18" charset="0"/>
              </a:rPr>
              <a:t>Research report includes:</a:t>
            </a:r>
            <a:endParaRPr lang="en-US" sz="2400" b="1">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Research questions</a:t>
            </a:r>
            <a:endParaRPr lang="en-US" sz="2100">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Research approach and design</a:t>
            </a:r>
            <a:endParaRPr lang="en-US" sz="2100">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Data collection methods and sampling procedures</a:t>
            </a:r>
            <a:endParaRPr lang="en-US" sz="2100">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Data processing and analysis</a:t>
            </a:r>
            <a:endParaRPr lang="en-US" sz="2100">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Major findings and action suggestions</a:t>
            </a:r>
            <a:endParaRPr lang="en-US" sz="2100">
              <a:latin typeface="Times New Roman" panose="02020603050405020304" pitchFamily="18" charset="0"/>
              <a:cs typeface="Times New Roman" panose="02020603050405020304" pitchFamily="18" charset="0"/>
            </a:endParaRPr>
          </a:p>
          <a:p>
            <a:pPr algn="just"/>
            <a:r>
              <a:rPr lang="en-US" sz="2400">
                <a:latin typeface="Times New Roman" panose="02020603050405020304" pitchFamily="18" charset="0"/>
                <a:cs typeface="Times New Roman" panose="02020603050405020304" pitchFamily="18" charset="0"/>
              </a:rPr>
              <a:t>Oral presentation recommended using tables, figures, and graphs for clarity and impact</a:t>
            </a:r>
            <a:endParaRPr lang="en-US" sz="240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p>
            <a:pPr lvl="0"/>
            <a:fld id="{9A0DB2DC-4C9A-4742-B13C-FB6460FD3503}" type="slidenum">
              <a:rPr lang="zh-TW" altLang="en-US" dirty="0"/>
            </a:fld>
            <a:endParaRPr lang="zh-TW" altLang="en-US" dirty="0"/>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Solomon Melese,PhD</a:t>
            </a: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sz="3200">
                <a:latin typeface="Times New Roman" panose="02020603050405020304" pitchFamily="18" charset="0"/>
                <a:cs typeface="Times New Roman" panose="02020603050405020304" pitchFamily="18" charset="0"/>
              </a:rPr>
              <a:t>5.6.2 Marketing Intelligence</a:t>
            </a:r>
            <a:endParaRPr lang="en-US" sz="320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8900" y="990600"/>
            <a:ext cx="8521700" cy="5659755"/>
          </a:xfrm>
        </p:spPr>
        <p:txBody>
          <a:bodyPr/>
          <a:p>
            <a:pPr algn="just"/>
            <a:r>
              <a:rPr lang="en-US" sz="2400">
                <a:latin typeface="Times New Roman" panose="02020603050405020304" pitchFamily="18" charset="0"/>
                <a:cs typeface="Times New Roman" panose="02020603050405020304" pitchFamily="18" charset="0"/>
              </a:rPr>
              <a:t>Systematic process of gathering, analyzing, and applying information about the external market environment.</a:t>
            </a:r>
            <a:endParaRPr lang="en-US" sz="2400">
              <a:latin typeface="Times New Roman" panose="02020603050405020304" pitchFamily="18" charset="0"/>
              <a:cs typeface="Times New Roman" panose="02020603050405020304" pitchFamily="18" charset="0"/>
            </a:endParaRPr>
          </a:p>
          <a:p>
            <a:pPr algn="just"/>
            <a:endParaRPr lang="en-US" sz="2400">
              <a:latin typeface="Times New Roman" panose="02020603050405020304" pitchFamily="18" charset="0"/>
              <a:cs typeface="Times New Roman" panose="02020603050405020304" pitchFamily="18" charset="0"/>
            </a:endParaRPr>
          </a:p>
          <a:p>
            <a:pPr algn="just"/>
            <a:r>
              <a:rPr lang="en-US" sz="2400" b="1">
                <a:latin typeface="Times New Roman" panose="02020603050405020304" pitchFamily="18" charset="0"/>
                <a:cs typeface="Times New Roman" panose="02020603050405020304" pitchFamily="18" charset="0"/>
              </a:rPr>
              <a:t>Purpose:</a:t>
            </a:r>
            <a:endParaRPr lang="en-US" sz="2400" b="1">
              <a:latin typeface="Times New Roman" panose="02020603050405020304" pitchFamily="18" charset="0"/>
              <a:cs typeface="Times New Roman" panose="02020603050405020304" pitchFamily="18" charset="0"/>
            </a:endParaRPr>
          </a:p>
          <a:p>
            <a:pPr algn="just"/>
            <a:endParaRPr lang="en-US" sz="2400">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Identify current and future market needs</a:t>
            </a:r>
            <a:endParaRPr lang="en-US" sz="2100">
              <a:latin typeface="Times New Roman" panose="02020603050405020304" pitchFamily="18" charset="0"/>
              <a:cs typeface="Times New Roman" panose="02020603050405020304" pitchFamily="18" charset="0"/>
            </a:endParaRPr>
          </a:p>
          <a:p>
            <a:pPr algn="just"/>
            <a:endParaRPr lang="en-US" sz="2400">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Monitor environmental changes affecting market size and nature</a:t>
            </a:r>
            <a:endParaRPr lang="en-US" sz="210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p>
            <a:pPr lvl="0"/>
            <a:fld id="{9A0DB2DC-4C9A-4742-B13C-FB6460FD3503}" type="slidenum">
              <a:rPr lang="zh-TW" altLang="en-US" dirty="0"/>
            </a:fld>
            <a:endParaRPr lang="zh-TW" altLang="en-US" dirty="0"/>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Solomon Melese,PhD</a:t>
            </a: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sz="3200">
                <a:latin typeface="Times New Roman" panose="02020603050405020304" pitchFamily="18" charset="0"/>
                <a:cs typeface="Times New Roman" panose="02020603050405020304" pitchFamily="18" charset="0"/>
              </a:rPr>
              <a:t>5.6.2.1The Importance of Marketing Intelligence</a:t>
            </a:r>
            <a:endParaRPr lang="en-US" sz="320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8900" y="990600"/>
            <a:ext cx="8521700" cy="5659755"/>
          </a:xfrm>
        </p:spPr>
        <p:txBody>
          <a:bodyPr/>
          <a:p>
            <a:pPr algn="just"/>
            <a:r>
              <a:rPr lang="en-US" sz="2400">
                <a:latin typeface="Times New Roman" panose="02020603050405020304" pitchFamily="18" charset="0"/>
                <a:cs typeface="Times New Roman" panose="02020603050405020304" pitchFamily="18" charset="0"/>
              </a:rPr>
              <a:t>Promotes market and customer orientation</a:t>
            </a:r>
            <a:endParaRPr lang="en-US" sz="2400">
              <a:latin typeface="Times New Roman" panose="02020603050405020304" pitchFamily="18" charset="0"/>
              <a:cs typeface="Times New Roman" panose="02020603050405020304" pitchFamily="18" charset="0"/>
            </a:endParaRPr>
          </a:p>
          <a:p>
            <a:pPr algn="just"/>
            <a:endParaRPr lang="en-US" sz="2400">
              <a:latin typeface="Times New Roman" panose="02020603050405020304" pitchFamily="18" charset="0"/>
              <a:cs typeface="Times New Roman" panose="02020603050405020304" pitchFamily="18" charset="0"/>
            </a:endParaRPr>
          </a:p>
          <a:p>
            <a:pPr algn="just"/>
            <a:r>
              <a:rPr lang="en-US" sz="2400">
                <a:latin typeface="Times New Roman" panose="02020603050405020304" pitchFamily="18" charset="0"/>
                <a:cs typeface="Times New Roman" panose="02020603050405020304" pitchFamily="18" charset="0"/>
              </a:rPr>
              <a:t>Identifies new opportunities</a:t>
            </a:r>
            <a:endParaRPr lang="en-US" sz="2400">
              <a:latin typeface="Times New Roman" panose="02020603050405020304" pitchFamily="18" charset="0"/>
              <a:cs typeface="Times New Roman" panose="02020603050405020304" pitchFamily="18" charset="0"/>
            </a:endParaRPr>
          </a:p>
          <a:p>
            <a:pPr algn="just"/>
            <a:endParaRPr lang="en-US" sz="2400">
              <a:latin typeface="Times New Roman" panose="02020603050405020304" pitchFamily="18" charset="0"/>
              <a:cs typeface="Times New Roman" panose="02020603050405020304" pitchFamily="18" charset="0"/>
            </a:endParaRPr>
          </a:p>
          <a:p>
            <a:pPr algn="just"/>
            <a:r>
              <a:rPr lang="en-US" sz="2400">
                <a:latin typeface="Times New Roman" panose="02020603050405020304" pitchFamily="18" charset="0"/>
                <a:cs typeface="Times New Roman" panose="02020603050405020304" pitchFamily="18" charset="0"/>
              </a:rPr>
              <a:t>Enables smart segmentation</a:t>
            </a:r>
            <a:endParaRPr lang="en-US" sz="2400">
              <a:latin typeface="Times New Roman" panose="02020603050405020304" pitchFamily="18" charset="0"/>
              <a:cs typeface="Times New Roman" panose="02020603050405020304" pitchFamily="18" charset="0"/>
            </a:endParaRPr>
          </a:p>
          <a:p>
            <a:pPr algn="just"/>
            <a:endParaRPr lang="en-US" sz="2400">
              <a:latin typeface="Times New Roman" panose="02020603050405020304" pitchFamily="18" charset="0"/>
              <a:cs typeface="Times New Roman" panose="02020603050405020304" pitchFamily="18" charset="0"/>
            </a:endParaRPr>
          </a:p>
          <a:p>
            <a:pPr algn="just"/>
            <a:r>
              <a:rPr lang="en-US" sz="2400">
                <a:latin typeface="Times New Roman" panose="02020603050405020304" pitchFamily="18" charset="0"/>
                <a:cs typeface="Times New Roman" panose="02020603050405020304" pitchFamily="18" charset="0"/>
              </a:rPr>
              <a:t>Provides early warning of competitor moves</a:t>
            </a:r>
            <a:endParaRPr lang="en-US" sz="2400">
              <a:latin typeface="Times New Roman" panose="02020603050405020304" pitchFamily="18" charset="0"/>
              <a:cs typeface="Times New Roman" panose="02020603050405020304" pitchFamily="18" charset="0"/>
            </a:endParaRPr>
          </a:p>
          <a:p>
            <a:pPr algn="just"/>
            <a:endParaRPr lang="en-US" sz="2400">
              <a:latin typeface="Times New Roman" panose="02020603050405020304" pitchFamily="18" charset="0"/>
              <a:cs typeface="Times New Roman" panose="02020603050405020304" pitchFamily="18" charset="0"/>
            </a:endParaRPr>
          </a:p>
          <a:p>
            <a:pPr algn="just"/>
            <a:r>
              <a:rPr lang="en-US" sz="2400">
                <a:latin typeface="Times New Roman" panose="02020603050405020304" pitchFamily="18" charset="0"/>
                <a:cs typeface="Times New Roman" panose="02020603050405020304" pitchFamily="18" charset="0"/>
              </a:rPr>
              <a:t>Minimizes investment risks</a:t>
            </a:r>
            <a:endParaRPr lang="en-US" sz="2400">
              <a:latin typeface="Times New Roman" panose="02020603050405020304" pitchFamily="18" charset="0"/>
              <a:cs typeface="Times New Roman" panose="02020603050405020304" pitchFamily="18" charset="0"/>
            </a:endParaRPr>
          </a:p>
          <a:p>
            <a:pPr algn="just"/>
            <a:endParaRPr lang="en-US" sz="2400">
              <a:latin typeface="Times New Roman" panose="02020603050405020304" pitchFamily="18" charset="0"/>
              <a:cs typeface="Times New Roman" panose="02020603050405020304" pitchFamily="18" charset="0"/>
            </a:endParaRPr>
          </a:p>
          <a:p>
            <a:pPr algn="just"/>
            <a:r>
              <a:rPr lang="en-US" sz="2400">
                <a:latin typeface="Times New Roman" panose="02020603050405020304" pitchFamily="18" charset="0"/>
                <a:cs typeface="Times New Roman" panose="02020603050405020304" pitchFamily="18" charset="0"/>
              </a:rPr>
              <a:t>Delivers information quickly, efficiently, and cost-effectively</a:t>
            </a:r>
            <a:endParaRPr lang="en-US" sz="240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p>
            <a:pPr lvl="0"/>
            <a:fld id="{9A0DB2DC-4C9A-4742-B13C-FB6460FD3503}" type="slidenum">
              <a:rPr lang="zh-TW" altLang="en-US" dirty="0"/>
            </a:fld>
            <a:endParaRPr lang="zh-TW" altLang="en-US" dirty="0"/>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Solomon Melese,PhD</a:t>
            </a: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sz="3200">
                <a:latin typeface="Times New Roman" panose="02020603050405020304" pitchFamily="18" charset="0"/>
                <a:cs typeface="Times New Roman" panose="02020603050405020304" pitchFamily="18" charset="0"/>
              </a:rPr>
              <a:t>5.6.2.2Ways to Undertake Marketing Intelligence</a:t>
            </a:r>
            <a:endParaRPr lang="en-US" sz="320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8900" y="990600"/>
            <a:ext cx="8521700" cy="5659755"/>
          </a:xfrm>
        </p:spPr>
        <p:txBody>
          <a:bodyPr/>
          <a:p>
            <a:pPr marL="457200" indent="-457200" algn="just">
              <a:buFont typeface="+mj-lt"/>
              <a:buAutoNum type="arabicPeriod"/>
            </a:pPr>
            <a:r>
              <a:rPr lang="en-US" sz="2400" b="1">
                <a:latin typeface="Times New Roman" panose="02020603050405020304" pitchFamily="18" charset="0"/>
                <a:cs typeface="Times New Roman" panose="02020603050405020304" pitchFamily="18" charset="0"/>
              </a:rPr>
              <a:t>Unfocused scanning:</a:t>
            </a:r>
            <a:r>
              <a:rPr lang="en-US" sz="2400">
                <a:latin typeface="Times New Roman" panose="02020603050405020304" pitchFamily="18" charset="0"/>
                <a:cs typeface="Times New Roman" panose="02020603050405020304" pitchFamily="18" charset="0"/>
              </a:rPr>
              <a:t> Gather any potentially useful information without a specific purpose.</a:t>
            </a:r>
            <a:endParaRPr lang="en-US" sz="2400">
              <a:latin typeface="Times New Roman" panose="02020603050405020304" pitchFamily="18" charset="0"/>
              <a:cs typeface="Times New Roman" panose="02020603050405020304" pitchFamily="18" charset="0"/>
            </a:endParaRPr>
          </a:p>
          <a:p>
            <a:pPr marL="457200" indent="-457200" algn="just">
              <a:buFont typeface="+mj-lt"/>
              <a:buAutoNum type="arabicPeriod"/>
            </a:pPr>
            <a:endParaRPr lang="en-US" sz="2400" b="1">
              <a:latin typeface="Times New Roman" panose="02020603050405020304" pitchFamily="18" charset="0"/>
              <a:cs typeface="Times New Roman" panose="02020603050405020304" pitchFamily="18" charset="0"/>
            </a:endParaRPr>
          </a:p>
          <a:p>
            <a:pPr marL="457200" indent="-457200" algn="just">
              <a:buFont typeface="+mj-lt"/>
              <a:buAutoNum type="arabicPeriod"/>
            </a:pPr>
            <a:r>
              <a:rPr lang="en-US" sz="2400" b="1">
                <a:latin typeface="Times New Roman" panose="02020603050405020304" pitchFamily="18" charset="0"/>
                <a:cs typeface="Times New Roman" panose="02020603050405020304" pitchFamily="18" charset="0"/>
              </a:rPr>
              <a:t>Semi-focused scanning:</a:t>
            </a:r>
            <a:r>
              <a:rPr lang="en-US" sz="2400">
                <a:latin typeface="Times New Roman" panose="02020603050405020304" pitchFamily="18" charset="0"/>
                <a:cs typeface="Times New Roman" panose="02020603050405020304" pitchFamily="18" charset="0"/>
              </a:rPr>
              <a:t> Focus on specific media types without targeting particular info.</a:t>
            </a:r>
            <a:endParaRPr lang="en-US" sz="2400">
              <a:latin typeface="Times New Roman" panose="02020603050405020304" pitchFamily="18" charset="0"/>
              <a:cs typeface="Times New Roman" panose="02020603050405020304" pitchFamily="18" charset="0"/>
            </a:endParaRPr>
          </a:p>
          <a:p>
            <a:pPr marL="457200" indent="-457200" algn="just">
              <a:buFont typeface="+mj-lt"/>
              <a:buAutoNum type="arabicPeriod"/>
            </a:pPr>
            <a:endParaRPr lang="en-US" sz="2400">
              <a:latin typeface="Times New Roman" panose="02020603050405020304" pitchFamily="18" charset="0"/>
              <a:cs typeface="Times New Roman" panose="02020603050405020304" pitchFamily="18" charset="0"/>
            </a:endParaRPr>
          </a:p>
          <a:p>
            <a:pPr marL="457200" indent="-457200" algn="just">
              <a:buFont typeface="+mj-lt"/>
              <a:buAutoNum type="arabicPeriod"/>
            </a:pPr>
            <a:r>
              <a:rPr lang="en-US" sz="2400" b="1">
                <a:latin typeface="Times New Roman" panose="02020603050405020304" pitchFamily="18" charset="0"/>
                <a:cs typeface="Times New Roman" panose="02020603050405020304" pitchFamily="18" charset="0"/>
              </a:rPr>
              <a:t>Informal search:</a:t>
            </a:r>
            <a:r>
              <a:rPr lang="en-US" sz="2400">
                <a:latin typeface="Times New Roman" panose="02020603050405020304" pitchFamily="18" charset="0"/>
                <a:cs typeface="Times New Roman" panose="02020603050405020304" pitchFamily="18" charset="0"/>
              </a:rPr>
              <a:t> Limited, unstructured information gathering for a specific purpose.</a:t>
            </a:r>
            <a:endParaRPr lang="en-US" sz="2400">
              <a:latin typeface="Times New Roman" panose="02020603050405020304" pitchFamily="18" charset="0"/>
              <a:cs typeface="Times New Roman" panose="02020603050405020304" pitchFamily="18" charset="0"/>
            </a:endParaRPr>
          </a:p>
          <a:p>
            <a:pPr marL="457200" indent="-457200" algn="just">
              <a:buFont typeface="+mj-lt"/>
              <a:buAutoNum type="arabicPeriod"/>
            </a:pPr>
            <a:endParaRPr lang="en-US" sz="2400">
              <a:latin typeface="Times New Roman" panose="02020603050405020304" pitchFamily="18" charset="0"/>
              <a:cs typeface="Times New Roman" panose="02020603050405020304" pitchFamily="18" charset="0"/>
            </a:endParaRPr>
          </a:p>
          <a:p>
            <a:pPr marL="457200" indent="-457200" algn="just">
              <a:buFont typeface="+mj-lt"/>
              <a:buAutoNum type="arabicPeriod"/>
            </a:pPr>
            <a:r>
              <a:rPr lang="en-US" sz="2400" b="1">
                <a:latin typeface="Times New Roman" panose="02020603050405020304" pitchFamily="18" charset="0"/>
                <a:cs typeface="Times New Roman" panose="02020603050405020304" pitchFamily="18" charset="0"/>
              </a:rPr>
              <a:t>Formal search:</a:t>
            </a:r>
            <a:r>
              <a:rPr lang="en-US" sz="2400">
                <a:latin typeface="Times New Roman" panose="02020603050405020304" pitchFamily="18" charset="0"/>
                <a:cs typeface="Times New Roman" panose="02020603050405020304" pitchFamily="18" charset="0"/>
              </a:rPr>
              <a:t> Systematic, purposeful search by the manager (less rigorous than research).</a:t>
            </a:r>
            <a:endParaRPr lang="en-US" sz="240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p>
            <a:pPr lvl="0"/>
            <a:fld id="{9A0DB2DC-4C9A-4742-B13C-FB6460FD3503}" type="slidenum">
              <a:rPr lang="zh-TW" altLang="en-US" dirty="0"/>
            </a:fld>
            <a:endParaRPr lang="zh-TW" altLang="en-US" dirty="0"/>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Solomon Melese,PhD</a:t>
            </a: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sz="3200">
                <a:latin typeface="Times New Roman" panose="02020603050405020304" pitchFamily="18" charset="0"/>
                <a:cs typeface="Times New Roman" panose="02020603050405020304" pitchFamily="18" charset="0"/>
              </a:rPr>
              <a:t>5.6.3 Competitive Analysis</a:t>
            </a:r>
            <a:endParaRPr lang="en-US" sz="320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8900" y="990600"/>
            <a:ext cx="8521700" cy="5659755"/>
          </a:xfrm>
        </p:spPr>
        <p:txBody>
          <a:bodyPr/>
          <a:p>
            <a:pPr marL="0" indent="0" algn="just">
              <a:buFont typeface="+mj-lt"/>
              <a:buNone/>
            </a:pPr>
            <a:r>
              <a:rPr lang="en-US" sz="2400" b="1">
                <a:latin typeface="Times New Roman" panose="02020603050405020304" pitchFamily="18" charset="0"/>
                <a:cs typeface="Times New Roman" panose="02020603050405020304" pitchFamily="18" charset="0"/>
              </a:rPr>
              <a:t>Purpose:</a:t>
            </a:r>
            <a:r>
              <a:rPr lang="en-US" sz="2400">
                <a:latin typeface="Times New Roman" panose="02020603050405020304" pitchFamily="18" charset="0"/>
                <a:cs typeface="Times New Roman" panose="02020603050405020304" pitchFamily="18" charset="0"/>
              </a:rPr>
              <a:t> Identify competitors’ strengths and weaknesses; design strategies to exploit opportunities and counter threats.</a:t>
            </a:r>
            <a:endParaRPr lang="en-US" sz="2400">
              <a:latin typeface="Times New Roman" panose="02020603050405020304" pitchFamily="18" charset="0"/>
              <a:cs typeface="Times New Roman" panose="02020603050405020304" pitchFamily="18" charset="0"/>
            </a:endParaRPr>
          </a:p>
          <a:p>
            <a:pPr marL="457200" indent="-457200" algn="just">
              <a:buFont typeface="+mj-lt"/>
              <a:buAutoNum type="arabicPeriod"/>
            </a:pPr>
            <a:endParaRPr lang="en-US" sz="2400">
              <a:latin typeface="Times New Roman" panose="02020603050405020304" pitchFamily="18" charset="0"/>
              <a:cs typeface="Times New Roman" panose="02020603050405020304" pitchFamily="18" charset="0"/>
            </a:endParaRPr>
          </a:p>
          <a:p>
            <a:pPr marL="0" indent="0" algn="just">
              <a:buFont typeface="+mj-lt"/>
              <a:buNone/>
            </a:pPr>
            <a:r>
              <a:rPr lang="en-US" sz="2400" b="1">
                <a:latin typeface="Times New Roman" panose="02020603050405020304" pitchFamily="18" charset="0"/>
                <a:cs typeface="Times New Roman" panose="02020603050405020304" pitchFamily="18" charset="0"/>
              </a:rPr>
              <a:t>Benefits:</a:t>
            </a:r>
            <a:endParaRPr lang="en-US" sz="2400" b="1">
              <a:latin typeface="Times New Roman" panose="02020603050405020304" pitchFamily="18" charset="0"/>
              <a:cs typeface="Times New Roman" panose="02020603050405020304" pitchFamily="18" charset="0"/>
            </a:endParaRPr>
          </a:p>
          <a:p>
            <a:pPr marL="457200" indent="-457200" algn="just">
              <a:buFont typeface="+mj-lt"/>
              <a:buAutoNum type="arabicPeriod"/>
            </a:pPr>
            <a:endParaRPr lang="en-US" sz="2400">
              <a:latin typeface="Times New Roman" panose="02020603050405020304" pitchFamily="18" charset="0"/>
              <a:cs typeface="Times New Roman" panose="02020603050405020304" pitchFamily="18" charset="0"/>
            </a:endParaRPr>
          </a:p>
          <a:p>
            <a:pPr algn="just"/>
            <a:r>
              <a:rPr lang="en-US" sz="2400">
                <a:latin typeface="Times New Roman" panose="02020603050405020304" pitchFamily="18" charset="0"/>
                <a:cs typeface="Times New Roman" panose="02020603050405020304" pitchFamily="18" charset="0"/>
              </a:rPr>
              <a:t>Understand competitive advantages/disadvantages</a:t>
            </a:r>
            <a:endParaRPr lang="en-US" sz="2400">
              <a:latin typeface="Times New Roman" panose="02020603050405020304" pitchFamily="18" charset="0"/>
              <a:cs typeface="Times New Roman" panose="02020603050405020304" pitchFamily="18" charset="0"/>
            </a:endParaRPr>
          </a:p>
          <a:p>
            <a:pPr algn="just"/>
            <a:endParaRPr lang="en-US" sz="2400">
              <a:latin typeface="Times New Roman" panose="02020603050405020304" pitchFamily="18" charset="0"/>
              <a:cs typeface="Times New Roman" panose="02020603050405020304" pitchFamily="18" charset="0"/>
            </a:endParaRPr>
          </a:p>
          <a:p>
            <a:pPr algn="just"/>
            <a:r>
              <a:rPr lang="en-US" sz="2400">
                <a:latin typeface="Times New Roman" panose="02020603050405020304" pitchFamily="18" charset="0"/>
                <a:cs typeface="Times New Roman" panose="02020603050405020304" pitchFamily="18" charset="0"/>
              </a:rPr>
              <a:t>Learn competitors’ past, present, and future strategies</a:t>
            </a:r>
            <a:endParaRPr lang="en-US" sz="2400">
              <a:latin typeface="Times New Roman" panose="02020603050405020304" pitchFamily="18" charset="0"/>
              <a:cs typeface="Times New Roman" panose="02020603050405020304" pitchFamily="18" charset="0"/>
            </a:endParaRPr>
          </a:p>
          <a:p>
            <a:pPr algn="just"/>
            <a:endParaRPr lang="en-US" sz="2400">
              <a:latin typeface="Times New Roman" panose="02020603050405020304" pitchFamily="18" charset="0"/>
              <a:cs typeface="Times New Roman" panose="02020603050405020304" pitchFamily="18" charset="0"/>
            </a:endParaRPr>
          </a:p>
          <a:p>
            <a:pPr algn="just"/>
            <a:r>
              <a:rPr lang="en-US" sz="2400">
                <a:latin typeface="Times New Roman" panose="02020603050405020304" pitchFamily="18" charset="0"/>
                <a:cs typeface="Times New Roman" panose="02020603050405020304" pitchFamily="18" charset="0"/>
              </a:rPr>
              <a:t>Develop informed strategies for competitive advantage</a:t>
            </a:r>
            <a:endParaRPr lang="en-US" sz="2400">
              <a:latin typeface="Times New Roman" panose="02020603050405020304" pitchFamily="18" charset="0"/>
              <a:cs typeface="Times New Roman" panose="02020603050405020304" pitchFamily="18" charset="0"/>
            </a:endParaRPr>
          </a:p>
          <a:p>
            <a:pPr algn="just"/>
            <a:endParaRPr lang="en-US" sz="2400">
              <a:latin typeface="Times New Roman" panose="02020603050405020304" pitchFamily="18" charset="0"/>
              <a:cs typeface="Times New Roman" panose="02020603050405020304" pitchFamily="18" charset="0"/>
            </a:endParaRPr>
          </a:p>
          <a:p>
            <a:pPr algn="just"/>
            <a:r>
              <a:rPr lang="en-US" sz="2400">
                <a:latin typeface="Times New Roman" panose="02020603050405020304" pitchFamily="18" charset="0"/>
                <a:cs typeface="Times New Roman" panose="02020603050405020304" pitchFamily="18" charset="0"/>
              </a:rPr>
              <a:t>Forecast returns from future investments</a:t>
            </a:r>
            <a:endParaRPr lang="en-US" sz="240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p>
            <a:pPr lvl="0"/>
            <a:fld id="{9A0DB2DC-4C9A-4742-B13C-FB6460FD3503}" type="slidenum">
              <a:rPr lang="zh-TW" altLang="en-US" dirty="0"/>
            </a:fld>
            <a:endParaRPr lang="zh-TW" altLang="en-US" dirty="0"/>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Solomon Melese,PhD</a:t>
            </a: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sz="3200">
                <a:latin typeface="Times New Roman" panose="02020603050405020304" pitchFamily="18" charset="0"/>
                <a:cs typeface="Times New Roman" panose="02020603050405020304" pitchFamily="18" charset="0"/>
              </a:rPr>
              <a:t>5.6.3.1Uses of Competitive Analysis</a:t>
            </a:r>
            <a:endParaRPr lang="en-US" sz="320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8900" y="990600"/>
            <a:ext cx="8521700" cy="5659755"/>
          </a:xfrm>
        </p:spPr>
        <p:txBody>
          <a:bodyPr/>
          <a:p>
            <a:pPr marL="0" indent="0" algn="just">
              <a:buFont typeface="+mj-lt"/>
              <a:buNone/>
            </a:pPr>
            <a:r>
              <a:rPr lang="en-US" sz="2400" b="1">
                <a:latin typeface="Times New Roman" panose="02020603050405020304" pitchFamily="18" charset="0"/>
                <a:cs typeface="Times New Roman" panose="02020603050405020304" pitchFamily="18" charset="0"/>
              </a:rPr>
              <a:t>Purpose:</a:t>
            </a:r>
            <a:r>
              <a:rPr lang="en-US" sz="2400">
                <a:latin typeface="Times New Roman" panose="02020603050405020304" pitchFamily="18" charset="0"/>
                <a:cs typeface="Times New Roman" panose="02020603050405020304" pitchFamily="18" charset="0"/>
              </a:rPr>
              <a:t> Identify competitors’ strengths and weaknesses; design strategies to exploit opportunities and counter threats.</a:t>
            </a:r>
            <a:endParaRPr lang="en-US" sz="2400">
              <a:latin typeface="Times New Roman" panose="02020603050405020304" pitchFamily="18" charset="0"/>
              <a:cs typeface="Times New Roman" panose="02020603050405020304" pitchFamily="18" charset="0"/>
            </a:endParaRPr>
          </a:p>
          <a:p>
            <a:pPr marL="457200" indent="-457200" algn="just">
              <a:buFont typeface="+mj-lt"/>
              <a:buAutoNum type="arabicPeriod"/>
            </a:pPr>
            <a:endParaRPr lang="en-US" sz="2400">
              <a:latin typeface="Times New Roman" panose="02020603050405020304" pitchFamily="18" charset="0"/>
              <a:cs typeface="Times New Roman" panose="02020603050405020304" pitchFamily="18" charset="0"/>
            </a:endParaRPr>
          </a:p>
          <a:p>
            <a:pPr marL="0" indent="0" algn="just">
              <a:buFont typeface="+mj-lt"/>
              <a:buNone/>
            </a:pPr>
            <a:r>
              <a:rPr lang="en-US" sz="2400" b="1">
                <a:latin typeface="Times New Roman" panose="02020603050405020304" pitchFamily="18" charset="0"/>
                <a:cs typeface="Times New Roman" panose="02020603050405020304" pitchFamily="18" charset="0"/>
              </a:rPr>
              <a:t>Benefits:</a:t>
            </a:r>
            <a:endParaRPr lang="en-US" sz="2400" b="1">
              <a:latin typeface="Times New Roman" panose="02020603050405020304" pitchFamily="18" charset="0"/>
              <a:cs typeface="Times New Roman" panose="02020603050405020304" pitchFamily="18" charset="0"/>
            </a:endParaRPr>
          </a:p>
          <a:p>
            <a:pPr marL="457200" indent="-457200" algn="just">
              <a:buFont typeface="+mj-lt"/>
              <a:buAutoNum type="arabicPeriod"/>
            </a:pPr>
            <a:endParaRPr lang="en-US" sz="2400">
              <a:latin typeface="Times New Roman" panose="02020603050405020304" pitchFamily="18" charset="0"/>
              <a:cs typeface="Times New Roman" panose="02020603050405020304" pitchFamily="18" charset="0"/>
            </a:endParaRPr>
          </a:p>
          <a:p>
            <a:pPr algn="just"/>
            <a:r>
              <a:rPr lang="en-US" sz="2400">
                <a:latin typeface="Times New Roman" panose="02020603050405020304" pitchFamily="18" charset="0"/>
                <a:cs typeface="Times New Roman" panose="02020603050405020304" pitchFamily="18" charset="0"/>
              </a:rPr>
              <a:t>Understand competitive advantages/disadvantages</a:t>
            </a:r>
            <a:endParaRPr lang="en-US" sz="2400">
              <a:latin typeface="Times New Roman" panose="02020603050405020304" pitchFamily="18" charset="0"/>
              <a:cs typeface="Times New Roman" panose="02020603050405020304" pitchFamily="18" charset="0"/>
            </a:endParaRPr>
          </a:p>
          <a:p>
            <a:pPr algn="just"/>
            <a:endParaRPr lang="en-US" sz="2400">
              <a:latin typeface="Times New Roman" panose="02020603050405020304" pitchFamily="18" charset="0"/>
              <a:cs typeface="Times New Roman" panose="02020603050405020304" pitchFamily="18" charset="0"/>
            </a:endParaRPr>
          </a:p>
          <a:p>
            <a:pPr algn="just"/>
            <a:r>
              <a:rPr lang="en-US" sz="2400">
                <a:latin typeface="Times New Roman" panose="02020603050405020304" pitchFamily="18" charset="0"/>
                <a:cs typeface="Times New Roman" panose="02020603050405020304" pitchFamily="18" charset="0"/>
              </a:rPr>
              <a:t>Learn competitors’ past, present, and future strategies</a:t>
            </a:r>
            <a:endParaRPr lang="en-US" sz="2400">
              <a:latin typeface="Times New Roman" panose="02020603050405020304" pitchFamily="18" charset="0"/>
              <a:cs typeface="Times New Roman" panose="02020603050405020304" pitchFamily="18" charset="0"/>
            </a:endParaRPr>
          </a:p>
          <a:p>
            <a:pPr algn="just"/>
            <a:endParaRPr lang="en-US" sz="2400">
              <a:latin typeface="Times New Roman" panose="02020603050405020304" pitchFamily="18" charset="0"/>
              <a:cs typeface="Times New Roman" panose="02020603050405020304" pitchFamily="18" charset="0"/>
            </a:endParaRPr>
          </a:p>
          <a:p>
            <a:pPr algn="just"/>
            <a:r>
              <a:rPr lang="en-US" sz="2400">
                <a:latin typeface="Times New Roman" panose="02020603050405020304" pitchFamily="18" charset="0"/>
                <a:cs typeface="Times New Roman" panose="02020603050405020304" pitchFamily="18" charset="0"/>
              </a:rPr>
              <a:t>Develop informed strategies for competitive advantage</a:t>
            </a:r>
            <a:endParaRPr lang="en-US" sz="2400">
              <a:latin typeface="Times New Roman" panose="02020603050405020304" pitchFamily="18" charset="0"/>
              <a:cs typeface="Times New Roman" panose="02020603050405020304" pitchFamily="18" charset="0"/>
            </a:endParaRPr>
          </a:p>
          <a:p>
            <a:pPr algn="just"/>
            <a:endParaRPr lang="en-US" sz="2400">
              <a:latin typeface="Times New Roman" panose="02020603050405020304" pitchFamily="18" charset="0"/>
              <a:cs typeface="Times New Roman" panose="02020603050405020304" pitchFamily="18" charset="0"/>
            </a:endParaRPr>
          </a:p>
          <a:p>
            <a:pPr algn="just"/>
            <a:r>
              <a:rPr lang="en-US" sz="2400">
                <a:latin typeface="Times New Roman" panose="02020603050405020304" pitchFamily="18" charset="0"/>
                <a:cs typeface="Times New Roman" panose="02020603050405020304" pitchFamily="18" charset="0"/>
              </a:rPr>
              <a:t>Forecast returns from future investments</a:t>
            </a:r>
            <a:endParaRPr lang="en-US" sz="240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p>
            <a:pPr lvl="0"/>
            <a:fld id="{9A0DB2DC-4C9A-4742-B13C-FB6460FD3503}" type="slidenum">
              <a:rPr lang="zh-TW" altLang="en-US" dirty="0"/>
            </a:fld>
            <a:endParaRPr lang="zh-TW" altLang="en-US" dirty="0"/>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Solomon Melese,PhD</a:t>
            </a: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sz="3200">
                <a:latin typeface="Times New Roman" panose="02020603050405020304" pitchFamily="18" charset="0"/>
                <a:cs typeface="Times New Roman" panose="02020603050405020304" pitchFamily="18" charset="0"/>
              </a:rPr>
              <a:t>Competitive Analysis Questions</a:t>
            </a:r>
            <a:endParaRPr lang="en-US" sz="320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8900" y="990600"/>
            <a:ext cx="8521700" cy="5659755"/>
          </a:xfrm>
        </p:spPr>
        <p:txBody>
          <a:bodyPr/>
          <a:p>
            <a:pPr algn="just"/>
            <a:r>
              <a:rPr lang="en-US" sz="2400">
                <a:latin typeface="Times New Roman" panose="02020603050405020304" pitchFamily="18" charset="0"/>
                <a:cs typeface="Times New Roman" panose="02020603050405020304" pitchFamily="18" charset="0"/>
              </a:rPr>
              <a:t>Who are your competitors?</a:t>
            </a:r>
            <a:endParaRPr lang="en-US" sz="2400">
              <a:latin typeface="Times New Roman" panose="02020603050405020304" pitchFamily="18" charset="0"/>
              <a:cs typeface="Times New Roman" panose="02020603050405020304" pitchFamily="18" charset="0"/>
            </a:endParaRPr>
          </a:p>
          <a:p>
            <a:pPr algn="just"/>
            <a:endParaRPr lang="en-US" sz="2400">
              <a:latin typeface="Times New Roman" panose="02020603050405020304" pitchFamily="18" charset="0"/>
              <a:cs typeface="Times New Roman" panose="02020603050405020304" pitchFamily="18" charset="0"/>
            </a:endParaRPr>
          </a:p>
          <a:p>
            <a:pPr algn="just"/>
            <a:r>
              <a:rPr lang="en-US" sz="2400">
                <a:latin typeface="Times New Roman" panose="02020603050405020304" pitchFamily="18" charset="0"/>
                <a:cs typeface="Times New Roman" panose="02020603050405020304" pitchFamily="18" charset="0"/>
              </a:rPr>
              <a:t>What customer needs are being addressed?</a:t>
            </a:r>
            <a:endParaRPr lang="en-US" sz="2400">
              <a:latin typeface="Times New Roman" panose="02020603050405020304" pitchFamily="18" charset="0"/>
              <a:cs typeface="Times New Roman" panose="02020603050405020304" pitchFamily="18" charset="0"/>
            </a:endParaRPr>
          </a:p>
          <a:p>
            <a:pPr algn="just"/>
            <a:endParaRPr lang="en-US" sz="2400">
              <a:latin typeface="Times New Roman" panose="02020603050405020304" pitchFamily="18" charset="0"/>
              <a:cs typeface="Times New Roman" panose="02020603050405020304" pitchFamily="18" charset="0"/>
            </a:endParaRPr>
          </a:p>
          <a:p>
            <a:pPr algn="just"/>
            <a:r>
              <a:rPr lang="en-US" sz="2400">
                <a:latin typeface="Times New Roman" panose="02020603050405020304" pitchFamily="18" charset="0"/>
                <a:cs typeface="Times New Roman" panose="02020603050405020304" pitchFamily="18" charset="0"/>
              </a:rPr>
              <a:t>How do their products/services compare to yours?</a:t>
            </a:r>
            <a:endParaRPr lang="en-US" sz="2400">
              <a:latin typeface="Times New Roman" panose="02020603050405020304" pitchFamily="18" charset="0"/>
              <a:cs typeface="Times New Roman" panose="02020603050405020304" pitchFamily="18" charset="0"/>
            </a:endParaRPr>
          </a:p>
          <a:p>
            <a:pPr algn="just"/>
            <a:endParaRPr lang="en-US" sz="2400">
              <a:latin typeface="Times New Roman" panose="02020603050405020304" pitchFamily="18" charset="0"/>
              <a:cs typeface="Times New Roman" panose="02020603050405020304" pitchFamily="18" charset="0"/>
            </a:endParaRPr>
          </a:p>
          <a:p>
            <a:pPr algn="just"/>
            <a:r>
              <a:rPr lang="en-US" sz="2400">
                <a:latin typeface="Times New Roman" panose="02020603050405020304" pitchFamily="18" charset="0"/>
                <a:cs typeface="Times New Roman" panose="02020603050405020304" pitchFamily="18" charset="0"/>
              </a:rPr>
              <a:t>What are their strengths and weaknesses?</a:t>
            </a:r>
            <a:endParaRPr lang="en-US" sz="2400">
              <a:latin typeface="Times New Roman" panose="02020603050405020304" pitchFamily="18" charset="0"/>
              <a:cs typeface="Times New Roman" panose="02020603050405020304" pitchFamily="18" charset="0"/>
            </a:endParaRPr>
          </a:p>
          <a:p>
            <a:pPr algn="just"/>
            <a:endParaRPr lang="en-US" sz="2400">
              <a:latin typeface="Times New Roman" panose="02020603050405020304" pitchFamily="18" charset="0"/>
              <a:cs typeface="Times New Roman" panose="02020603050405020304" pitchFamily="18" charset="0"/>
            </a:endParaRPr>
          </a:p>
          <a:p>
            <a:pPr algn="just"/>
            <a:r>
              <a:rPr lang="en-US" sz="2400">
                <a:latin typeface="Times New Roman" panose="02020603050405020304" pitchFamily="18" charset="0"/>
                <a:cs typeface="Times New Roman" panose="02020603050405020304" pitchFamily="18" charset="0"/>
              </a:rPr>
              <a:t>How do their prices compare to yours?</a:t>
            </a:r>
            <a:endParaRPr lang="en-US" sz="2400">
              <a:latin typeface="Times New Roman" panose="02020603050405020304" pitchFamily="18" charset="0"/>
              <a:cs typeface="Times New Roman" panose="02020603050405020304" pitchFamily="18" charset="0"/>
            </a:endParaRPr>
          </a:p>
          <a:p>
            <a:pPr algn="just"/>
            <a:endParaRPr lang="en-US" sz="2400">
              <a:latin typeface="Times New Roman" panose="02020603050405020304" pitchFamily="18" charset="0"/>
              <a:cs typeface="Times New Roman" panose="02020603050405020304" pitchFamily="18" charset="0"/>
            </a:endParaRPr>
          </a:p>
          <a:p>
            <a:pPr algn="just"/>
            <a:r>
              <a:rPr lang="en-US" sz="2400">
                <a:latin typeface="Times New Roman" panose="02020603050405020304" pitchFamily="18" charset="0"/>
                <a:cs typeface="Times New Roman" panose="02020603050405020304" pitchFamily="18" charset="0"/>
              </a:rPr>
              <a:t>How will you compete uniquely (quality, price, support, access)?</a:t>
            </a:r>
            <a:endParaRPr lang="en-US" sz="240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p>
            <a:pPr lvl="0"/>
            <a:fld id="{9A0DB2DC-4C9A-4742-B13C-FB6460FD3503}" type="slidenum">
              <a:rPr lang="zh-TW" altLang="en-US" dirty="0"/>
            </a:fld>
            <a:endParaRPr lang="zh-TW" altLang="en-US" dirty="0"/>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Solomon Melese,PhD</a:t>
            </a: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sz="3200">
                <a:latin typeface="Times New Roman" panose="02020603050405020304" pitchFamily="18" charset="0"/>
                <a:cs typeface="Times New Roman" panose="02020603050405020304" pitchFamily="18" charset="0"/>
              </a:rPr>
              <a:t>5.6.3.3 Steps of Competitive Analysis</a:t>
            </a:r>
            <a:endParaRPr lang="en-US" sz="320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8900" y="990600"/>
            <a:ext cx="8521700" cy="5659755"/>
          </a:xfrm>
        </p:spPr>
        <p:txBody>
          <a:bodyPr/>
          <a:p>
            <a:pPr marL="0" indent="0" algn="just">
              <a:buFont typeface="+mj-lt"/>
              <a:buNone/>
            </a:pPr>
            <a:r>
              <a:rPr lang="en-US" sz="2400" b="1">
                <a:latin typeface="Times New Roman" panose="02020603050405020304" pitchFamily="18" charset="0"/>
                <a:cs typeface="Times New Roman" panose="02020603050405020304" pitchFamily="18" charset="0"/>
              </a:rPr>
              <a:t>Purpose: </a:t>
            </a:r>
            <a:r>
              <a:rPr lang="en-US" sz="2400">
                <a:latin typeface="Times New Roman" panose="02020603050405020304" pitchFamily="18" charset="0"/>
                <a:cs typeface="Times New Roman" panose="02020603050405020304" pitchFamily="18" charset="0"/>
              </a:rPr>
              <a:t>Understand competitors and position strategically.</a:t>
            </a:r>
            <a:endParaRPr lang="en-US" sz="2400">
              <a:latin typeface="Times New Roman" panose="02020603050405020304" pitchFamily="18" charset="0"/>
              <a:cs typeface="Times New Roman" panose="02020603050405020304" pitchFamily="18" charset="0"/>
            </a:endParaRPr>
          </a:p>
          <a:p>
            <a:pPr marL="457200" indent="-457200" algn="just">
              <a:buFont typeface="+mj-lt"/>
              <a:buAutoNum type="arabicPeriod"/>
            </a:pPr>
            <a:endParaRPr lang="en-US" sz="2400">
              <a:latin typeface="Times New Roman" panose="02020603050405020304" pitchFamily="18" charset="0"/>
              <a:cs typeface="Times New Roman" panose="02020603050405020304" pitchFamily="18" charset="0"/>
            </a:endParaRPr>
          </a:p>
          <a:p>
            <a:pPr marL="457200" indent="-457200" algn="just">
              <a:buFont typeface="+mj-lt"/>
              <a:buAutoNum type="arabicPeriod"/>
            </a:pPr>
            <a:r>
              <a:rPr lang="en-US" sz="2400" b="1">
                <a:latin typeface="Times New Roman" panose="02020603050405020304" pitchFamily="18" charset="0"/>
                <a:cs typeface="Times New Roman" panose="02020603050405020304" pitchFamily="18" charset="0"/>
              </a:rPr>
              <a:t>Identify Competitors:</a:t>
            </a:r>
            <a:r>
              <a:rPr lang="en-US" sz="2400">
                <a:latin typeface="Times New Roman" panose="02020603050405020304" pitchFamily="18" charset="0"/>
                <a:cs typeface="Times New Roman" panose="02020603050405020304" pitchFamily="18" charset="0"/>
              </a:rPr>
              <a:t> Local &amp; international; anything that can draw customers away.</a:t>
            </a:r>
            <a:endParaRPr lang="en-US" sz="2400">
              <a:latin typeface="Times New Roman" panose="02020603050405020304" pitchFamily="18" charset="0"/>
              <a:cs typeface="Times New Roman" panose="02020603050405020304" pitchFamily="18" charset="0"/>
            </a:endParaRPr>
          </a:p>
          <a:p>
            <a:pPr marL="457200" indent="-457200" algn="just">
              <a:buFont typeface="+mj-lt"/>
              <a:buAutoNum type="arabicPeriod"/>
            </a:pPr>
            <a:r>
              <a:rPr lang="en-US" sz="2400" b="1">
                <a:latin typeface="Times New Roman" panose="02020603050405020304" pitchFamily="18" charset="0"/>
                <a:cs typeface="Times New Roman" panose="02020603050405020304" pitchFamily="18" charset="0"/>
              </a:rPr>
              <a:t>Gather Information:</a:t>
            </a:r>
            <a:r>
              <a:rPr lang="en-US" sz="2400">
                <a:latin typeface="Times New Roman" panose="02020603050405020304" pitchFamily="18" charset="0"/>
                <a:cs typeface="Times New Roman" panose="02020603050405020304" pitchFamily="18" charset="0"/>
              </a:rPr>
              <a:t> Markets served, benefits offered, products/services, pricing, promotion.</a:t>
            </a:r>
            <a:endParaRPr lang="en-US" sz="2400">
              <a:latin typeface="Times New Roman" panose="02020603050405020304" pitchFamily="18" charset="0"/>
              <a:cs typeface="Times New Roman" panose="02020603050405020304" pitchFamily="18" charset="0"/>
            </a:endParaRPr>
          </a:p>
          <a:p>
            <a:pPr marL="457200" indent="-457200" algn="just">
              <a:buFont typeface="+mj-lt"/>
              <a:buAutoNum type="arabicPeriod"/>
            </a:pPr>
            <a:r>
              <a:rPr lang="en-US" sz="2400" b="1">
                <a:latin typeface="Times New Roman" panose="02020603050405020304" pitchFamily="18" charset="0"/>
                <a:cs typeface="Times New Roman" panose="02020603050405020304" pitchFamily="18" charset="0"/>
              </a:rPr>
              <a:t>4)Gathering Information on Competitors:</a:t>
            </a:r>
            <a:r>
              <a:rPr lang="en-US" sz="2400">
                <a:latin typeface="Times New Roman" panose="02020603050405020304" pitchFamily="18" charset="0"/>
                <a:cs typeface="Times New Roman" panose="02020603050405020304" pitchFamily="18" charset="0"/>
              </a:rPr>
              <a:t> Competitor websites, trade shows, media, suppliers, customers, employees.</a:t>
            </a:r>
            <a:endParaRPr lang="en-US" sz="2400">
              <a:latin typeface="Times New Roman" panose="02020603050405020304" pitchFamily="18" charset="0"/>
              <a:cs typeface="Times New Roman" panose="02020603050405020304" pitchFamily="18" charset="0"/>
            </a:endParaRPr>
          </a:p>
          <a:p>
            <a:pPr marL="457200" indent="-457200" algn="just">
              <a:buFont typeface="+mj-lt"/>
              <a:buAutoNum type="arabicPeriod"/>
            </a:pPr>
            <a:r>
              <a:rPr lang="en-US" sz="2400" b="1">
                <a:latin typeface="Times New Roman" panose="02020603050405020304" pitchFamily="18" charset="0"/>
                <a:cs typeface="Times New Roman" panose="02020603050405020304" pitchFamily="18" charset="0"/>
              </a:rPr>
              <a:t>Analyze Competition:</a:t>
            </a:r>
            <a:r>
              <a:rPr lang="en-US" sz="2400">
                <a:latin typeface="Times New Roman" panose="02020603050405020304" pitchFamily="18" charset="0"/>
                <a:cs typeface="Times New Roman" panose="02020603050405020304" pitchFamily="18" charset="0"/>
              </a:rPr>
              <a:t> How to compete, overlooked segments, unmet customer needs.</a:t>
            </a:r>
            <a:endParaRPr lang="en-US" sz="2400">
              <a:latin typeface="Times New Roman" panose="02020603050405020304" pitchFamily="18" charset="0"/>
              <a:cs typeface="Times New Roman" panose="02020603050405020304" pitchFamily="18" charset="0"/>
            </a:endParaRPr>
          </a:p>
          <a:p>
            <a:pPr marL="457200" indent="-457200" algn="just">
              <a:buFont typeface="+mj-lt"/>
              <a:buAutoNum type="arabicPeriod"/>
            </a:pPr>
            <a:r>
              <a:rPr lang="en-US" sz="2400" b="1">
                <a:latin typeface="Times New Roman" panose="02020603050405020304" pitchFamily="18" charset="0"/>
                <a:cs typeface="Times New Roman" panose="02020603050405020304" pitchFamily="18" charset="0"/>
              </a:rPr>
              <a:t>Develop Pricing:</a:t>
            </a:r>
            <a:r>
              <a:rPr lang="en-US" sz="2400">
                <a:latin typeface="Times New Roman" panose="02020603050405020304" pitchFamily="18" charset="0"/>
                <a:cs typeface="Times New Roman" panose="02020603050405020304" pitchFamily="18" charset="0"/>
              </a:rPr>
              <a:t> Base on market value, costs, overhead, and profit; highlight value, don’t underprice.</a:t>
            </a:r>
            <a:endParaRPr lang="en-US" sz="2400">
              <a:latin typeface="Times New Roman" panose="02020603050405020304" pitchFamily="18" charset="0"/>
              <a:cs typeface="Times New Roman" panose="02020603050405020304" pitchFamily="18" charset="0"/>
            </a:endParaRPr>
          </a:p>
          <a:p>
            <a:pPr marL="0" indent="0" algn="just">
              <a:buFont typeface="+mj-lt"/>
              <a:buNone/>
            </a:pPr>
            <a:r>
              <a:rPr lang="en-US" sz="2400" b="1">
                <a:latin typeface="Times New Roman" panose="02020603050405020304" pitchFamily="18" charset="0"/>
                <a:cs typeface="Times New Roman" panose="02020603050405020304" pitchFamily="18" charset="0"/>
              </a:rPr>
              <a:t>Goal:</a:t>
            </a:r>
            <a:r>
              <a:rPr lang="en-US" sz="2400">
                <a:latin typeface="Times New Roman" panose="02020603050405020304" pitchFamily="18" charset="0"/>
                <a:cs typeface="Times New Roman" panose="02020603050405020304" pitchFamily="18" charset="0"/>
              </a:rPr>
              <a:t> Expand competitive advantage by turning competitors’ weaknesses into strengths.</a:t>
            </a:r>
            <a:endParaRPr lang="en-US" sz="240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p>
            <a:pPr lvl="0"/>
            <a:fld id="{9A0DB2DC-4C9A-4742-B13C-FB6460FD3503}" type="slidenum">
              <a:rPr lang="zh-TW" altLang="en-US" dirty="0"/>
            </a:fld>
            <a:endParaRPr lang="zh-TW" altLang="en-US" dirty="0"/>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Solomon Melese,PhD</a:t>
            </a: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sz="3200">
                <a:latin typeface="Times New Roman" panose="02020603050405020304" pitchFamily="18" charset="0"/>
                <a:cs typeface="Times New Roman" panose="02020603050405020304" pitchFamily="18" charset="0"/>
              </a:rPr>
              <a:t>5.6.3.3 Steps of Competitive Analysis</a:t>
            </a:r>
            <a:endParaRPr lang="en-US" sz="320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8900" y="990600"/>
            <a:ext cx="8521700" cy="5659755"/>
          </a:xfrm>
        </p:spPr>
        <p:txBody>
          <a:bodyPr/>
          <a:p>
            <a:pPr marL="0" indent="0" algn="just">
              <a:buFont typeface="+mj-lt"/>
              <a:buNone/>
            </a:pPr>
            <a:r>
              <a:rPr lang="en-US" sz="2400" b="1">
                <a:latin typeface="Times New Roman" panose="02020603050405020304" pitchFamily="18" charset="0"/>
                <a:cs typeface="Times New Roman" panose="02020603050405020304" pitchFamily="18" charset="0"/>
              </a:rPr>
              <a:t>Purpose: </a:t>
            </a:r>
            <a:r>
              <a:rPr lang="en-US" sz="2400">
                <a:latin typeface="Times New Roman" panose="02020603050405020304" pitchFamily="18" charset="0"/>
                <a:cs typeface="Times New Roman" panose="02020603050405020304" pitchFamily="18" charset="0"/>
              </a:rPr>
              <a:t>Understand competitors and position strategically.</a:t>
            </a:r>
            <a:endParaRPr lang="en-US" sz="2400">
              <a:latin typeface="Times New Roman" panose="02020603050405020304" pitchFamily="18" charset="0"/>
              <a:cs typeface="Times New Roman" panose="02020603050405020304" pitchFamily="18" charset="0"/>
            </a:endParaRPr>
          </a:p>
          <a:p>
            <a:pPr marL="457200" indent="-457200" algn="just">
              <a:buFont typeface="+mj-lt"/>
              <a:buAutoNum type="arabicPeriod"/>
            </a:pPr>
            <a:endParaRPr lang="en-US" sz="2400">
              <a:latin typeface="Times New Roman" panose="02020603050405020304" pitchFamily="18" charset="0"/>
              <a:cs typeface="Times New Roman" panose="02020603050405020304" pitchFamily="18" charset="0"/>
            </a:endParaRPr>
          </a:p>
          <a:p>
            <a:pPr marL="457200" indent="-457200" algn="just">
              <a:buFont typeface="+mj-lt"/>
              <a:buAutoNum type="arabicPeriod"/>
            </a:pPr>
            <a:r>
              <a:rPr lang="en-US" sz="2400" b="1">
                <a:latin typeface="Times New Roman" panose="02020603050405020304" pitchFamily="18" charset="0"/>
                <a:cs typeface="Times New Roman" panose="02020603050405020304" pitchFamily="18" charset="0"/>
              </a:rPr>
              <a:t>Identify Competitors:</a:t>
            </a:r>
            <a:r>
              <a:rPr lang="en-US" sz="2400">
                <a:latin typeface="Times New Roman" panose="02020603050405020304" pitchFamily="18" charset="0"/>
                <a:cs typeface="Times New Roman" panose="02020603050405020304" pitchFamily="18" charset="0"/>
              </a:rPr>
              <a:t> Local &amp; international; anything that can draw customers away.</a:t>
            </a:r>
            <a:endParaRPr lang="en-US" sz="2400">
              <a:latin typeface="Times New Roman" panose="02020603050405020304" pitchFamily="18" charset="0"/>
              <a:cs typeface="Times New Roman" panose="02020603050405020304" pitchFamily="18" charset="0"/>
            </a:endParaRPr>
          </a:p>
          <a:p>
            <a:pPr marL="457200" indent="-457200" algn="just">
              <a:buFont typeface="+mj-lt"/>
              <a:buAutoNum type="arabicPeriod"/>
            </a:pPr>
            <a:r>
              <a:rPr lang="en-US" sz="2400" b="1">
                <a:latin typeface="Times New Roman" panose="02020603050405020304" pitchFamily="18" charset="0"/>
                <a:cs typeface="Times New Roman" panose="02020603050405020304" pitchFamily="18" charset="0"/>
              </a:rPr>
              <a:t>Gather Information:</a:t>
            </a:r>
            <a:r>
              <a:rPr lang="en-US" sz="2400">
                <a:latin typeface="Times New Roman" panose="02020603050405020304" pitchFamily="18" charset="0"/>
                <a:cs typeface="Times New Roman" panose="02020603050405020304" pitchFamily="18" charset="0"/>
              </a:rPr>
              <a:t> Markets served, benefits offered, products/services, pricing, promotion.</a:t>
            </a:r>
            <a:endParaRPr lang="en-US" sz="2400">
              <a:latin typeface="Times New Roman" panose="02020603050405020304" pitchFamily="18" charset="0"/>
              <a:cs typeface="Times New Roman" panose="02020603050405020304" pitchFamily="18" charset="0"/>
            </a:endParaRPr>
          </a:p>
          <a:p>
            <a:pPr marL="457200" indent="-457200" algn="just">
              <a:buFont typeface="+mj-lt"/>
              <a:buAutoNum type="arabicPeriod"/>
            </a:pPr>
            <a:r>
              <a:rPr lang="en-US" sz="2400" b="1">
                <a:latin typeface="Times New Roman" panose="02020603050405020304" pitchFamily="18" charset="0"/>
                <a:cs typeface="Times New Roman" panose="02020603050405020304" pitchFamily="18" charset="0"/>
              </a:rPr>
              <a:t>4)Gathering Information on Competitors:</a:t>
            </a:r>
            <a:r>
              <a:rPr lang="en-US" sz="2400">
                <a:latin typeface="Times New Roman" panose="02020603050405020304" pitchFamily="18" charset="0"/>
                <a:cs typeface="Times New Roman" panose="02020603050405020304" pitchFamily="18" charset="0"/>
              </a:rPr>
              <a:t> Competitor websites, trade shows, media, suppliers, customers, employees.</a:t>
            </a:r>
            <a:endParaRPr lang="en-US" sz="2400">
              <a:latin typeface="Times New Roman" panose="02020603050405020304" pitchFamily="18" charset="0"/>
              <a:cs typeface="Times New Roman" panose="02020603050405020304" pitchFamily="18" charset="0"/>
            </a:endParaRPr>
          </a:p>
          <a:p>
            <a:pPr marL="457200" indent="-457200" algn="just">
              <a:buFont typeface="+mj-lt"/>
              <a:buAutoNum type="arabicPeriod"/>
            </a:pPr>
            <a:r>
              <a:rPr lang="en-US" sz="2400" b="1">
                <a:latin typeface="Times New Roman" panose="02020603050405020304" pitchFamily="18" charset="0"/>
                <a:cs typeface="Times New Roman" panose="02020603050405020304" pitchFamily="18" charset="0"/>
              </a:rPr>
              <a:t>Analyze Competition:</a:t>
            </a:r>
            <a:r>
              <a:rPr lang="en-US" sz="2400">
                <a:latin typeface="Times New Roman" panose="02020603050405020304" pitchFamily="18" charset="0"/>
                <a:cs typeface="Times New Roman" panose="02020603050405020304" pitchFamily="18" charset="0"/>
              </a:rPr>
              <a:t> How to compete, overlooked segments, unmet customer needs.</a:t>
            </a:r>
            <a:endParaRPr lang="en-US" sz="2400">
              <a:latin typeface="Times New Roman" panose="02020603050405020304" pitchFamily="18" charset="0"/>
              <a:cs typeface="Times New Roman" panose="02020603050405020304" pitchFamily="18" charset="0"/>
            </a:endParaRPr>
          </a:p>
          <a:p>
            <a:pPr marL="457200" indent="-457200" algn="just">
              <a:buFont typeface="+mj-lt"/>
              <a:buAutoNum type="arabicPeriod"/>
            </a:pPr>
            <a:r>
              <a:rPr lang="en-US" sz="2400" b="1">
                <a:latin typeface="Times New Roman" panose="02020603050405020304" pitchFamily="18" charset="0"/>
                <a:cs typeface="Times New Roman" panose="02020603050405020304" pitchFamily="18" charset="0"/>
              </a:rPr>
              <a:t>Develop Pricing:</a:t>
            </a:r>
            <a:r>
              <a:rPr lang="en-US" sz="2400">
                <a:latin typeface="Times New Roman" panose="02020603050405020304" pitchFamily="18" charset="0"/>
                <a:cs typeface="Times New Roman" panose="02020603050405020304" pitchFamily="18" charset="0"/>
              </a:rPr>
              <a:t> Base on market value, costs, overhead, and profit; highlight value, don’t underprice.</a:t>
            </a:r>
            <a:endParaRPr lang="en-US" sz="2400">
              <a:latin typeface="Times New Roman" panose="02020603050405020304" pitchFamily="18" charset="0"/>
              <a:cs typeface="Times New Roman" panose="02020603050405020304" pitchFamily="18" charset="0"/>
            </a:endParaRPr>
          </a:p>
          <a:p>
            <a:pPr marL="0" indent="0" algn="just">
              <a:buFont typeface="+mj-lt"/>
              <a:buNone/>
            </a:pPr>
            <a:r>
              <a:rPr lang="en-US" sz="2400" b="1">
                <a:latin typeface="Times New Roman" panose="02020603050405020304" pitchFamily="18" charset="0"/>
                <a:cs typeface="Times New Roman" panose="02020603050405020304" pitchFamily="18" charset="0"/>
              </a:rPr>
              <a:t>Goal:</a:t>
            </a:r>
            <a:r>
              <a:rPr lang="en-US" sz="2400">
                <a:latin typeface="Times New Roman" panose="02020603050405020304" pitchFamily="18" charset="0"/>
                <a:cs typeface="Times New Roman" panose="02020603050405020304" pitchFamily="18" charset="0"/>
              </a:rPr>
              <a:t> Expand competitive advantage by turning competitors’ weaknesses into strengths.</a:t>
            </a:r>
            <a:endParaRPr lang="en-US" sz="240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p>
            <a:pPr lvl="0"/>
            <a:fld id="{9A0DB2DC-4C9A-4742-B13C-FB6460FD3503}" type="slidenum">
              <a:rPr lang="zh-TW" altLang="en-US" dirty="0"/>
            </a:fld>
            <a:endParaRPr lang="zh-TW" altLang="en-US" dirty="0"/>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Solomon Melese,PhD</a:t>
            </a: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sz="3200">
                <a:latin typeface="Times New Roman" panose="02020603050405020304" pitchFamily="18" charset="0"/>
                <a:cs typeface="Times New Roman" panose="02020603050405020304" pitchFamily="18" charset="0"/>
              </a:rPr>
              <a:t>5.7The Marketing Mix and Marketing Strategies</a:t>
            </a:r>
            <a:br>
              <a:rPr lang="en-US" sz="3200">
                <a:latin typeface="Times New Roman" panose="02020603050405020304" pitchFamily="18" charset="0"/>
                <a:cs typeface="Times New Roman" panose="02020603050405020304" pitchFamily="18" charset="0"/>
              </a:rPr>
            </a:br>
            <a:r>
              <a:rPr lang="en-US" sz="3200">
                <a:latin typeface="Times New Roman" panose="02020603050405020304" pitchFamily="18" charset="0"/>
                <a:cs typeface="Times New Roman" panose="02020603050405020304" pitchFamily="18" charset="0"/>
              </a:rPr>
              <a:t>5.7.1The 4 P’s Of Marketing/The Marketing Mix</a:t>
            </a:r>
            <a:endParaRPr lang="en-US" sz="320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8900" y="990600"/>
            <a:ext cx="8521700" cy="5659755"/>
          </a:xfrm>
        </p:spPr>
        <p:txBody>
          <a:bodyPr/>
          <a:p>
            <a:pPr algn="just"/>
            <a:r>
              <a:rPr lang="en-US" sz="2400">
                <a:latin typeface="Times New Roman" panose="02020603050405020304" pitchFamily="18" charset="0"/>
                <a:cs typeface="Times New Roman" panose="02020603050405020304" pitchFamily="18" charset="0"/>
              </a:rPr>
              <a:t>The Marketing Mix consists of marketing variables that managers can control to influence customer purchase decisions.</a:t>
            </a:r>
            <a:endParaRPr lang="en-US" sz="2400">
              <a:latin typeface="Times New Roman" panose="02020603050405020304" pitchFamily="18" charset="0"/>
              <a:cs typeface="Times New Roman" panose="02020603050405020304" pitchFamily="18" charset="0"/>
            </a:endParaRPr>
          </a:p>
          <a:p>
            <a:pPr marL="0" indent="0" algn="just">
              <a:buFont typeface="+mj-lt"/>
              <a:buNone/>
            </a:pPr>
            <a:endParaRPr lang="en-US" sz="2400">
              <a:latin typeface="Times New Roman" panose="02020603050405020304" pitchFamily="18" charset="0"/>
              <a:cs typeface="Times New Roman" panose="02020603050405020304" pitchFamily="18" charset="0"/>
            </a:endParaRPr>
          </a:p>
          <a:p>
            <a:pPr marL="0" indent="0" algn="just">
              <a:buFont typeface="+mj-lt"/>
              <a:buNone/>
            </a:pPr>
            <a:r>
              <a:rPr lang="en-US" sz="2400" b="1">
                <a:latin typeface="Times New Roman" panose="02020603050405020304" pitchFamily="18" charset="0"/>
                <a:cs typeface="Times New Roman" panose="02020603050405020304" pitchFamily="18" charset="0"/>
              </a:rPr>
              <a:t>The 4 P’s:</a:t>
            </a:r>
            <a:endParaRPr lang="en-US" sz="2400" b="1">
              <a:latin typeface="Times New Roman" panose="02020603050405020304" pitchFamily="18" charset="0"/>
              <a:cs typeface="Times New Roman" panose="02020603050405020304" pitchFamily="18" charset="0"/>
            </a:endParaRPr>
          </a:p>
          <a:p>
            <a:pPr marL="0" indent="0" algn="just">
              <a:buFont typeface="+mj-lt"/>
              <a:buNone/>
            </a:pPr>
            <a:endParaRPr lang="en-US" sz="2400">
              <a:latin typeface="Times New Roman" panose="02020603050405020304" pitchFamily="18" charset="0"/>
              <a:cs typeface="Times New Roman" panose="02020603050405020304" pitchFamily="18" charset="0"/>
            </a:endParaRPr>
          </a:p>
          <a:p>
            <a:pPr marL="914400" lvl="1" indent="-457200" algn="just">
              <a:buFont typeface="+mj-lt"/>
              <a:buAutoNum type="arabicPeriod"/>
            </a:pPr>
            <a:r>
              <a:rPr lang="en-US" sz="2100">
                <a:latin typeface="Times New Roman" panose="02020603050405020304" pitchFamily="18" charset="0"/>
                <a:cs typeface="Times New Roman" panose="02020603050405020304" pitchFamily="18" charset="0"/>
              </a:rPr>
              <a:t>Product</a:t>
            </a:r>
            <a:endParaRPr lang="en-US" sz="2400">
              <a:latin typeface="Times New Roman" panose="02020603050405020304" pitchFamily="18" charset="0"/>
              <a:cs typeface="Times New Roman" panose="02020603050405020304" pitchFamily="18" charset="0"/>
            </a:endParaRPr>
          </a:p>
          <a:p>
            <a:pPr marL="914400" lvl="1" indent="-457200" algn="just">
              <a:buFont typeface="+mj-lt"/>
              <a:buAutoNum type="arabicPeriod"/>
            </a:pPr>
            <a:r>
              <a:rPr lang="en-US" sz="2100">
                <a:latin typeface="Times New Roman" panose="02020603050405020304" pitchFamily="18" charset="0"/>
                <a:cs typeface="Times New Roman" panose="02020603050405020304" pitchFamily="18" charset="0"/>
              </a:rPr>
              <a:t>Pricing</a:t>
            </a:r>
            <a:endParaRPr lang="en-US" sz="2400">
              <a:latin typeface="Times New Roman" panose="02020603050405020304" pitchFamily="18" charset="0"/>
              <a:cs typeface="Times New Roman" panose="02020603050405020304" pitchFamily="18" charset="0"/>
            </a:endParaRPr>
          </a:p>
          <a:p>
            <a:pPr marL="914400" lvl="1" indent="-457200" algn="just">
              <a:buFont typeface="+mj-lt"/>
              <a:buAutoNum type="arabicPeriod"/>
            </a:pPr>
            <a:r>
              <a:rPr lang="en-US" sz="2100">
                <a:latin typeface="Times New Roman" panose="02020603050405020304" pitchFamily="18" charset="0"/>
                <a:cs typeface="Times New Roman" panose="02020603050405020304" pitchFamily="18" charset="0"/>
              </a:rPr>
              <a:t>Place (Distribution)</a:t>
            </a:r>
            <a:endParaRPr lang="en-US" sz="2400">
              <a:latin typeface="Times New Roman" panose="02020603050405020304" pitchFamily="18" charset="0"/>
              <a:cs typeface="Times New Roman" panose="02020603050405020304" pitchFamily="18" charset="0"/>
            </a:endParaRPr>
          </a:p>
          <a:p>
            <a:pPr marL="914400" lvl="1" indent="-457200" algn="just">
              <a:buFont typeface="+mj-lt"/>
              <a:buAutoNum type="arabicPeriod"/>
            </a:pPr>
            <a:r>
              <a:rPr lang="en-US" sz="2100">
                <a:latin typeface="Times New Roman" panose="02020603050405020304" pitchFamily="18" charset="0"/>
                <a:cs typeface="Times New Roman" panose="02020603050405020304" pitchFamily="18" charset="0"/>
              </a:rPr>
              <a:t>Promotion</a:t>
            </a:r>
            <a:endParaRPr lang="en-US" sz="210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p>
            <a:pPr lvl="0"/>
            <a:fld id="{9A0DB2DC-4C9A-4742-B13C-FB6460FD3503}" type="slidenum">
              <a:rPr lang="zh-TW" altLang="en-US" dirty="0"/>
            </a:fld>
            <a:endParaRPr lang="zh-TW" altLang="en-US" dirty="0"/>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Solomon Melese,PhD</a:t>
            </a: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sz="3200">
                <a:latin typeface="Times New Roman" panose="02020603050405020304" pitchFamily="18" charset="0"/>
                <a:cs typeface="Times New Roman" panose="02020603050405020304" pitchFamily="18" charset="0"/>
              </a:rPr>
              <a:t>1. Product</a:t>
            </a:r>
            <a:endParaRPr lang="en-US" sz="320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8900" y="990600"/>
            <a:ext cx="8521700" cy="5659755"/>
          </a:xfrm>
        </p:spPr>
        <p:txBody>
          <a:bodyPr/>
          <a:p>
            <a:pPr algn="just"/>
            <a:r>
              <a:rPr lang="en-US" sz="2400">
                <a:latin typeface="Times New Roman" panose="02020603050405020304" pitchFamily="18" charset="0"/>
                <a:cs typeface="Times New Roman" panose="02020603050405020304" pitchFamily="18" charset="0"/>
              </a:rPr>
              <a:t>Goods/services produced for sale</a:t>
            </a:r>
            <a:endParaRPr lang="en-US" sz="2400">
              <a:latin typeface="Times New Roman" panose="02020603050405020304" pitchFamily="18" charset="0"/>
              <a:cs typeface="Times New Roman" panose="02020603050405020304" pitchFamily="18" charset="0"/>
            </a:endParaRPr>
          </a:p>
          <a:p>
            <a:pPr algn="just"/>
            <a:r>
              <a:rPr lang="en-US" sz="2400">
                <a:latin typeface="Times New Roman" panose="02020603050405020304" pitchFamily="18" charset="0"/>
                <a:cs typeface="Times New Roman" panose="02020603050405020304" pitchFamily="18" charset="0"/>
              </a:rPr>
              <a:t>Must meet customer needs and wants</a:t>
            </a:r>
            <a:endParaRPr lang="en-US" sz="2400">
              <a:latin typeface="Times New Roman" panose="02020603050405020304" pitchFamily="18" charset="0"/>
              <a:cs typeface="Times New Roman" panose="02020603050405020304" pitchFamily="18" charset="0"/>
            </a:endParaRPr>
          </a:p>
          <a:p>
            <a:pPr algn="just"/>
            <a:endParaRPr lang="en-US" sz="2400">
              <a:latin typeface="Times New Roman" panose="02020603050405020304" pitchFamily="18" charset="0"/>
              <a:cs typeface="Times New Roman" panose="02020603050405020304" pitchFamily="18" charset="0"/>
            </a:endParaRPr>
          </a:p>
          <a:p>
            <a:pPr marL="0" indent="0" algn="just">
              <a:buFont typeface="+mj-lt"/>
              <a:buNone/>
            </a:pPr>
            <a:r>
              <a:rPr lang="en-US" sz="2400" b="1">
                <a:latin typeface="Times New Roman" panose="02020603050405020304" pitchFamily="18" charset="0"/>
                <a:cs typeface="Times New Roman" panose="02020603050405020304" pitchFamily="18" charset="0"/>
              </a:rPr>
              <a:t>Key questions:</a:t>
            </a:r>
            <a:endParaRPr lang="en-US" sz="2400">
              <a:latin typeface="Times New Roman" panose="02020603050405020304" pitchFamily="18" charset="0"/>
              <a:cs typeface="Times New Roman" panose="02020603050405020304" pitchFamily="18" charset="0"/>
            </a:endParaRPr>
          </a:p>
          <a:p>
            <a:pPr algn="just"/>
            <a:r>
              <a:rPr lang="en-US" sz="2400">
                <a:latin typeface="Times New Roman" panose="02020603050405020304" pitchFamily="18" charset="0"/>
                <a:cs typeface="Times New Roman" panose="02020603050405020304" pitchFamily="18" charset="0"/>
              </a:rPr>
              <a:t>What products/services do I sell?</a:t>
            </a:r>
            <a:endParaRPr lang="en-US" sz="2400">
              <a:latin typeface="Times New Roman" panose="02020603050405020304" pitchFamily="18" charset="0"/>
              <a:cs typeface="Times New Roman" panose="02020603050405020304" pitchFamily="18" charset="0"/>
            </a:endParaRPr>
          </a:p>
          <a:p>
            <a:pPr algn="just"/>
            <a:r>
              <a:rPr lang="en-US" sz="2400">
                <a:latin typeface="Times New Roman" panose="02020603050405020304" pitchFamily="18" charset="0"/>
                <a:cs typeface="Times New Roman" panose="02020603050405020304" pitchFamily="18" charset="0"/>
              </a:rPr>
              <a:t>Do I have the products customers want?</a:t>
            </a:r>
            <a:endParaRPr lang="en-US" sz="2400">
              <a:latin typeface="Times New Roman" panose="02020603050405020304" pitchFamily="18" charset="0"/>
              <a:cs typeface="Times New Roman" panose="02020603050405020304" pitchFamily="18" charset="0"/>
            </a:endParaRPr>
          </a:p>
          <a:p>
            <a:pPr algn="just"/>
            <a:r>
              <a:rPr lang="en-US" sz="2400">
                <a:latin typeface="Times New Roman" panose="02020603050405020304" pitchFamily="18" charset="0"/>
                <a:cs typeface="Times New Roman" panose="02020603050405020304" pitchFamily="18" charset="0"/>
              </a:rPr>
              <a:t>Are there products that do not sell well?</a:t>
            </a:r>
            <a:endParaRPr lang="en-US" sz="2400">
              <a:latin typeface="Times New Roman" panose="02020603050405020304" pitchFamily="18" charset="0"/>
              <a:cs typeface="Times New Roman" panose="02020603050405020304" pitchFamily="18" charset="0"/>
            </a:endParaRPr>
          </a:p>
          <a:p>
            <a:pPr algn="just"/>
            <a:endParaRPr lang="en-US" sz="2400">
              <a:latin typeface="Times New Roman" panose="02020603050405020304" pitchFamily="18" charset="0"/>
              <a:cs typeface="Times New Roman" panose="02020603050405020304" pitchFamily="18" charset="0"/>
            </a:endParaRPr>
          </a:p>
          <a:p>
            <a:pPr algn="just">
              <a:buFont typeface="+mj-lt"/>
              <a:buNone/>
            </a:pPr>
            <a:r>
              <a:rPr lang="en-US" sz="2400" b="1">
                <a:latin typeface="Times New Roman" panose="02020603050405020304" pitchFamily="18" charset="0"/>
                <a:cs typeface="Times New Roman" panose="02020603050405020304" pitchFamily="18" charset="0"/>
              </a:rPr>
              <a:t>Actions:</a:t>
            </a:r>
            <a:endParaRPr lang="en-US" sz="2400" b="1">
              <a:latin typeface="Times New Roman" panose="02020603050405020304" pitchFamily="18" charset="0"/>
              <a:cs typeface="Times New Roman" panose="02020603050405020304" pitchFamily="18" charset="0"/>
            </a:endParaRPr>
          </a:p>
          <a:p>
            <a:pPr algn="just"/>
            <a:r>
              <a:rPr lang="en-US" sz="2400">
                <a:latin typeface="Times New Roman" panose="02020603050405020304" pitchFamily="18" charset="0"/>
                <a:cs typeface="Times New Roman" panose="02020603050405020304" pitchFamily="18" charset="0"/>
              </a:rPr>
              <a:t>Listen to customer preferences</a:t>
            </a:r>
            <a:endParaRPr lang="en-US" sz="2400">
              <a:latin typeface="Times New Roman" panose="02020603050405020304" pitchFamily="18" charset="0"/>
              <a:cs typeface="Times New Roman" panose="02020603050405020304" pitchFamily="18" charset="0"/>
            </a:endParaRPr>
          </a:p>
          <a:p>
            <a:pPr algn="just"/>
            <a:r>
              <a:rPr lang="en-US" sz="2400">
                <a:latin typeface="Times New Roman" panose="02020603050405020304" pitchFamily="18" charset="0"/>
                <a:cs typeface="Times New Roman" panose="02020603050405020304" pitchFamily="18" charset="0"/>
              </a:rPr>
              <a:t>Adapt products/services to changing needs</a:t>
            </a:r>
            <a:endParaRPr lang="en-US" sz="2400">
              <a:latin typeface="Times New Roman" panose="02020603050405020304" pitchFamily="18" charset="0"/>
              <a:cs typeface="Times New Roman" panose="02020603050405020304" pitchFamily="18" charset="0"/>
            </a:endParaRPr>
          </a:p>
          <a:p>
            <a:pPr algn="just"/>
            <a:r>
              <a:rPr lang="en-US" sz="2400">
                <a:latin typeface="Times New Roman" panose="02020603050405020304" pitchFamily="18" charset="0"/>
                <a:cs typeface="Times New Roman" panose="02020603050405020304" pitchFamily="18" charset="0"/>
              </a:rPr>
              <a:t>Research and find new customers if needed</a:t>
            </a:r>
            <a:endParaRPr lang="en-US" sz="240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p>
            <a:pPr lvl="0"/>
            <a:fld id="{9A0DB2DC-4C9A-4742-B13C-FB6460FD3503}" type="slidenum">
              <a:rPr lang="zh-TW" altLang="en-US" dirty="0"/>
            </a:fld>
            <a:endParaRPr lang="zh-TW" altLang="en-US" dirty="0"/>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Solomon Melese,PhD</a:t>
            </a: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sz="3200">
                <a:latin typeface="Times New Roman" panose="02020603050405020304" pitchFamily="18" charset="0"/>
                <a:cs typeface="Times New Roman" panose="02020603050405020304" pitchFamily="18" charset="0"/>
              </a:rPr>
              <a:t>2. Pricing</a:t>
            </a:r>
            <a:endParaRPr lang="en-US" sz="320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8900" y="990600"/>
            <a:ext cx="8521700" cy="5659755"/>
          </a:xfrm>
        </p:spPr>
        <p:txBody>
          <a:bodyPr/>
          <a:p>
            <a:pPr algn="just"/>
            <a:r>
              <a:rPr lang="en-US" sz="2400">
                <a:latin typeface="Times New Roman" panose="02020603050405020304" pitchFamily="18" charset="0"/>
                <a:cs typeface="Times New Roman" panose="02020603050405020304" pitchFamily="18" charset="0"/>
              </a:rPr>
              <a:t>Process of setting a price for products/services</a:t>
            </a:r>
            <a:endParaRPr lang="en-US" sz="2400">
              <a:latin typeface="Times New Roman" panose="02020603050405020304" pitchFamily="18" charset="0"/>
              <a:cs typeface="Times New Roman" panose="02020603050405020304" pitchFamily="18" charset="0"/>
            </a:endParaRPr>
          </a:p>
          <a:p>
            <a:pPr algn="just"/>
            <a:r>
              <a:rPr lang="en-US" sz="2400">
                <a:latin typeface="Times New Roman" panose="02020603050405020304" pitchFamily="18" charset="0"/>
                <a:cs typeface="Times New Roman" panose="02020603050405020304" pitchFamily="18" charset="0"/>
              </a:rPr>
              <a:t>Prices must be:</a:t>
            </a:r>
            <a:endParaRPr lang="en-US" sz="2400">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Low enough to attract customers</a:t>
            </a:r>
            <a:endParaRPr lang="en-US" sz="2100">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High enough to earn profit</a:t>
            </a:r>
            <a:endParaRPr lang="en-US" sz="2100">
              <a:latin typeface="Times New Roman" panose="02020603050405020304" pitchFamily="18" charset="0"/>
              <a:cs typeface="Times New Roman" panose="02020603050405020304" pitchFamily="18" charset="0"/>
            </a:endParaRPr>
          </a:p>
          <a:p>
            <a:pPr algn="just"/>
            <a:r>
              <a:rPr lang="en-US" sz="2400">
                <a:latin typeface="Times New Roman" panose="02020603050405020304" pitchFamily="18" charset="0"/>
                <a:cs typeface="Times New Roman" panose="02020603050405020304" pitchFamily="18" charset="0"/>
              </a:rPr>
              <a:t>To set price, know:</a:t>
            </a:r>
            <a:endParaRPr lang="en-US" sz="2400">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Costs</a:t>
            </a:r>
            <a:endParaRPr lang="en-US" sz="2100">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Customer willingness to pay</a:t>
            </a:r>
            <a:endParaRPr lang="en-US" sz="2100">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Competitors’ prices</a:t>
            </a:r>
            <a:endParaRPr lang="en-US" sz="2100">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How to make prices attractive</a:t>
            </a:r>
            <a:endParaRPr lang="en-US" sz="210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p>
            <a:pPr lvl="0"/>
            <a:fld id="{9A0DB2DC-4C9A-4742-B13C-FB6460FD3503}" type="slidenum">
              <a:rPr lang="zh-TW" altLang="en-US" dirty="0"/>
            </a:fld>
            <a:endParaRPr lang="zh-TW" altLang="en-US" dirty="0"/>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Solomon Melese,PhD</a:t>
            </a: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sz="3200">
                <a:latin typeface="Times New Roman" panose="02020603050405020304" pitchFamily="18" charset="0"/>
                <a:cs typeface="Times New Roman" panose="02020603050405020304" pitchFamily="18" charset="0"/>
              </a:rPr>
              <a:t>2. Pricing</a:t>
            </a:r>
            <a:endParaRPr lang="en-US" sz="320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8900" y="990600"/>
            <a:ext cx="8521700" cy="5659755"/>
          </a:xfrm>
        </p:spPr>
        <p:txBody>
          <a:bodyPr/>
          <a:p>
            <a:pPr algn="just"/>
            <a:r>
              <a:rPr lang="en-US" sz="2400">
                <a:latin typeface="Times New Roman" panose="02020603050405020304" pitchFamily="18" charset="0"/>
                <a:cs typeface="Times New Roman" panose="02020603050405020304" pitchFamily="18" charset="0"/>
              </a:rPr>
              <a:t>Process of setting a price for products/services</a:t>
            </a:r>
            <a:endParaRPr lang="en-US" sz="2400">
              <a:latin typeface="Times New Roman" panose="02020603050405020304" pitchFamily="18" charset="0"/>
              <a:cs typeface="Times New Roman" panose="02020603050405020304" pitchFamily="18" charset="0"/>
            </a:endParaRPr>
          </a:p>
          <a:p>
            <a:pPr algn="just"/>
            <a:r>
              <a:rPr lang="en-US" sz="2400">
                <a:latin typeface="Times New Roman" panose="02020603050405020304" pitchFamily="18" charset="0"/>
                <a:cs typeface="Times New Roman" panose="02020603050405020304" pitchFamily="18" charset="0"/>
              </a:rPr>
              <a:t>Prices must be:</a:t>
            </a:r>
            <a:endParaRPr lang="en-US" sz="2400">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Low enough to attract customers</a:t>
            </a:r>
            <a:endParaRPr lang="en-US" sz="2100">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High enough to earn profit</a:t>
            </a:r>
            <a:endParaRPr lang="en-US" sz="2100">
              <a:latin typeface="Times New Roman" panose="02020603050405020304" pitchFamily="18" charset="0"/>
              <a:cs typeface="Times New Roman" panose="02020603050405020304" pitchFamily="18" charset="0"/>
            </a:endParaRPr>
          </a:p>
          <a:p>
            <a:pPr algn="just"/>
            <a:r>
              <a:rPr lang="en-US" sz="2400">
                <a:latin typeface="Times New Roman" panose="02020603050405020304" pitchFamily="18" charset="0"/>
                <a:cs typeface="Times New Roman" panose="02020603050405020304" pitchFamily="18" charset="0"/>
              </a:rPr>
              <a:t>To set price, know:</a:t>
            </a:r>
            <a:endParaRPr lang="en-US" sz="2400">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Costs</a:t>
            </a:r>
            <a:endParaRPr lang="en-US" sz="2100">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Customer willingness to pay</a:t>
            </a:r>
            <a:endParaRPr lang="en-US" sz="2100">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Competitors’ prices</a:t>
            </a:r>
            <a:endParaRPr lang="en-US" sz="2100">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How to make prices attractive</a:t>
            </a:r>
            <a:endParaRPr lang="en-US" sz="210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p>
            <a:pPr lvl="0"/>
            <a:fld id="{9A0DB2DC-4C9A-4742-B13C-FB6460FD3503}" type="slidenum">
              <a:rPr lang="zh-TW" altLang="en-US" dirty="0"/>
            </a:fld>
            <a:endParaRPr lang="zh-TW" altLang="en-US" dirty="0"/>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Solomon Melese,PhD</a:t>
            </a: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sz="3200">
                <a:latin typeface="Times New Roman" panose="02020603050405020304" pitchFamily="18" charset="0"/>
                <a:cs typeface="Times New Roman" panose="02020603050405020304" pitchFamily="18" charset="0"/>
              </a:rPr>
              <a:t>3. Place (Distribution):</a:t>
            </a:r>
            <a:endParaRPr lang="en-US" sz="320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8900" y="990600"/>
            <a:ext cx="8521700" cy="5659755"/>
          </a:xfrm>
        </p:spPr>
        <p:txBody>
          <a:bodyPr/>
          <a:p>
            <a:pPr algn="just"/>
            <a:r>
              <a:rPr lang="en-US" sz="2400">
                <a:latin typeface="Times New Roman" panose="02020603050405020304" pitchFamily="18" charset="0"/>
                <a:cs typeface="Times New Roman" panose="02020603050405020304" pitchFamily="18" charset="0"/>
              </a:rPr>
              <a:t>Inform and attract customers to buy</a:t>
            </a:r>
            <a:endParaRPr lang="en-US" sz="2400">
              <a:latin typeface="Times New Roman" panose="02020603050405020304" pitchFamily="18" charset="0"/>
              <a:cs typeface="Times New Roman" panose="02020603050405020304" pitchFamily="18" charset="0"/>
            </a:endParaRPr>
          </a:p>
          <a:p>
            <a:pPr algn="just"/>
            <a:endParaRPr lang="en-US" sz="2400" b="1">
              <a:latin typeface="Times New Roman" panose="02020603050405020304" pitchFamily="18" charset="0"/>
              <a:cs typeface="Times New Roman" panose="02020603050405020304" pitchFamily="18" charset="0"/>
            </a:endParaRPr>
          </a:p>
          <a:p>
            <a:pPr algn="just"/>
            <a:r>
              <a:rPr lang="en-US" sz="2400" b="1">
                <a:latin typeface="Times New Roman" panose="02020603050405020304" pitchFamily="18" charset="0"/>
                <a:cs typeface="Times New Roman" panose="02020603050405020304" pitchFamily="18" charset="0"/>
              </a:rPr>
              <a:t>Includes:</a:t>
            </a:r>
            <a:r>
              <a:rPr lang="en-US" sz="2400">
                <a:latin typeface="Times New Roman" panose="02020603050405020304" pitchFamily="18" charset="0"/>
                <a:cs typeface="Times New Roman" panose="02020603050405020304" pitchFamily="18" charset="0"/>
              </a:rPr>
              <a:t> </a:t>
            </a:r>
            <a:endParaRPr lang="en-US" sz="2400">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Advertising, Sales Promotion, Publicity, Personal Selling</a:t>
            </a:r>
            <a:endParaRPr lang="en-US" sz="2100">
              <a:latin typeface="Times New Roman" panose="02020603050405020304" pitchFamily="18" charset="0"/>
              <a:cs typeface="Times New Roman" panose="02020603050405020304" pitchFamily="18" charset="0"/>
            </a:endParaRPr>
          </a:p>
          <a:p>
            <a:pPr algn="just"/>
            <a:endParaRPr lang="en-US" sz="2400">
              <a:latin typeface="Times New Roman" panose="02020603050405020304" pitchFamily="18" charset="0"/>
              <a:cs typeface="Times New Roman" panose="02020603050405020304" pitchFamily="18" charset="0"/>
            </a:endParaRPr>
          </a:p>
          <a:p>
            <a:pPr algn="just"/>
            <a:r>
              <a:rPr lang="en-US" sz="2400" b="1">
                <a:latin typeface="Times New Roman" panose="02020603050405020304" pitchFamily="18" charset="0"/>
                <a:cs typeface="Times New Roman" panose="02020603050405020304" pitchFamily="18" charset="0"/>
              </a:rPr>
              <a:t>Examples:</a:t>
            </a:r>
            <a:endParaRPr lang="en-US" sz="2400">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Signs, posters, handouts, business cards, photos, pricelists</a:t>
            </a:r>
            <a:endParaRPr lang="en-US" sz="2100">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Sales promotion: displays, trials, competitions, demonstrations, complementary products</a:t>
            </a:r>
            <a:r>
              <a:rPr lang="en-US" sz="1835">
                <a:latin typeface="Times New Roman" panose="02020603050405020304" pitchFamily="18" charset="0"/>
                <a:cs typeface="Times New Roman" panose="02020603050405020304" pitchFamily="18" charset="0"/>
              </a:rPr>
              <a:t>on</a:t>
            </a:r>
            <a:endParaRPr lang="en-US" sz="1835">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p>
            <a:pPr lvl="0"/>
            <a:fld id="{9A0DB2DC-4C9A-4742-B13C-FB6460FD3503}" type="slidenum">
              <a:rPr lang="zh-TW" altLang="en-US" dirty="0"/>
            </a:fld>
            <a:endParaRPr lang="zh-TW" altLang="en-US" dirty="0"/>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Solomon Melese,PhD</a:t>
            </a: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sz="3200">
                <a:latin typeface="Times New Roman" panose="02020603050405020304" pitchFamily="18" charset="0"/>
                <a:cs typeface="Times New Roman" panose="02020603050405020304" pitchFamily="18" charset="0"/>
              </a:rPr>
              <a:t>4. Promotion:</a:t>
            </a:r>
            <a:endParaRPr lang="en-US" sz="320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8900" y="990600"/>
            <a:ext cx="8521700" cy="5659755"/>
          </a:xfrm>
        </p:spPr>
        <p:txBody>
          <a:bodyPr/>
          <a:p>
            <a:pPr algn="just"/>
            <a:r>
              <a:rPr lang="en-US" sz="2400">
                <a:latin typeface="Times New Roman" panose="02020603050405020304" pitchFamily="18" charset="0"/>
                <a:cs typeface="Times New Roman" panose="02020603050405020304" pitchFamily="18" charset="0"/>
              </a:rPr>
              <a:t>Ways to deliver products to customers</a:t>
            </a:r>
            <a:endParaRPr lang="en-US" sz="2400">
              <a:latin typeface="Times New Roman" panose="02020603050405020304" pitchFamily="18" charset="0"/>
              <a:cs typeface="Times New Roman" panose="02020603050405020304" pitchFamily="18" charset="0"/>
            </a:endParaRPr>
          </a:p>
          <a:p>
            <a:pPr algn="just"/>
            <a:endParaRPr lang="en-US" sz="2400">
              <a:latin typeface="Times New Roman" panose="02020603050405020304" pitchFamily="18" charset="0"/>
              <a:cs typeface="Times New Roman" panose="02020603050405020304" pitchFamily="18" charset="0"/>
            </a:endParaRPr>
          </a:p>
          <a:p>
            <a:pPr algn="just"/>
            <a:r>
              <a:rPr lang="en-US" sz="2400" b="1">
                <a:latin typeface="Times New Roman" panose="02020603050405020304" pitchFamily="18" charset="0"/>
                <a:cs typeface="Times New Roman" panose="02020603050405020304" pitchFamily="18" charset="0"/>
              </a:rPr>
              <a:t>Methods:</a:t>
            </a:r>
            <a:endParaRPr lang="en-US" sz="2400" b="1">
              <a:latin typeface="Times New Roman" panose="02020603050405020304" pitchFamily="18" charset="0"/>
              <a:cs typeface="Times New Roman" panose="02020603050405020304" pitchFamily="18" charset="0"/>
            </a:endParaRPr>
          </a:p>
          <a:p>
            <a:pPr algn="just"/>
            <a:endParaRPr lang="en-US" sz="2400">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Direct: Selling to consumers directly</a:t>
            </a:r>
            <a:endParaRPr lang="en-US" sz="2100">
              <a:latin typeface="Times New Roman" panose="02020603050405020304" pitchFamily="18" charset="0"/>
              <a:cs typeface="Times New Roman" panose="02020603050405020304" pitchFamily="18" charset="0"/>
            </a:endParaRPr>
          </a:p>
          <a:p>
            <a:pPr algn="just"/>
            <a:endParaRPr lang="en-US" sz="2400">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Indirect: Retail and wholesale distribution</a:t>
            </a:r>
            <a:endParaRPr lang="en-US" sz="210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p>
            <a:pPr lvl="0"/>
            <a:fld id="{9A0DB2DC-4C9A-4742-B13C-FB6460FD3503}" type="slidenum">
              <a:rPr lang="zh-TW" altLang="en-US" dirty="0"/>
            </a:fld>
            <a:endParaRPr lang="zh-TW" altLang="en-US" dirty="0"/>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Solomon Melese,PhD</a:t>
            </a: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sz="3200">
                <a:latin typeface="Times New Roman" panose="02020603050405020304" pitchFamily="18" charset="0"/>
                <a:cs typeface="Times New Roman" panose="02020603050405020304" pitchFamily="18" charset="0"/>
              </a:rPr>
              <a:t>5.7.2 What Is Marketing Strategy?</a:t>
            </a:r>
            <a:endParaRPr lang="en-US" sz="320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8900" y="990600"/>
            <a:ext cx="8521700" cy="5659755"/>
          </a:xfrm>
        </p:spPr>
        <p:txBody>
          <a:bodyPr/>
          <a:p>
            <a:pPr algn="just"/>
            <a:r>
              <a:rPr lang="en-US" sz="2400">
                <a:latin typeface="Times New Roman" panose="02020603050405020304" pitchFamily="18" charset="0"/>
                <a:cs typeface="Times New Roman" panose="02020603050405020304" pitchFamily="18" charset="0"/>
              </a:rPr>
              <a:t>A process to focus limited resources on the greatest opportunities to increase sales and achieve competitive advantage.</a:t>
            </a:r>
            <a:endParaRPr lang="en-US" sz="2400">
              <a:latin typeface="Times New Roman" panose="02020603050405020304" pitchFamily="18" charset="0"/>
              <a:cs typeface="Times New Roman" panose="02020603050405020304" pitchFamily="18" charset="0"/>
            </a:endParaRPr>
          </a:p>
          <a:p>
            <a:pPr algn="just"/>
            <a:endParaRPr lang="en-US" sz="2400">
              <a:latin typeface="Times New Roman" panose="02020603050405020304" pitchFamily="18" charset="0"/>
              <a:cs typeface="Times New Roman" panose="02020603050405020304" pitchFamily="18" charset="0"/>
            </a:endParaRPr>
          </a:p>
          <a:p>
            <a:pPr algn="just"/>
            <a:r>
              <a:rPr lang="en-US" sz="2400" b="1">
                <a:latin typeface="Times New Roman" panose="02020603050405020304" pitchFamily="18" charset="0"/>
                <a:cs typeface="Times New Roman" panose="02020603050405020304" pitchFamily="18" charset="0"/>
              </a:rPr>
              <a:t>Combines: </a:t>
            </a:r>
            <a:r>
              <a:rPr lang="en-US" sz="2400">
                <a:latin typeface="Times New Roman" panose="02020603050405020304" pitchFamily="18" charset="0"/>
                <a:cs typeface="Times New Roman" panose="02020603050405020304" pitchFamily="18" charset="0"/>
              </a:rPr>
              <a:t>Product development, Promotion, Distribution, Pricing, Relationship management</a:t>
            </a:r>
            <a:endParaRPr lang="en-US" sz="2400">
              <a:latin typeface="Times New Roman" panose="02020603050405020304" pitchFamily="18" charset="0"/>
              <a:cs typeface="Times New Roman" panose="02020603050405020304" pitchFamily="18" charset="0"/>
            </a:endParaRPr>
          </a:p>
          <a:p>
            <a:pPr algn="just"/>
            <a:r>
              <a:rPr lang="en-US" sz="2400" b="1">
                <a:latin typeface="Times New Roman" panose="02020603050405020304" pitchFamily="18" charset="0"/>
                <a:cs typeface="Times New Roman" panose="02020603050405020304" pitchFamily="18" charset="0"/>
              </a:rPr>
              <a:t>Defines:</a:t>
            </a:r>
            <a:endParaRPr lang="en-US" sz="2400" b="1">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Target market segments</a:t>
            </a:r>
            <a:endParaRPr lang="en-US" sz="2100">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Positioning</a:t>
            </a:r>
            <a:endParaRPr lang="en-US" sz="2100">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Marketing mix</a:t>
            </a:r>
            <a:endParaRPr lang="en-US" sz="2100">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Resource allocation</a:t>
            </a:r>
            <a:endParaRPr lang="en-US" sz="2100">
              <a:latin typeface="Times New Roman" panose="02020603050405020304" pitchFamily="18" charset="0"/>
              <a:cs typeface="Times New Roman" panose="02020603050405020304" pitchFamily="18" charset="0"/>
            </a:endParaRPr>
          </a:p>
          <a:p>
            <a:pPr algn="just"/>
            <a:r>
              <a:rPr lang="en-US" sz="2400">
                <a:latin typeface="Times New Roman" panose="02020603050405020304" pitchFamily="18" charset="0"/>
                <a:cs typeface="Times New Roman" panose="02020603050405020304" pitchFamily="18" charset="0"/>
              </a:rPr>
              <a:t>Works best as part of the overall firm strategy to engage customers, prospects, and competitors.</a:t>
            </a:r>
            <a:endParaRPr lang="en-US" sz="240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p>
            <a:pPr lvl="0"/>
            <a:fld id="{9A0DB2DC-4C9A-4742-B13C-FB6460FD3503}" type="slidenum">
              <a:rPr lang="zh-TW" altLang="en-US" dirty="0"/>
            </a:fld>
            <a:endParaRPr lang="zh-TW" altLang="en-US" dirty="0"/>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Solomon Melese,PhD</a:t>
            </a: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sz="3200">
                <a:latin typeface="Times New Roman" panose="02020603050405020304" pitchFamily="18" charset="0"/>
                <a:cs typeface="Times New Roman" panose="02020603050405020304" pitchFamily="18" charset="0"/>
              </a:rPr>
              <a:t>1.Pricing Strategy</a:t>
            </a:r>
            <a:endParaRPr lang="en-US" sz="320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8900" y="990600"/>
            <a:ext cx="8521700" cy="5659755"/>
          </a:xfrm>
        </p:spPr>
        <p:txBody>
          <a:bodyPr/>
          <a:p>
            <a:pPr algn="just"/>
            <a:r>
              <a:rPr lang="en-US" sz="2000">
                <a:latin typeface="Times New Roman" panose="02020603050405020304" pitchFamily="18" charset="0"/>
                <a:cs typeface="Times New Roman" panose="02020603050405020304" pitchFamily="18" charset="0"/>
              </a:rPr>
              <a:t>Price is the value exchanged for satisfaction and utility (can include prestige or barter)</a:t>
            </a:r>
            <a:endParaRPr lang="en-US" sz="2000">
              <a:latin typeface="Times New Roman" panose="02020603050405020304" pitchFamily="18" charset="0"/>
              <a:cs typeface="Times New Roman" panose="02020603050405020304" pitchFamily="18" charset="0"/>
            </a:endParaRPr>
          </a:p>
          <a:p>
            <a:pPr algn="just"/>
            <a:endParaRPr lang="en-US" sz="2000">
              <a:latin typeface="Times New Roman" panose="02020603050405020304" pitchFamily="18" charset="0"/>
              <a:cs typeface="Times New Roman" panose="02020603050405020304" pitchFamily="18" charset="0"/>
            </a:endParaRPr>
          </a:p>
          <a:p>
            <a:pPr algn="just"/>
            <a:r>
              <a:rPr lang="en-US" sz="2000" b="1">
                <a:latin typeface="Times New Roman" panose="02020603050405020304" pitchFamily="18" charset="0"/>
                <a:cs typeface="Times New Roman" panose="02020603050405020304" pitchFamily="18" charset="0"/>
              </a:rPr>
              <a:t>Directly affects: </a:t>
            </a:r>
            <a:r>
              <a:rPr lang="en-US" sz="2000">
                <a:latin typeface="Times New Roman" panose="02020603050405020304" pitchFamily="18" charset="0"/>
                <a:cs typeface="Times New Roman" panose="02020603050405020304" pitchFamily="18" charset="0"/>
              </a:rPr>
              <a:t>Total Revenue (TR = Price × Quantity), </a:t>
            </a:r>
            <a:endParaRPr lang="en-US" sz="2000">
              <a:latin typeface="Times New Roman" panose="02020603050405020304" pitchFamily="18" charset="0"/>
              <a:cs typeface="Times New Roman" panose="02020603050405020304" pitchFamily="18" charset="0"/>
            </a:endParaRPr>
          </a:p>
          <a:p>
            <a:pPr algn="just"/>
            <a:r>
              <a:rPr lang="en-US" sz="2000">
                <a:latin typeface="Times New Roman" panose="02020603050405020304" pitchFamily="18" charset="0"/>
                <a:cs typeface="Times New Roman" panose="02020603050405020304" pitchFamily="18" charset="0"/>
              </a:rPr>
              <a:t>Profit t = TR – TC</a:t>
            </a:r>
            <a:endParaRPr lang="en-US" sz="2000">
              <a:latin typeface="Times New Roman" panose="02020603050405020304" pitchFamily="18" charset="0"/>
              <a:cs typeface="Times New Roman" panose="02020603050405020304" pitchFamily="18" charset="0"/>
            </a:endParaRPr>
          </a:p>
          <a:p>
            <a:pPr lvl="1" algn="just"/>
            <a:r>
              <a:rPr lang="en-US" sz="2000">
                <a:latin typeface="Times New Roman" panose="02020603050405020304" pitchFamily="18" charset="0"/>
                <a:cs typeface="Times New Roman" panose="02020603050405020304" pitchFamily="18" charset="0"/>
              </a:rPr>
              <a:t>Where, TR=Total Revenue, TC=Total Cost</a:t>
            </a:r>
            <a:endParaRPr lang="en-US" sz="2000">
              <a:latin typeface="Times New Roman" panose="02020603050405020304" pitchFamily="18" charset="0"/>
              <a:cs typeface="Times New Roman" panose="02020603050405020304" pitchFamily="18" charset="0"/>
            </a:endParaRPr>
          </a:p>
          <a:p>
            <a:pPr algn="just"/>
            <a:r>
              <a:rPr lang="en-US" sz="2000" b="1">
                <a:latin typeface="Times New Roman" panose="02020603050405020304" pitchFamily="18" charset="0"/>
                <a:cs typeface="Times New Roman" panose="02020603050405020304" pitchFamily="18" charset="0"/>
              </a:rPr>
              <a:t>Common strategies:</a:t>
            </a:r>
            <a:endParaRPr lang="en-US" sz="2000">
              <a:latin typeface="Times New Roman" panose="02020603050405020304" pitchFamily="18" charset="0"/>
              <a:cs typeface="Times New Roman" panose="02020603050405020304" pitchFamily="18" charset="0"/>
            </a:endParaRPr>
          </a:p>
          <a:p>
            <a:pPr algn="just"/>
            <a:r>
              <a:rPr lang="en-US" sz="2000" b="1">
                <a:latin typeface="Times New Roman" panose="02020603050405020304" pitchFamily="18" charset="0"/>
                <a:cs typeface="Times New Roman" panose="02020603050405020304" pitchFamily="18" charset="0"/>
              </a:rPr>
              <a:t>Price Skimmin</a:t>
            </a:r>
            <a:r>
              <a:rPr lang="en-US" sz="2000">
                <a:latin typeface="Times New Roman" panose="02020603050405020304" pitchFamily="18" charset="0"/>
                <a:cs typeface="Times New Roman" panose="02020603050405020304" pitchFamily="18" charset="0"/>
              </a:rPr>
              <a:t>g – High price for buyers who value uniqueness</a:t>
            </a:r>
            <a:endParaRPr lang="en-US" sz="2000">
              <a:latin typeface="Times New Roman" panose="02020603050405020304" pitchFamily="18" charset="0"/>
              <a:cs typeface="Times New Roman" panose="02020603050405020304" pitchFamily="18" charset="0"/>
            </a:endParaRPr>
          </a:p>
          <a:p>
            <a:pPr algn="just"/>
            <a:r>
              <a:rPr lang="en-US" sz="2000" b="1">
                <a:latin typeface="Times New Roman" panose="02020603050405020304" pitchFamily="18" charset="0"/>
                <a:cs typeface="Times New Roman" panose="02020603050405020304" pitchFamily="18" charset="0"/>
              </a:rPr>
              <a:t>Penetration Pricing –</a:t>
            </a:r>
            <a:r>
              <a:rPr lang="en-US" sz="2000">
                <a:latin typeface="Times New Roman" panose="02020603050405020304" pitchFamily="18" charset="0"/>
                <a:cs typeface="Times New Roman" panose="02020603050405020304" pitchFamily="18" charset="0"/>
              </a:rPr>
              <a:t> Lower than competitors to gain market share</a:t>
            </a:r>
            <a:endParaRPr lang="en-US" sz="2000">
              <a:latin typeface="Times New Roman" panose="02020603050405020304" pitchFamily="18" charset="0"/>
              <a:cs typeface="Times New Roman" panose="02020603050405020304" pitchFamily="18" charset="0"/>
            </a:endParaRPr>
          </a:p>
          <a:p>
            <a:pPr algn="just"/>
            <a:r>
              <a:rPr lang="en-US" sz="2000">
                <a:latin typeface="Times New Roman" panose="02020603050405020304" pitchFamily="18" charset="0"/>
                <a:cs typeface="Times New Roman" panose="02020603050405020304" pitchFamily="18" charset="0"/>
              </a:rPr>
              <a:t>Cost-plus Pricing – Price above unit cost</a:t>
            </a:r>
            <a:endParaRPr lang="en-US" sz="2000">
              <a:latin typeface="Times New Roman" panose="02020603050405020304" pitchFamily="18" charset="0"/>
              <a:cs typeface="Times New Roman" panose="02020603050405020304" pitchFamily="18" charset="0"/>
            </a:endParaRPr>
          </a:p>
          <a:p>
            <a:pPr algn="just"/>
            <a:r>
              <a:rPr lang="en-US" sz="2000">
                <a:latin typeface="Times New Roman" panose="02020603050405020304" pitchFamily="18" charset="0"/>
                <a:cs typeface="Times New Roman" panose="02020603050405020304" pitchFamily="18" charset="0"/>
              </a:rPr>
              <a:t>Mark-up Pricing – Add percentage to unit cost</a:t>
            </a:r>
            <a:endParaRPr lang="en-US" sz="2000">
              <a:latin typeface="Times New Roman" panose="02020603050405020304" pitchFamily="18" charset="0"/>
              <a:cs typeface="Times New Roman" panose="02020603050405020304" pitchFamily="18" charset="0"/>
            </a:endParaRPr>
          </a:p>
          <a:p>
            <a:pPr algn="just"/>
            <a:r>
              <a:rPr lang="en-US" sz="2000">
                <a:latin typeface="Times New Roman" panose="02020603050405020304" pitchFamily="18" charset="0"/>
                <a:cs typeface="Times New Roman" panose="02020603050405020304" pitchFamily="18" charset="0"/>
              </a:rPr>
              <a:t>Competition-Oriented Pricing – Focus on competitors’ prices</a:t>
            </a:r>
            <a:endParaRPr lang="en-US" sz="2000">
              <a:latin typeface="Times New Roman" panose="02020603050405020304" pitchFamily="18" charset="0"/>
              <a:cs typeface="Times New Roman" panose="02020603050405020304" pitchFamily="18" charset="0"/>
            </a:endParaRPr>
          </a:p>
          <a:p>
            <a:pPr algn="just"/>
            <a:endParaRPr lang="en-US" sz="2000">
              <a:latin typeface="Times New Roman" panose="02020603050405020304" pitchFamily="18" charset="0"/>
              <a:cs typeface="Times New Roman" panose="02020603050405020304" pitchFamily="18" charset="0"/>
            </a:endParaRPr>
          </a:p>
          <a:p>
            <a:pPr algn="just"/>
            <a:r>
              <a:rPr lang="en-US" sz="2000">
                <a:latin typeface="Times New Roman" panose="02020603050405020304" pitchFamily="18" charset="0"/>
                <a:cs typeface="Times New Roman" panose="02020603050405020304" pitchFamily="18" charset="0"/>
              </a:rPr>
              <a:t>Odd-even Pricing – Psychological pricing (e.g., $49.95 instead of $50)</a:t>
            </a:r>
            <a:endParaRPr lang="en-US" sz="200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p>
            <a:pPr lvl="0"/>
            <a:fld id="{9A0DB2DC-4C9A-4742-B13C-FB6460FD3503}" type="slidenum">
              <a:rPr lang="zh-TW" altLang="en-US" dirty="0"/>
            </a:fld>
            <a:endParaRPr lang="zh-TW" altLang="en-US" dirty="0"/>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Solomon Melese,PhD</a:t>
            </a: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sz="3200" b="1">
                <a:latin typeface="Times New Roman" panose="02020603050405020304" pitchFamily="18" charset="0"/>
                <a:cs typeface="Times New Roman" panose="02020603050405020304" pitchFamily="18" charset="0"/>
                <a:sym typeface="+mn-ea"/>
              </a:rPr>
              <a:t>Common strategies:</a:t>
            </a:r>
            <a:endParaRPr lang="en-US" sz="320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8900" y="990600"/>
            <a:ext cx="8521700" cy="5659755"/>
          </a:xfrm>
        </p:spPr>
        <p:txBody>
          <a:bodyPr/>
          <a:p>
            <a:pPr algn="just"/>
            <a:r>
              <a:rPr lang="en-US" sz="2400" b="1">
                <a:latin typeface="Times New Roman" panose="02020603050405020304" pitchFamily="18" charset="0"/>
                <a:cs typeface="Times New Roman" panose="02020603050405020304" pitchFamily="18" charset="0"/>
              </a:rPr>
              <a:t>Price Skimmin</a:t>
            </a:r>
            <a:r>
              <a:rPr lang="en-US" sz="2400">
                <a:latin typeface="Times New Roman" panose="02020603050405020304" pitchFamily="18" charset="0"/>
                <a:cs typeface="Times New Roman" panose="02020603050405020304" pitchFamily="18" charset="0"/>
              </a:rPr>
              <a:t>g : High price for buyers who value uniqueness</a:t>
            </a:r>
            <a:endParaRPr lang="en-US" sz="2400">
              <a:latin typeface="Times New Roman" panose="02020603050405020304" pitchFamily="18" charset="0"/>
              <a:cs typeface="Times New Roman" panose="02020603050405020304" pitchFamily="18" charset="0"/>
            </a:endParaRPr>
          </a:p>
          <a:p>
            <a:pPr algn="just"/>
            <a:r>
              <a:rPr lang="en-US" sz="2400" b="1">
                <a:latin typeface="Times New Roman" panose="02020603050405020304" pitchFamily="18" charset="0"/>
                <a:cs typeface="Times New Roman" panose="02020603050405020304" pitchFamily="18" charset="0"/>
              </a:rPr>
              <a:t>Penetration Pricing :</a:t>
            </a:r>
            <a:r>
              <a:rPr lang="en-US" sz="2400">
                <a:latin typeface="Times New Roman" panose="02020603050405020304" pitchFamily="18" charset="0"/>
                <a:cs typeface="Times New Roman" panose="02020603050405020304" pitchFamily="18" charset="0"/>
              </a:rPr>
              <a:t>Lower than competitors to gain market share</a:t>
            </a:r>
            <a:endParaRPr lang="en-US" sz="2400">
              <a:latin typeface="Times New Roman" panose="02020603050405020304" pitchFamily="18" charset="0"/>
              <a:cs typeface="Times New Roman" panose="02020603050405020304" pitchFamily="18" charset="0"/>
            </a:endParaRPr>
          </a:p>
          <a:p>
            <a:pPr algn="just"/>
            <a:r>
              <a:rPr lang="en-US" sz="2400" b="1">
                <a:latin typeface="Times New Roman" panose="02020603050405020304" pitchFamily="18" charset="0"/>
                <a:cs typeface="Times New Roman" panose="02020603050405020304" pitchFamily="18" charset="0"/>
              </a:rPr>
              <a:t>Cost-plus Pricing :</a:t>
            </a:r>
            <a:r>
              <a:rPr lang="en-US" sz="2400">
                <a:latin typeface="Times New Roman" panose="02020603050405020304" pitchFamily="18" charset="0"/>
                <a:cs typeface="Times New Roman" panose="02020603050405020304" pitchFamily="18" charset="0"/>
              </a:rPr>
              <a:t> Price above unit cost</a:t>
            </a:r>
            <a:endParaRPr lang="en-US" sz="2400">
              <a:latin typeface="Times New Roman" panose="02020603050405020304" pitchFamily="18" charset="0"/>
              <a:cs typeface="Times New Roman" panose="02020603050405020304" pitchFamily="18" charset="0"/>
            </a:endParaRPr>
          </a:p>
          <a:p>
            <a:pPr algn="just"/>
            <a:r>
              <a:rPr lang="en-US" sz="2400" b="1">
                <a:latin typeface="Times New Roman" panose="02020603050405020304" pitchFamily="18" charset="0"/>
                <a:cs typeface="Times New Roman" panose="02020603050405020304" pitchFamily="18" charset="0"/>
              </a:rPr>
              <a:t>Mark-up Pricing </a:t>
            </a:r>
            <a:r>
              <a:rPr lang="en-US" sz="2400">
                <a:latin typeface="Times New Roman" panose="02020603050405020304" pitchFamily="18" charset="0"/>
                <a:cs typeface="Times New Roman" panose="02020603050405020304" pitchFamily="18" charset="0"/>
              </a:rPr>
              <a:t>–:Add percentage to unit cost</a:t>
            </a:r>
            <a:endParaRPr lang="en-US" sz="2400">
              <a:latin typeface="Times New Roman" panose="02020603050405020304" pitchFamily="18" charset="0"/>
              <a:cs typeface="Times New Roman" panose="02020603050405020304" pitchFamily="18" charset="0"/>
            </a:endParaRPr>
          </a:p>
          <a:p>
            <a:pPr algn="just"/>
            <a:r>
              <a:rPr lang="en-US" sz="2400" b="1">
                <a:latin typeface="Times New Roman" panose="02020603050405020304" pitchFamily="18" charset="0"/>
                <a:cs typeface="Times New Roman" panose="02020603050405020304" pitchFamily="18" charset="0"/>
              </a:rPr>
              <a:t>Competition-Oriented Pricing</a:t>
            </a:r>
            <a:r>
              <a:rPr lang="en-US" sz="2400">
                <a:latin typeface="Times New Roman" panose="02020603050405020304" pitchFamily="18" charset="0"/>
                <a:cs typeface="Times New Roman" panose="02020603050405020304" pitchFamily="18" charset="0"/>
              </a:rPr>
              <a:t> : Focus on competitors’ prices</a:t>
            </a:r>
            <a:endParaRPr lang="en-US" sz="2400">
              <a:latin typeface="Times New Roman" panose="02020603050405020304" pitchFamily="18" charset="0"/>
              <a:cs typeface="Times New Roman" panose="02020603050405020304" pitchFamily="18" charset="0"/>
            </a:endParaRPr>
          </a:p>
          <a:p>
            <a:pPr algn="just"/>
            <a:endParaRPr lang="en-US" sz="2400">
              <a:latin typeface="Times New Roman" panose="02020603050405020304" pitchFamily="18" charset="0"/>
              <a:cs typeface="Times New Roman" panose="02020603050405020304" pitchFamily="18" charset="0"/>
            </a:endParaRPr>
          </a:p>
          <a:p>
            <a:pPr algn="just"/>
            <a:r>
              <a:rPr lang="en-US" sz="2400" b="1">
                <a:latin typeface="Times New Roman" panose="02020603050405020304" pitchFamily="18" charset="0"/>
                <a:cs typeface="Times New Roman" panose="02020603050405020304" pitchFamily="18" charset="0"/>
              </a:rPr>
              <a:t>Odd-even Pricing : </a:t>
            </a:r>
            <a:r>
              <a:rPr lang="en-US" sz="2400">
                <a:latin typeface="Times New Roman" panose="02020603050405020304" pitchFamily="18" charset="0"/>
                <a:cs typeface="Times New Roman" panose="02020603050405020304" pitchFamily="18" charset="0"/>
              </a:rPr>
              <a:t>Psychological pricing (e.g., $49.95 instead of $50)</a:t>
            </a:r>
            <a:endParaRPr lang="en-US" sz="240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p>
            <a:pPr lvl="0"/>
            <a:fld id="{9A0DB2DC-4C9A-4742-B13C-FB6460FD3503}" type="slidenum">
              <a:rPr lang="zh-TW" altLang="en-US" dirty="0"/>
            </a:fld>
            <a:endParaRPr lang="zh-TW" altLang="en-US" dirty="0"/>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Solomon Melese,PhD</a:t>
            </a: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sz="3200" b="1">
                <a:latin typeface="Times New Roman" panose="02020603050405020304" pitchFamily="18" charset="0"/>
                <a:cs typeface="Times New Roman" panose="02020603050405020304" pitchFamily="18" charset="0"/>
                <a:sym typeface="+mn-ea"/>
              </a:rPr>
              <a:t>2. Promotion Strategy</a:t>
            </a:r>
            <a:endParaRPr lang="en-US" sz="3200" b="1">
              <a:latin typeface="Times New Roman" panose="02020603050405020304" pitchFamily="18" charset="0"/>
              <a:cs typeface="Times New Roman" panose="02020603050405020304" pitchFamily="18" charset="0"/>
              <a:sym typeface="+mn-ea"/>
            </a:endParaRPr>
          </a:p>
        </p:txBody>
      </p:sp>
      <p:sp>
        <p:nvSpPr>
          <p:cNvPr id="3" name="Content Placeholder 2"/>
          <p:cNvSpPr>
            <a:spLocks noGrp="1"/>
          </p:cNvSpPr>
          <p:nvPr>
            <p:ph idx="1"/>
          </p:nvPr>
        </p:nvSpPr>
        <p:spPr>
          <a:xfrm>
            <a:off x="88900" y="990600"/>
            <a:ext cx="8521700" cy="5659755"/>
          </a:xfrm>
        </p:spPr>
        <p:txBody>
          <a:bodyPr/>
          <a:p>
            <a:pPr algn="just"/>
            <a:r>
              <a:rPr lang="en-US" sz="2400">
                <a:latin typeface="Times New Roman" panose="02020603050405020304" pitchFamily="18" charset="0"/>
                <a:cs typeface="Times New Roman" panose="02020603050405020304" pitchFamily="18" charset="0"/>
              </a:rPr>
              <a:t>Promotion is the communication of the company and its products to customers</a:t>
            </a:r>
            <a:endParaRPr lang="en-US" sz="2400">
              <a:latin typeface="Times New Roman" panose="02020603050405020304" pitchFamily="18" charset="0"/>
              <a:cs typeface="Times New Roman" panose="02020603050405020304" pitchFamily="18" charset="0"/>
            </a:endParaRPr>
          </a:p>
          <a:p>
            <a:pPr algn="just"/>
            <a:endParaRPr lang="en-US" sz="2400">
              <a:latin typeface="Times New Roman" panose="02020603050405020304" pitchFamily="18" charset="0"/>
              <a:cs typeface="Times New Roman" panose="02020603050405020304" pitchFamily="18" charset="0"/>
            </a:endParaRPr>
          </a:p>
          <a:p>
            <a:pPr algn="just"/>
            <a:r>
              <a:rPr lang="en-US" sz="2400" b="1">
                <a:latin typeface="Times New Roman" panose="02020603050405020304" pitchFamily="18" charset="0"/>
                <a:cs typeface="Times New Roman" panose="02020603050405020304" pitchFamily="18" charset="0"/>
              </a:rPr>
              <a:t>An organization’s promotional strategy can consist:</a:t>
            </a:r>
            <a:endParaRPr lang="en-US" sz="2400" b="1">
              <a:latin typeface="Times New Roman" panose="02020603050405020304" pitchFamily="18" charset="0"/>
              <a:cs typeface="Times New Roman" panose="02020603050405020304" pitchFamily="18" charset="0"/>
            </a:endParaRPr>
          </a:p>
          <a:p>
            <a:pPr algn="just"/>
            <a:endParaRPr lang="en-US" sz="2400">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Advertising :Paid, non-personal, mass communication</a:t>
            </a:r>
            <a:endParaRPr lang="en-US" sz="2100">
              <a:latin typeface="Times New Roman" panose="02020603050405020304" pitchFamily="18" charset="0"/>
              <a:cs typeface="Times New Roman" panose="02020603050405020304" pitchFamily="18" charset="0"/>
            </a:endParaRPr>
          </a:p>
          <a:p>
            <a:pPr algn="just"/>
            <a:endParaRPr lang="en-US" sz="2400">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Personal Selling : Two-way, face-to-face interaction</a:t>
            </a:r>
            <a:endParaRPr lang="en-US" sz="2100">
              <a:latin typeface="Times New Roman" panose="02020603050405020304" pitchFamily="18" charset="0"/>
              <a:cs typeface="Times New Roman" panose="02020603050405020304" pitchFamily="18" charset="0"/>
            </a:endParaRPr>
          </a:p>
          <a:p>
            <a:pPr algn="just"/>
            <a:endParaRPr lang="en-US" sz="2400">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Public Relations : Shape perceptions of company and products</a:t>
            </a:r>
            <a:endParaRPr lang="en-US" sz="2100">
              <a:latin typeface="Times New Roman" panose="02020603050405020304" pitchFamily="18" charset="0"/>
              <a:cs typeface="Times New Roman" panose="02020603050405020304" pitchFamily="18" charset="0"/>
            </a:endParaRPr>
          </a:p>
          <a:p>
            <a:pPr algn="just"/>
            <a:endParaRPr lang="en-US" sz="2400">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Sales Promotion : Short-term incentives (discounts, samples, prizes)</a:t>
            </a:r>
            <a:endParaRPr lang="en-US" sz="210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p>
            <a:pPr lvl="0"/>
            <a:fld id="{9A0DB2DC-4C9A-4742-B13C-FB6460FD3503}" type="slidenum">
              <a:rPr lang="zh-TW" altLang="en-US" dirty="0"/>
            </a:fld>
            <a:endParaRPr lang="zh-TW" altLang="en-US" dirty="0"/>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Solomon Melese,PhD</a:t>
            </a: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sz="3200" b="1">
                <a:latin typeface="Times New Roman" panose="02020603050405020304" pitchFamily="18" charset="0"/>
                <a:cs typeface="Times New Roman" panose="02020603050405020304" pitchFamily="18" charset="0"/>
                <a:sym typeface="+mn-ea"/>
              </a:rPr>
              <a:t>3. Distribution Strategy </a:t>
            </a:r>
            <a:endParaRPr lang="en-US" sz="3200" b="1">
              <a:latin typeface="Times New Roman" panose="02020603050405020304" pitchFamily="18" charset="0"/>
              <a:cs typeface="Times New Roman" panose="02020603050405020304" pitchFamily="18" charset="0"/>
              <a:sym typeface="+mn-ea"/>
            </a:endParaRPr>
          </a:p>
        </p:txBody>
      </p:sp>
      <p:sp>
        <p:nvSpPr>
          <p:cNvPr id="3" name="Content Placeholder 2"/>
          <p:cNvSpPr>
            <a:spLocks noGrp="1"/>
          </p:cNvSpPr>
          <p:nvPr>
            <p:ph idx="1"/>
          </p:nvPr>
        </p:nvSpPr>
        <p:spPr>
          <a:xfrm>
            <a:off x="88900" y="990600"/>
            <a:ext cx="8521700" cy="5659755"/>
          </a:xfrm>
        </p:spPr>
        <p:txBody>
          <a:bodyPr/>
          <a:p>
            <a:pPr algn="just"/>
            <a:r>
              <a:rPr lang="en-US" sz="2400">
                <a:latin typeface="Times New Roman" panose="02020603050405020304" pitchFamily="18" charset="0"/>
                <a:cs typeface="Times New Roman" panose="02020603050405020304" pitchFamily="18" charset="0"/>
              </a:rPr>
              <a:t>A successful product/service means nothing unless its benefits are communicated clearly to the target market.</a:t>
            </a:r>
            <a:endParaRPr lang="en-US" sz="2400">
              <a:latin typeface="Times New Roman" panose="02020603050405020304" pitchFamily="18" charset="0"/>
              <a:cs typeface="Times New Roman" panose="02020603050405020304" pitchFamily="18" charset="0"/>
            </a:endParaRPr>
          </a:p>
          <a:p>
            <a:pPr algn="just"/>
            <a:r>
              <a:rPr lang="en-US" sz="2400">
                <a:latin typeface="Times New Roman" panose="02020603050405020304" pitchFamily="18" charset="0"/>
                <a:cs typeface="Times New Roman" panose="02020603050405020304" pitchFamily="18" charset="0"/>
              </a:rPr>
              <a:t>For product-focused companies, establishing the most appropriate distribution strategies is key to maximizing sales and profits.</a:t>
            </a:r>
            <a:endParaRPr lang="en-US" sz="2400">
              <a:latin typeface="Times New Roman" panose="02020603050405020304" pitchFamily="18" charset="0"/>
              <a:cs typeface="Times New Roman" panose="02020603050405020304" pitchFamily="18" charset="0"/>
            </a:endParaRPr>
          </a:p>
          <a:p>
            <a:pPr algn="just"/>
            <a:r>
              <a:rPr lang="en-US" sz="2400" b="1">
                <a:latin typeface="Times New Roman" panose="02020603050405020304" pitchFamily="18" charset="0"/>
                <a:cs typeface="Times New Roman" panose="02020603050405020304" pitchFamily="18" charset="0"/>
              </a:rPr>
              <a:t>Common problems identified by researchers:</a:t>
            </a:r>
            <a:endParaRPr lang="en-US" sz="2400" b="1">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Unwillingness to establish different channels for different products</a:t>
            </a:r>
            <a:endParaRPr lang="en-US" sz="2100">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Fear of multiple channels due to distributor loyalty or inter-channel cannibalization</a:t>
            </a:r>
            <a:endParaRPr lang="en-US" sz="2100">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Failure to periodically update strategies</a:t>
            </a:r>
            <a:endParaRPr lang="en-US" sz="2100">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Lack of creativity</a:t>
            </a:r>
            <a:endParaRPr lang="en-US" sz="2100">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Resistance to change</a:t>
            </a:r>
            <a:endParaRPr lang="en-US" sz="210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p>
            <a:pPr lvl="0"/>
            <a:fld id="{9A0DB2DC-4C9A-4742-B13C-FB6460FD3503}" type="slidenum">
              <a:rPr lang="zh-TW" altLang="en-US" dirty="0"/>
            </a:fld>
            <a:endParaRPr lang="zh-TW" altLang="en-US" dirty="0"/>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Solomon Melese,PhD</a:t>
            </a: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sz="3200" b="1">
                <a:latin typeface="Times New Roman" panose="02020603050405020304" pitchFamily="18" charset="0"/>
                <a:cs typeface="Times New Roman" panose="02020603050405020304" pitchFamily="18" charset="0"/>
                <a:sym typeface="+mn-ea"/>
              </a:rPr>
              <a:t>Marketing Channels</a:t>
            </a:r>
            <a:endParaRPr lang="en-US" sz="3200" b="1">
              <a:latin typeface="Times New Roman" panose="02020603050405020304" pitchFamily="18" charset="0"/>
              <a:cs typeface="Times New Roman" panose="02020603050405020304" pitchFamily="18" charset="0"/>
              <a:sym typeface="+mn-ea"/>
            </a:endParaRPr>
          </a:p>
        </p:txBody>
      </p:sp>
      <p:sp>
        <p:nvSpPr>
          <p:cNvPr id="3" name="Content Placeholder 2"/>
          <p:cNvSpPr>
            <a:spLocks noGrp="1"/>
          </p:cNvSpPr>
          <p:nvPr>
            <p:ph idx="1"/>
          </p:nvPr>
        </p:nvSpPr>
        <p:spPr>
          <a:xfrm>
            <a:off x="88900" y="990600"/>
            <a:ext cx="8521700" cy="5659755"/>
          </a:xfrm>
        </p:spPr>
        <p:txBody>
          <a:bodyPr/>
          <a:p>
            <a:pPr algn="just"/>
            <a:r>
              <a:rPr lang="en-US" sz="2400">
                <a:latin typeface="Times New Roman" panose="02020603050405020304" pitchFamily="18" charset="0"/>
                <a:cs typeface="Times New Roman" panose="02020603050405020304" pitchFamily="18" charset="0"/>
              </a:rPr>
              <a:t>Marketing channels are individuals/organizations involved in making the product available for use or consumption.</a:t>
            </a:r>
            <a:endParaRPr lang="en-US" sz="2400">
              <a:latin typeface="Times New Roman" panose="02020603050405020304" pitchFamily="18" charset="0"/>
              <a:cs typeface="Times New Roman" panose="02020603050405020304" pitchFamily="18" charset="0"/>
            </a:endParaRPr>
          </a:p>
          <a:p>
            <a:pPr algn="just"/>
            <a:endParaRPr lang="en-US" sz="2400">
              <a:latin typeface="Times New Roman" panose="02020603050405020304" pitchFamily="18" charset="0"/>
              <a:cs typeface="Times New Roman" panose="02020603050405020304" pitchFamily="18" charset="0"/>
            </a:endParaRPr>
          </a:p>
          <a:p>
            <a:pPr algn="just"/>
            <a:r>
              <a:rPr lang="en-US" sz="2400">
                <a:latin typeface="Times New Roman" panose="02020603050405020304" pitchFamily="18" charset="0"/>
                <a:cs typeface="Times New Roman" panose="02020603050405020304" pitchFamily="18" charset="0"/>
              </a:rPr>
              <a:t>Channels improve exchange efficiency.</a:t>
            </a:r>
            <a:endParaRPr lang="en-US" sz="2400">
              <a:latin typeface="Times New Roman" panose="02020603050405020304" pitchFamily="18" charset="0"/>
              <a:cs typeface="Times New Roman" panose="02020603050405020304" pitchFamily="18" charset="0"/>
            </a:endParaRPr>
          </a:p>
          <a:p>
            <a:pPr algn="just"/>
            <a:endParaRPr lang="en-US" sz="2400">
              <a:latin typeface="Times New Roman" panose="02020603050405020304" pitchFamily="18" charset="0"/>
              <a:cs typeface="Times New Roman" panose="02020603050405020304" pitchFamily="18" charset="0"/>
            </a:endParaRPr>
          </a:p>
          <a:p>
            <a:pPr algn="just"/>
            <a:r>
              <a:rPr lang="en-US" sz="2400" b="1">
                <a:latin typeface="Times New Roman" panose="02020603050405020304" pitchFamily="18" charset="0"/>
                <a:cs typeface="Times New Roman" panose="02020603050405020304" pitchFamily="18" charset="0"/>
              </a:rPr>
              <a:t>Types of channels:</a:t>
            </a:r>
            <a:endParaRPr lang="en-US" sz="2400" b="1">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Direct channels: Producers and end users interact directly</a:t>
            </a:r>
            <a:endParaRPr lang="en-US" sz="2100">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Indirect channels: Intermediaries between seller and buyer</a:t>
            </a:r>
            <a:endParaRPr lang="en-US" sz="2100">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Examples: Merchant wholesalers, retailers, dealers, agents, brokers, manufacturer branches/offices</a:t>
            </a:r>
            <a:endParaRPr lang="en-US" sz="210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p>
            <a:pPr lvl="0"/>
            <a:fld id="{9A0DB2DC-4C9A-4742-B13C-FB6460FD3503}" type="slidenum">
              <a:rPr lang="zh-TW" altLang="en-US" dirty="0"/>
            </a:fld>
            <a:endParaRPr lang="zh-TW" altLang="en-US" dirty="0"/>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Solomon Melese,PhD</a:t>
            </a: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sz="3200" b="1">
                <a:latin typeface="Times New Roman" panose="02020603050405020304" pitchFamily="18" charset="0"/>
                <a:cs typeface="Times New Roman" panose="02020603050405020304" pitchFamily="18" charset="0"/>
                <a:sym typeface="+mn-ea"/>
              </a:rPr>
              <a:t>Channel Decision Importance</a:t>
            </a:r>
            <a:endParaRPr lang="en-US" sz="3200" b="1">
              <a:latin typeface="Times New Roman" panose="02020603050405020304" pitchFamily="18" charset="0"/>
              <a:cs typeface="Times New Roman" panose="02020603050405020304" pitchFamily="18" charset="0"/>
              <a:sym typeface="+mn-ea"/>
            </a:endParaRPr>
          </a:p>
        </p:txBody>
      </p:sp>
      <p:sp>
        <p:nvSpPr>
          <p:cNvPr id="3" name="Content Placeholder 2"/>
          <p:cNvSpPr>
            <a:spLocks noGrp="1"/>
          </p:cNvSpPr>
          <p:nvPr>
            <p:ph idx="1"/>
          </p:nvPr>
        </p:nvSpPr>
        <p:spPr>
          <a:xfrm>
            <a:off x="88900" y="990600"/>
            <a:ext cx="8521700" cy="5659755"/>
          </a:xfrm>
        </p:spPr>
        <p:txBody>
          <a:bodyPr/>
          <a:p>
            <a:pPr algn="just"/>
            <a:r>
              <a:rPr lang="en-US" sz="2400">
                <a:latin typeface="Times New Roman" panose="02020603050405020304" pitchFamily="18" charset="0"/>
                <a:cs typeface="Times New Roman" panose="02020603050405020304" pitchFamily="18" charset="0"/>
              </a:rPr>
              <a:t>Decisions about marketing channels are among the most critical tasks for management.</a:t>
            </a:r>
            <a:endParaRPr lang="en-US" sz="2400">
              <a:latin typeface="Times New Roman" panose="02020603050405020304" pitchFamily="18" charset="0"/>
              <a:cs typeface="Times New Roman" panose="02020603050405020304" pitchFamily="18" charset="0"/>
            </a:endParaRPr>
          </a:p>
          <a:p>
            <a:pPr algn="just"/>
            <a:endParaRPr lang="en-US" sz="2400">
              <a:latin typeface="Times New Roman" panose="02020603050405020304" pitchFamily="18" charset="0"/>
              <a:cs typeface="Times New Roman" panose="02020603050405020304" pitchFamily="18" charset="0"/>
            </a:endParaRPr>
          </a:p>
          <a:p>
            <a:pPr algn="just"/>
            <a:r>
              <a:rPr lang="en-US" sz="2400">
                <a:latin typeface="Times New Roman" panose="02020603050405020304" pitchFamily="18" charset="0"/>
                <a:cs typeface="Times New Roman" panose="02020603050405020304" pitchFamily="18" charset="0"/>
              </a:rPr>
              <a:t>Channel choice affects all other marketing decisions:</a:t>
            </a:r>
            <a:endParaRPr lang="en-US" sz="2400">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Pricing (direct vs. indirect channels)</a:t>
            </a:r>
            <a:endParaRPr lang="en-US" sz="2100">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Sales force requirements</a:t>
            </a:r>
            <a:endParaRPr lang="en-US" sz="2100">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Advertising strategies</a:t>
            </a:r>
            <a:endParaRPr lang="en-US" sz="2100">
              <a:latin typeface="Times New Roman" panose="02020603050405020304" pitchFamily="18" charset="0"/>
              <a:cs typeface="Times New Roman" panose="02020603050405020304" pitchFamily="18" charset="0"/>
            </a:endParaRPr>
          </a:p>
          <a:p>
            <a:pPr algn="just"/>
            <a:endParaRPr lang="en-US" sz="2400">
              <a:latin typeface="Times New Roman" panose="02020603050405020304" pitchFamily="18" charset="0"/>
              <a:cs typeface="Times New Roman" panose="02020603050405020304" pitchFamily="18" charset="0"/>
            </a:endParaRPr>
          </a:p>
          <a:p>
            <a:pPr algn="just"/>
            <a:r>
              <a:rPr lang="en-US" sz="2400">
                <a:latin typeface="Times New Roman" panose="02020603050405020304" pitchFamily="18" charset="0"/>
                <a:cs typeface="Times New Roman" panose="02020603050405020304" pitchFamily="18" charset="0"/>
              </a:rPr>
              <a:t>Example: Pricing depends on whether using direct channel, discount merchants, or high-quality boutiques.</a:t>
            </a:r>
            <a:endParaRPr lang="en-US" sz="240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p>
            <a:pPr lvl="0"/>
            <a:fld id="{9A0DB2DC-4C9A-4742-B13C-FB6460FD3503}" type="slidenum">
              <a:rPr lang="zh-TW" altLang="en-US" dirty="0"/>
            </a:fld>
            <a:endParaRPr lang="zh-TW" altLang="en-US" dirty="0"/>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Solomon Melese,PhD</a:t>
            </a: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sz="3200" b="1">
                <a:latin typeface="Times New Roman" panose="02020603050405020304" pitchFamily="18" charset="0"/>
                <a:cs typeface="Times New Roman" panose="02020603050405020304" pitchFamily="18" charset="0"/>
                <a:sym typeface="+mn-ea"/>
              </a:rPr>
              <a:t>Factors for Choosing Channels</a:t>
            </a:r>
            <a:endParaRPr lang="en-US" sz="3200" b="1">
              <a:latin typeface="Times New Roman" panose="02020603050405020304" pitchFamily="18" charset="0"/>
              <a:cs typeface="Times New Roman" panose="02020603050405020304" pitchFamily="18" charset="0"/>
              <a:sym typeface="+mn-ea"/>
            </a:endParaRPr>
          </a:p>
        </p:txBody>
      </p:sp>
      <p:sp>
        <p:nvSpPr>
          <p:cNvPr id="3" name="Content Placeholder 2"/>
          <p:cNvSpPr>
            <a:spLocks noGrp="1"/>
          </p:cNvSpPr>
          <p:nvPr>
            <p:ph idx="1"/>
          </p:nvPr>
        </p:nvSpPr>
        <p:spPr>
          <a:xfrm>
            <a:off x="88900" y="990600"/>
            <a:ext cx="8521700" cy="5659755"/>
          </a:xfrm>
        </p:spPr>
        <p:txBody>
          <a:bodyPr/>
          <a:p>
            <a:pPr algn="just"/>
            <a:r>
              <a:rPr lang="en-US" sz="2400" b="1">
                <a:latin typeface="Times New Roman" panose="02020603050405020304" pitchFamily="18" charset="0"/>
                <a:cs typeface="Times New Roman" panose="02020603050405020304" pitchFamily="18" charset="0"/>
              </a:rPr>
              <a:t>Factors to consider for the best distribution strategy:</a:t>
            </a:r>
            <a:endParaRPr lang="en-US" sz="2400" b="1">
              <a:latin typeface="Times New Roman" panose="02020603050405020304" pitchFamily="18" charset="0"/>
              <a:cs typeface="Times New Roman" panose="02020603050405020304" pitchFamily="18" charset="0"/>
            </a:endParaRPr>
          </a:p>
          <a:p>
            <a:pPr algn="just"/>
            <a:endParaRPr lang="en-US" sz="2400">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Company Factors: Financial, human, and technological capabilities</a:t>
            </a:r>
            <a:endParaRPr lang="en-US" sz="2100">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Market Characteristics: Geography, market density, market size, target market</a:t>
            </a:r>
            <a:endParaRPr lang="en-US" sz="2100">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Product Attributes: Perishability, value, sophistication</a:t>
            </a:r>
            <a:endParaRPr lang="en-US" sz="2100">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Environmental Forces: Competition, technology, culture</a:t>
            </a:r>
            <a:endParaRPr lang="en-US" sz="210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p>
            <a:pPr lvl="0"/>
            <a:fld id="{9A0DB2DC-4C9A-4742-B13C-FB6460FD3503}" type="slidenum">
              <a:rPr lang="zh-TW" altLang="en-US" dirty="0"/>
            </a:fld>
            <a:endParaRPr lang="zh-TW" altLang="en-US" dirty="0"/>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Solomon Melese,PhD</a:t>
            </a: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sz="3200" b="1">
                <a:latin typeface="Times New Roman" panose="02020603050405020304" pitchFamily="18" charset="0"/>
                <a:cs typeface="Times New Roman" panose="02020603050405020304" pitchFamily="18" charset="0"/>
                <a:sym typeface="+mn-ea"/>
              </a:rPr>
              <a:t>5.8Selling and of Customer Service</a:t>
            </a:r>
            <a:endParaRPr lang="en-US" sz="3200" b="1">
              <a:latin typeface="Times New Roman" panose="02020603050405020304" pitchFamily="18" charset="0"/>
              <a:cs typeface="Times New Roman" panose="02020603050405020304" pitchFamily="18" charset="0"/>
              <a:sym typeface="+mn-ea"/>
            </a:endParaRPr>
          </a:p>
        </p:txBody>
      </p:sp>
      <p:sp>
        <p:nvSpPr>
          <p:cNvPr id="3" name="Content Placeholder 2"/>
          <p:cNvSpPr>
            <a:spLocks noGrp="1"/>
          </p:cNvSpPr>
          <p:nvPr>
            <p:ph idx="1"/>
          </p:nvPr>
        </p:nvSpPr>
        <p:spPr>
          <a:xfrm>
            <a:off x="88900" y="990600"/>
            <a:ext cx="8521700" cy="5659755"/>
          </a:xfrm>
        </p:spPr>
        <p:txBody>
          <a:bodyPr/>
          <a:p>
            <a:pPr algn="just"/>
            <a:r>
              <a:rPr lang="en-US" sz="2400">
                <a:latin typeface="Times New Roman" panose="02020603050405020304" pitchFamily="18" charset="0"/>
                <a:cs typeface="Times New Roman" panose="02020603050405020304" pitchFamily="18" charset="0"/>
              </a:rPr>
              <a:t>Many employees do not fully understand what customer service is.</a:t>
            </a:r>
            <a:endParaRPr lang="en-US" sz="2400">
              <a:latin typeface="Times New Roman" panose="02020603050405020304" pitchFamily="18" charset="0"/>
              <a:cs typeface="Times New Roman" panose="02020603050405020304" pitchFamily="18" charset="0"/>
            </a:endParaRPr>
          </a:p>
          <a:p>
            <a:pPr algn="just"/>
            <a:r>
              <a:rPr lang="en-US" sz="2400">
                <a:latin typeface="Times New Roman" panose="02020603050405020304" pitchFamily="18" charset="0"/>
                <a:cs typeface="Times New Roman" panose="02020603050405020304" pitchFamily="18" charset="0"/>
              </a:rPr>
              <a:t>Customer service issues affect an organization’s success.</a:t>
            </a:r>
            <a:endParaRPr lang="en-US" sz="2400">
              <a:latin typeface="Times New Roman" panose="02020603050405020304" pitchFamily="18" charset="0"/>
              <a:cs typeface="Times New Roman" panose="02020603050405020304" pitchFamily="18" charset="0"/>
            </a:endParaRPr>
          </a:p>
          <a:p>
            <a:pPr algn="just"/>
            <a:r>
              <a:rPr lang="en-US" sz="2400">
                <a:latin typeface="Times New Roman" panose="02020603050405020304" pitchFamily="18" charset="0"/>
                <a:cs typeface="Times New Roman" panose="02020603050405020304" pitchFamily="18" charset="0"/>
              </a:rPr>
              <a:t>How service providers do their jobs, process paperwork, pursue accounts, and develop customer loyalty determines success.</a:t>
            </a:r>
            <a:endParaRPr lang="en-US" sz="2400">
              <a:latin typeface="Times New Roman" panose="02020603050405020304" pitchFamily="18" charset="0"/>
              <a:cs typeface="Times New Roman" panose="02020603050405020304" pitchFamily="18" charset="0"/>
            </a:endParaRPr>
          </a:p>
          <a:p>
            <a:pPr algn="just"/>
            <a:r>
              <a:rPr lang="en-US" sz="2400">
                <a:latin typeface="Times New Roman" panose="02020603050405020304" pitchFamily="18" charset="0"/>
                <a:cs typeface="Times New Roman" panose="02020603050405020304" pitchFamily="18" charset="0"/>
              </a:rPr>
              <a:t>Poor understanding of service delivery causes programs to fail.</a:t>
            </a:r>
            <a:endParaRPr lang="en-US" sz="2400">
              <a:latin typeface="Times New Roman" panose="02020603050405020304" pitchFamily="18" charset="0"/>
              <a:cs typeface="Times New Roman" panose="02020603050405020304" pitchFamily="18" charset="0"/>
            </a:endParaRPr>
          </a:p>
          <a:p>
            <a:pPr algn="just"/>
            <a:r>
              <a:rPr lang="en-US" sz="2400">
                <a:latin typeface="Times New Roman" panose="02020603050405020304" pitchFamily="18" charset="0"/>
                <a:cs typeface="Times New Roman" panose="02020603050405020304" pitchFamily="18" charset="0"/>
              </a:rPr>
              <a:t>Customer service is what happens between customer needs and receiving desired benefits.</a:t>
            </a:r>
            <a:endParaRPr lang="en-US" sz="240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p>
            <a:pPr lvl="0"/>
            <a:fld id="{9A0DB2DC-4C9A-4742-B13C-FB6460FD3503}" type="slidenum">
              <a:rPr lang="zh-TW" altLang="en-US" dirty="0"/>
            </a:fld>
            <a:endParaRPr lang="zh-TW" altLang="en-US" dirty="0"/>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Solomon Melese,PhD</a:t>
            </a: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sz="3200" b="1">
                <a:latin typeface="Times New Roman" panose="02020603050405020304" pitchFamily="18" charset="0"/>
                <a:cs typeface="Times New Roman" panose="02020603050405020304" pitchFamily="18" charset="0"/>
                <a:sym typeface="+mn-ea"/>
              </a:rPr>
              <a:t>5.8.1 The Concept of Service</a:t>
            </a:r>
            <a:endParaRPr lang="en-US" sz="3200" b="1">
              <a:latin typeface="Times New Roman" panose="02020603050405020304" pitchFamily="18" charset="0"/>
              <a:cs typeface="Times New Roman" panose="02020603050405020304" pitchFamily="18" charset="0"/>
              <a:sym typeface="+mn-ea"/>
            </a:endParaRPr>
          </a:p>
        </p:txBody>
      </p:sp>
      <p:sp>
        <p:nvSpPr>
          <p:cNvPr id="3" name="Content Placeholder 2"/>
          <p:cNvSpPr>
            <a:spLocks noGrp="1"/>
          </p:cNvSpPr>
          <p:nvPr>
            <p:ph idx="1"/>
          </p:nvPr>
        </p:nvSpPr>
        <p:spPr>
          <a:xfrm>
            <a:off x="88900" y="990600"/>
            <a:ext cx="8811260" cy="5659755"/>
          </a:xfrm>
        </p:spPr>
        <p:txBody>
          <a:bodyPr/>
          <a:p>
            <a:pPr algn="just"/>
            <a:r>
              <a:rPr lang="en-US" sz="2400" b="1">
                <a:latin typeface="Times New Roman" panose="02020603050405020304" pitchFamily="18" charset="0"/>
                <a:cs typeface="Times New Roman" panose="02020603050405020304" pitchFamily="18" charset="0"/>
              </a:rPr>
              <a:t>Service:</a:t>
            </a:r>
            <a:endParaRPr lang="en-US" sz="2400" b="1">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Activity undertaken to fulfill customer needs.</a:t>
            </a:r>
            <a:endParaRPr lang="en-US" sz="2100">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Intangible, may or may not be tied to a physical product.</a:t>
            </a:r>
            <a:endParaRPr lang="en-US" sz="2100">
              <a:latin typeface="Times New Roman" panose="02020603050405020304" pitchFamily="18" charset="0"/>
              <a:cs typeface="Times New Roman" panose="02020603050405020304" pitchFamily="18" charset="0"/>
            </a:endParaRPr>
          </a:p>
          <a:p>
            <a:pPr lvl="1" algn="just"/>
            <a:r>
              <a:rPr lang="en-US" sz="2100" b="1">
                <a:latin typeface="Times New Roman" panose="02020603050405020304" pitchFamily="18" charset="0"/>
                <a:cs typeface="Times New Roman" panose="02020603050405020304" pitchFamily="18" charset="0"/>
              </a:rPr>
              <a:t>Features:</a:t>
            </a:r>
            <a:r>
              <a:rPr lang="en-US" sz="2100">
                <a:latin typeface="Times New Roman" panose="02020603050405020304" pitchFamily="18" charset="0"/>
                <a:cs typeface="Times New Roman" panose="02020603050405020304" pitchFamily="18" charset="0"/>
              </a:rPr>
              <a:t> intangibility, inseparability, variability, perishability.</a:t>
            </a:r>
            <a:endParaRPr lang="en-US" sz="2100">
              <a:latin typeface="Times New Roman" panose="02020603050405020304" pitchFamily="18" charset="0"/>
              <a:cs typeface="Times New Roman" panose="02020603050405020304" pitchFamily="18" charset="0"/>
            </a:endParaRPr>
          </a:p>
          <a:p>
            <a:pPr lvl="1" algn="just"/>
            <a:r>
              <a:rPr lang="en-US" sz="2100" b="1">
                <a:latin typeface="Times New Roman" panose="02020603050405020304" pitchFamily="18" charset="0"/>
                <a:cs typeface="Times New Roman" panose="02020603050405020304" pitchFamily="18" charset="0"/>
              </a:rPr>
              <a:t>Characterized as: </a:t>
            </a:r>
            <a:r>
              <a:rPr lang="en-US" sz="2100">
                <a:latin typeface="Times New Roman" panose="02020603050405020304" pitchFamily="18" charset="0"/>
                <a:cs typeface="Times New Roman" panose="02020603050405020304" pitchFamily="18" charset="0"/>
              </a:rPr>
              <a:t>situational, difficult to measure, subjective, influenced by provider.</a:t>
            </a:r>
            <a:endParaRPr lang="en-US" sz="2100">
              <a:latin typeface="Times New Roman" panose="02020603050405020304" pitchFamily="18" charset="0"/>
              <a:cs typeface="Times New Roman" panose="02020603050405020304" pitchFamily="18" charset="0"/>
            </a:endParaRPr>
          </a:p>
          <a:p>
            <a:pPr algn="just"/>
            <a:endParaRPr lang="en-US" sz="2400">
              <a:latin typeface="Times New Roman" panose="02020603050405020304" pitchFamily="18" charset="0"/>
              <a:cs typeface="Times New Roman" panose="02020603050405020304" pitchFamily="18" charset="0"/>
            </a:endParaRPr>
          </a:p>
          <a:p>
            <a:pPr algn="just"/>
            <a:r>
              <a:rPr lang="en-US" sz="2400" b="1">
                <a:latin typeface="Times New Roman" panose="02020603050405020304" pitchFamily="18" charset="0"/>
                <a:cs typeface="Times New Roman" panose="02020603050405020304" pitchFamily="18" charset="0"/>
              </a:rPr>
              <a:t>Customer:</a:t>
            </a:r>
            <a:endParaRPr lang="en-US" sz="2400" b="1">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Person or organization buying a product/service for use or resale.</a:t>
            </a:r>
            <a:endParaRPr lang="en-US" sz="2100">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Can be internal (within organization) or external.</a:t>
            </a:r>
            <a:endParaRPr lang="en-US" sz="2100">
              <a:latin typeface="Times New Roman" panose="02020603050405020304" pitchFamily="18" charset="0"/>
              <a:cs typeface="Times New Roman" panose="02020603050405020304" pitchFamily="18" charset="0"/>
            </a:endParaRPr>
          </a:p>
          <a:p>
            <a:pPr lvl="1" algn="just"/>
            <a:r>
              <a:rPr lang="en-US" sz="2100">
                <a:latin typeface="Times New Roman" panose="02020603050405020304" pitchFamily="18" charset="0"/>
                <a:cs typeface="Times New Roman" panose="02020603050405020304" pitchFamily="18" charset="0"/>
              </a:rPr>
              <a:t>Understanding customers is key to delivering quality service.</a:t>
            </a:r>
            <a:endParaRPr lang="en-US" sz="210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p>
            <a:pPr lvl="0"/>
            <a:fld id="{9A0DB2DC-4C9A-4742-B13C-FB6460FD3503}" type="slidenum">
              <a:rPr lang="zh-TW" altLang="en-US" dirty="0"/>
            </a:fld>
            <a:endParaRPr lang="zh-TW" altLang="en-US" dirty="0"/>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Solomon Melese,PhD</a:t>
            </a: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sz="3200" b="1">
                <a:latin typeface="Times New Roman" panose="02020603050405020304" pitchFamily="18" charset="0"/>
                <a:cs typeface="Times New Roman" panose="02020603050405020304" pitchFamily="18" charset="0"/>
                <a:sym typeface="+mn-ea"/>
              </a:rPr>
              <a:t>5.8.2 The Concept of Customer</a:t>
            </a:r>
            <a:endParaRPr lang="en-US" sz="3200" b="1">
              <a:latin typeface="Times New Roman" panose="02020603050405020304" pitchFamily="18" charset="0"/>
              <a:cs typeface="Times New Roman" panose="02020603050405020304" pitchFamily="18" charset="0"/>
              <a:sym typeface="+mn-ea"/>
            </a:endParaRPr>
          </a:p>
        </p:txBody>
      </p:sp>
      <p:sp>
        <p:nvSpPr>
          <p:cNvPr id="3" name="Content Placeholder 2"/>
          <p:cNvSpPr>
            <a:spLocks noGrp="1"/>
          </p:cNvSpPr>
          <p:nvPr>
            <p:ph idx="1"/>
          </p:nvPr>
        </p:nvSpPr>
        <p:spPr>
          <a:xfrm>
            <a:off x="88900" y="990600"/>
            <a:ext cx="8811260" cy="5659755"/>
          </a:xfrm>
        </p:spPr>
        <p:txBody>
          <a:bodyPr/>
          <a:p>
            <a:pPr algn="just"/>
            <a:r>
              <a:rPr lang="en-US" sz="2400" b="1">
                <a:latin typeface="Times New Roman" panose="02020603050405020304" pitchFamily="18" charset="0"/>
                <a:cs typeface="Times New Roman" panose="02020603050405020304" pitchFamily="18" charset="0"/>
                <a:sym typeface="+mn-ea"/>
              </a:rPr>
              <a:t>Customer:</a:t>
            </a:r>
            <a:endParaRPr lang="en-US" sz="2400" b="1">
              <a:latin typeface="Times New Roman" panose="02020603050405020304" pitchFamily="18" charset="0"/>
              <a:cs typeface="Times New Roman" panose="02020603050405020304" pitchFamily="18" charset="0"/>
            </a:endParaRPr>
          </a:p>
          <a:p>
            <a:pPr lvl="1" algn="just"/>
            <a:r>
              <a:rPr lang="en-US" sz="2400">
                <a:latin typeface="Times New Roman" panose="02020603050405020304" pitchFamily="18" charset="0"/>
                <a:cs typeface="Times New Roman" panose="02020603050405020304" pitchFamily="18" charset="0"/>
                <a:sym typeface="+mn-ea"/>
              </a:rPr>
              <a:t>Person or organization buying a product/service for use or resale.</a:t>
            </a:r>
            <a:endParaRPr lang="en-US" sz="2400">
              <a:latin typeface="Times New Roman" panose="02020603050405020304" pitchFamily="18" charset="0"/>
              <a:cs typeface="Times New Roman" panose="02020603050405020304" pitchFamily="18" charset="0"/>
            </a:endParaRPr>
          </a:p>
          <a:p>
            <a:pPr lvl="1" algn="just"/>
            <a:r>
              <a:rPr lang="en-US" sz="2400">
                <a:latin typeface="Times New Roman" panose="02020603050405020304" pitchFamily="18" charset="0"/>
                <a:cs typeface="Times New Roman" panose="02020603050405020304" pitchFamily="18" charset="0"/>
                <a:sym typeface="+mn-ea"/>
              </a:rPr>
              <a:t>Can be internal (within organization) or external.</a:t>
            </a:r>
            <a:endParaRPr lang="en-US" sz="2400">
              <a:latin typeface="Times New Roman" panose="02020603050405020304" pitchFamily="18" charset="0"/>
              <a:cs typeface="Times New Roman" panose="02020603050405020304" pitchFamily="18" charset="0"/>
            </a:endParaRPr>
          </a:p>
          <a:p>
            <a:pPr lvl="1" algn="just"/>
            <a:r>
              <a:rPr lang="en-US" sz="2400">
                <a:latin typeface="Times New Roman" panose="02020603050405020304" pitchFamily="18" charset="0"/>
                <a:cs typeface="Times New Roman" panose="02020603050405020304" pitchFamily="18" charset="0"/>
                <a:sym typeface="+mn-ea"/>
              </a:rPr>
              <a:t>Understanding customers is key to delivering quality service.</a:t>
            </a:r>
            <a:endParaRPr lang="en-US" sz="210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p>
            <a:pPr lvl="0"/>
            <a:fld id="{9A0DB2DC-4C9A-4742-B13C-FB6460FD3503}" type="slidenum">
              <a:rPr lang="zh-TW" altLang="en-US" dirty="0"/>
            </a:fld>
            <a:endParaRPr lang="zh-TW" altLang="en-US" dirty="0"/>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Solomon Melese,PhD</a:t>
            </a: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sz="2800" b="1">
                <a:latin typeface="Times New Roman" panose="02020603050405020304" pitchFamily="18" charset="0"/>
                <a:cs typeface="Times New Roman" panose="02020603050405020304" pitchFamily="18" charset="0"/>
                <a:sym typeface="+mn-ea"/>
              </a:rPr>
              <a:t>5.8.3Strategic Activities needed for Quality Customer Service Delivery</a:t>
            </a:r>
            <a:endParaRPr lang="en-US" sz="2800" b="1">
              <a:latin typeface="Times New Roman" panose="02020603050405020304" pitchFamily="18" charset="0"/>
              <a:cs typeface="Times New Roman" panose="02020603050405020304" pitchFamily="18" charset="0"/>
              <a:sym typeface="+mn-ea"/>
            </a:endParaRPr>
          </a:p>
        </p:txBody>
      </p:sp>
      <p:sp>
        <p:nvSpPr>
          <p:cNvPr id="3" name="Content Placeholder 2"/>
          <p:cNvSpPr>
            <a:spLocks noGrp="1"/>
          </p:cNvSpPr>
          <p:nvPr>
            <p:ph idx="1"/>
          </p:nvPr>
        </p:nvSpPr>
        <p:spPr>
          <a:xfrm>
            <a:off x="88900" y="990600"/>
            <a:ext cx="8811260" cy="5659755"/>
          </a:xfrm>
        </p:spPr>
        <p:txBody>
          <a:bodyPr/>
          <a:p>
            <a:pPr algn="just"/>
            <a:r>
              <a:rPr lang="en-US" sz="2400" b="1">
                <a:latin typeface="Times New Roman" panose="02020603050405020304" pitchFamily="18" charset="0"/>
                <a:cs typeface="Times New Roman" panose="02020603050405020304" pitchFamily="18" charset="0"/>
                <a:sym typeface="+mn-ea"/>
              </a:rPr>
              <a:t>Strategic activities for consistent and excellent service delivery</a:t>
            </a:r>
            <a:r>
              <a:rPr lang="en-US" sz="2400">
                <a:latin typeface="Times New Roman" panose="02020603050405020304" pitchFamily="18" charset="0"/>
                <a:cs typeface="Times New Roman" panose="02020603050405020304" pitchFamily="18" charset="0"/>
                <a:sym typeface="+mn-ea"/>
              </a:rPr>
              <a:t>:</a:t>
            </a:r>
            <a:endParaRPr lang="en-US" sz="2400">
              <a:latin typeface="Times New Roman" panose="02020603050405020304" pitchFamily="18" charset="0"/>
              <a:cs typeface="Times New Roman" panose="02020603050405020304" pitchFamily="18" charset="0"/>
              <a:sym typeface="+mn-ea"/>
            </a:endParaRPr>
          </a:p>
          <a:p>
            <a:pPr marL="457200" indent="-457200" algn="just">
              <a:buFont typeface="+mj-lt"/>
              <a:buAutoNum type="arabicPeriod"/>
            </a:pPr>
            <a:r>
              <a:rPr lang="en-US" sz="2400">
                <a:latin typeface="Times New Roman" panose="02020603050405020304" pitchFamily="18" charset="0"/>
                <a:cs typeface="Times New Roman" panose="02020603050405020304" pitchFamily="18" charset="0"/>
                <a:sym typeface="+mn-ea"/>
              </a:rPr>
              <a:t>Establish a clear customer service strategy</a:t>
            </a:r>
            <a:endParaRPr lang="en-US" sz="2400">
              <a:latin typeface="Times New Roman" panose="02020603050405020304" pitchFamily="18" charset="0"/>
              <a:cs typeface="Times New Roman" panose="02020603050405020304" pitchFamily="18" charset="0"/>
              <a:sym typeface="+mn-ea"/>
            </a:endParaRPr>
          </a:p>
          <a:p>
            <a:pPr marL="457200" indent="-457200" algn="just">
              <a:buFont typeface="+mj-lt"/>
              <a:buAutoNum type="arabicPeriod"/>
            </a:pPr>
            <a:r>
              <a:rPr lang="en-US" sz="2400">
                <a:latin typeface="Times New Roman" panose="02020603050405020304" pitchFamily="18" charset="0"/>
                <a:cs typeface="Times New Roman" panose="02020603050405020304" pitchFamily="18" charset="0"/>
                <a:sym typeface="+mn-ea"/>
              </a:rPr>
              <a:t>Ensure correct people with the right skills are in place</a:t>
            </a:r>
            <a:endParaRPr lang="en-US" sz="2400">
              <a:latin typeface="Times New Roman" panose="02020603050405020304" pitchFamily="18" charset="0"/>
              <a:cs typeface="Times New Roman" panose="02020603050405020304" pitchFamily="18" charset="0"/>
              <a:sym typeface="+mn-ea"/>
            </a:endParaRPr>
          </a:p>
          <a:p>
            <a:pPr marL="457200" indent="-457200" algn="just">
              <a:buFont typeface="+mj-lt"/>
              <a:buAutoNum type="arabicPeriod"/>
            </a:pPr>
            <a:r>
              <a:rPr lang="en-US" sz="2400">
                <a:latin typeface="Times New Roman" panose="02020603050405020304" pitchFamily="18" charset="0"/>
                <a:cs typeface="Times New Roman" panose="02020603050405020304" pitchFamily="18" charset="0"/>
                <a:sym typeface="+mn-ea"/>
              </a:rPr>
              <a:t>Establish clear material service delivery processes</a:t>
            </a:r>
            <a:endParaRPr lang="en-US" sz="2400">
              <a:latin typeface="Times New Roman" panose="02020603050405020304" pitchFamily="18" charset="0"/>
              <a:cs typeface="Times New Roman" panose="02020603050405020304" pitchFamily="18" charset="0"/>
              <a:sym typeface="+mn-ea"/>
            </a:endParaRPr>
          </a:p>
          <a:p>
            <a:pPr marL="457200" indent="-457200" algn="just">
              <a:buFont typeface="+mj-lt"/>
              <a:buAutoNum type="arabicPeriod"/>
            </a:pPr>
            <a:r>
              <a:rPr lang="en-US" sz="2400">
                <a:latin typeface="Times New Roman" panose="02020603050405020304" pitchFamily="18" charset="0"/>
                <a:cs typeface="Times New Roman" panose="02020603050405020304" pitchFamily="18" charset="0"/>
                <a:sym typeface="+mn-ea"/>
              </a:rPr>
              <a:t>Continuous process improvement, quality monitoring, and recovery</a:t>
            </a:r>
            <a:endParaRPr lang="en-US" sz="2400">
              <a:latin typeface="Times New Roman" panose="02020603050405020304" pitchFamily="18" charset="0"/>
              <a:cs typeface="Times New Roman" panose="02020603050405020304" pitchFamily="18" charset="0"/>
              <a:sym typeface="+mn-ea"/>
            </a:endParaRPr>
          </a:p>
          <a:p>
            <a:pPr marL="457200" indent="-457200" algn="just">
              <a:buFont typeface="+mj-lt"/>
              <a:buAutoNum type="arabicPeriod"/>
            </a:pPr>
            <a:r>
              <a:rPr lang="en-US" sz="2400">
                <a:latin typeface="Times New Roman" panose="02020603050405020304" pitchFamily="18" charset="0"/>
                <a:cs typeface="Times New Roman" panose="02020603050405020304" pitchFamily="18" charset="0"/>
                <a:sym typeface="+mn-ea"/>
              </a:rPr>
              <a:t>Participatory management</a:t>
            </a:r>
            <a:endParaRPr lang="en-US" sz="2400">
              <a:latin typeface="Times New Roman" panose="02020603050405020304" pitchFamily="18" charset="0"/>
              <a:cs typeface="Times New Roman" panose="02020603050405020304" pitchFamily="18" charset="0"/>
              <a:sym typeface="+mn-ea"/>
            </a:endParaRPr>
          </a:p>
          <a:p>
            <a:pPr marL="457200" indent="-457200" algn="just">
              <a:buFont typeface="+mj-lt"/>
              <a:buAutoNum type="arabicPeriod"/>
            </a:pPr>
            <a:endParaRPr lang="en-US" sz="2400">
              <a:latin typeface="Times New Roman" panose="02020603050405020304" pitchFamily="18" charset="0"/>
              <a:cs typeface="Times New Roman" panose="02020603050405020304" pitchFamily="18" charset="0"/>
              <a:sym typeface="+mn-ea"/>
            </a:endParaRPr>
          </a:p>
          <a:p>
            <a:pPr marL="457200" indent="-457200" algn="just"/>
            <a:r>
              <a:rPr lang="en-US" sz="2400" b="1">
                <a:latin typeface="Times New Roman" panose="02020603050405020304" pitchFamily="18" charset="0"/>
                <a:cs typeface="Times New Roman" panose="02020603050405020304" pitchFamily="18" charset="0"/>
                <a:sym typeface="+mn-ea"/>
              </a:rPr>
              <a:t>Customer handling and satisfaction:</a:t>
            </a:r>
            <a:endParaRPr lang="en-US" sz="2400" b="1">
              <a:latin typeface="Times New Roman" panose="02020603050405020304" pitchFamily="18" charset="0"/>
              <a:cs typeface="Times New Roman" panose="02020603050405020304" pitchFamily="18" charset="0"/>
              <a:sym typeface="+mn-ea"/>
            </a:endParaRPr>
          </a:p>
          <a:p>
            <a:pPr lvl="1" algn="just"/>
            <a:r>
              <a:rPr lang="en-US" sz="2100">
                <a:latin typeface="Times New Roman" panose="02020603050405020304" pitchFamily="18" charset="0"/>
                <a:cs typeface="Times New Roman" panose="02020603050405020304" pitchFamily="18" charset="0"/>
                <a:sym typeface="+mn-ea"/>
              </a:rPr>
              <a:t>Retain existing customers; they are also sources of potential new customers.</a:t>
            </a:r>
            <a:endParaRPr lang="en-US" sz="2100">
              <a:latin typeface="Times New Roman" panose="02020603050405020304" pitchFamily="18" charset="0"/>
              <a:cs typeface="Times New Roman" panose="02020603050405020304" pitchFamily="18" charset="0"/>
              <a:sym typeface="+mn-ea"/>
            </a:endParaRPr>
          </a:p>
          <a:p>
            <a:pPr lvl="1" algn="just"/>
            <a:r>
              <a:rPr lang="en-US" sz="2100">
                <a:latin typeface="Times New Roman" panose="02020603050405020304" pitchFamily="18" charset="0"/>
                <a:cs typeface="Times New Roman" panose="02020603050405020304" pitchFamily="18" charset="0"/>
                <a:sym typeface="+mn-ea"/>
              </a:rPr>
              <a:t>Avoid poor service, poor quality, and rude behavior.</a:t>
            </a:r>
            <a:endParaRPr lang="en-US" sz="2100">
              <a:latin typeface="Times New Roman" panose="02020603050405020304" pitchFamily="18" charset="0"/>
              <a:cs typeface="Times New Roman" panose="02020603050405020304" pitchFamily="18" charset="0"/>
              <a:sym typeface="+mn-ea"/>
            </a:endParaRPr>
          </a:p>
          <a:p>
            <a:pPr lvl="1" algn="just"/>
            <a:r>
              <a:rPr lang="en-US" sz="2100">
                <a:latin typeface="Times New Roman" panose="02020603050405020304" pitchFamily="18" charset="0"/>
                <a:cs typeface="Times New Roman" panose="02020603050405020304" pitchFamily="18" charset="0"/>
                <a:sym typeface="+mn-ea"/>
              </a:rPr>
              <a:t>Customer retention and satisfaction require time, effort, and investment.</a:t>
            </a:r>
            <a:endParaRPr lang="en-US" sz="2100">
              <a:latin typeface="Times New Roman" panose="02020603050405020304" pitchFamily="18" charset="0"/>
              <a:cs typeface="Times New Roman" panose="02020603050405020304" pitchFamily="18" charset="0"/>
              <a:sym typeface="+mn-ea"/>
            </a:endParaRPr>
          </a:p>
        </p:txBody>
      </p:sp>
      <p:sp>
        <p:nvSpPr>
          <p:cNvPr id="4" name="Slide Number Placeholder 3"/>
          <p:cNvSpPr>
            <a:spLocks noGrp="1"/>
          </p:cNvSpPr>
          <p:nvPr>
            <p:ph type="sldNum" sz="quarter" idx="12"/>
          </p:nvPr>
        </p:nvSpPr>
        <p:spPr/>
        <p:txBody>
          <a:bodyPr/>
          <a:p>
            <a:pPr lvl="0"/>
            <a:fld id="{9A0DB2DC-4C9A-4742-B13C-FB6460FD3503}" type="slidenum">
              <a:rPr lang="zh-TW" altLang="en-US" dirty="0"/>
            </a:fld>
            <a:endParaRPr lang="zh-TW" altLang="en-US" dirty="0"/>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Solomon Melese,PhD</a:t>
            </a: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sz="2800" b="1">
                <a:latin typeface="Times New Roman" panose="02020603050405020304" pitchFamily="18" charset="0"/>
                <a:cs typeface="Times New Roman" panose="02020603050405020304" pitchFamily="18" charset="0"/>
                <a:sym typeface="+mn-ea"/>
              </a:rPr>
              <a:t>5.8.4 Customer Handling and Satisfaction</a:t>
            </a:r>
            <a:endParaRPr lang="en-US" sz="2800" b="1">
              <a:latin typeface="Times New Roman" panose="02020603050405020304" pitchFamily="18" charset="0"/>
              <a:cs typeface="Times New Roman" panose="02020603050405020304" pitchFamily="18" charset="0"/>
              <a:sym typeface="+mn-ea"/>
            </a:endParaRPr>
          </a:p>
        </p:txBody>
      </p:sp>
      <p:sp>
        <p:nvSpPr>
          <p:cNvPr id="3" name="Content Placeholder 2"/>
          <p:cNvSpPr>
            <a:spLocks noGrp="1"/>
          </p:cNvSpPr>
          <p:nvPr>
            <p:ph idx="1"/>
          </p:nvPr>
        </p:nvSpPr>
        <p:spPr>
          <a:xfrm>
            <a:off x="88900" y="990600"/>
            <a:ext cx="8811260" cy="5659755"/>
          </a:xfrm>
        </p:spPr>
        <p:txBody>
          <a:bodyPr/>
          <a:p>
            <a:pPr algn="just"/>
            <a:r>
              <a:rPr lang="en-US" sz="2400">
                <a:latin typeface="Times New Roman" panose="02020603050405020304" pitchFamily="18" charset="0"/>
                <a:cs typeface="Times New Roman" panose="02020603050405020304" pitchFamily="18" charset="0"/>
                <a:sym typeface="+mn-ea"/>
              </a:rPr>
              <a:t>Customer handling and satisfaction is key for successful organizations.</a:t>
            </a:r>
            <a:endParaRPr lang="en-US" sz="2400">
              <a:latin typeface="Times New Roman" panose="02020603050405020304" pitchFamily="18" charset="0"/>
              <a:cs typeface="Times New Roman" panose="02020603050405020304" pitchFamily="18" charset="0"/>
              <a:sym typeface="+mn-ea"/>
            </a:endParaRPr>
          </a:p>
          <a:p>
            <a:pPr algn="just"/>
            <a:endParaRPr lang="en-US" sz="2400">
              <a:latin typeface="Times New Roman" panose="02020603050405020304" pitchFamily="18" charset="0"/>
              <a:cs typeface="Times New Roman" panose="02020603050405020304" pitchFamily="18" charset="0"/>
              <a:sym typeface="+mn-ea"/>
            </a:endParaRPr>
          </a:p>
          <a:p>
            <a:pPr algn="just"/>
            <a:r>
              <a:rPr lang="en-US" sz="2400">
                <a:latin typeface="Times New Roman" panose="02020603050405020304" pitchFamily="18" charset="0"/>
                <a:cs typeface="Times New Roman" panose="02020603050405020304" pitchFamily="18" charset="0"/>
                <a:sym typeface="+mn-ea"/>
              </a:rPr>
              <a:t>Managers and employees must work together to improve service delivery.</a:t>
            </a:r>
            <a:endParaRPr lang="en-US" sz="2400">
              <a:latin typeface="Times New Roman" panose="02020603050405020304" pitchFamily="18" charset="0"/>
              <a:cs typeface="Times New Roman" panose="02020603050405020304" pitchFamily="18" charset="0"/>
              <a:sym typeface="+mn-ea"/>
            </a:endParaRPr>
          </a:p>
          <a:p>
            <a:pPr algn="just"/>
            <a:endParaRPr lang="en-US" sz="2400">
              <a:latin typeface="Times New Roman" panose="02020603050405020304" pitchFamily="18" charset="0"/>
              <a:cs typeface="Times New Roman" panose="02020603050405020304" pitchFamily="18" charset="0"/>
              <a:sym typeface="+mn-ea"/>
            </a:endParaRPr>
          </a:p>
          <a:p>
            <a:pPr algn="just"/>
            <a:r>
              <a:rPr lang="en-US" sz="2400">
                <a:latin typeface="Times New Roman" panose="02020603050405020304" pitchFamily="18" charset="0"/>
                <a:cs typeface="Times New Roman" panose="02020603050405020304" pitchFamily="18" charset="0"/>
                <a:sym typeface="+mn-ea"/>
              </a:rPr>
              <a:t>Existing customers must be satisfied with current service.</a:t>
            </a:r>
            <a:endParaRPr lang="en-US" sz="2400">
              <a:latin typeface="Times New Roman" panose="02020603050405020304" pitchFamily="18" charset="0"/>
              <a:cs typeface="Times New Roman" panose="02020603050405020304" pitchFamily="18" charset="0"/>
              <a:sym typeface="+mn-ea"/>
            </a:endParaRPr>
          </a:p>
          <a:p>
            <a:pPr algn="just"/>
            <a:endParaRPr lang="en-US" sz="2400">
              <a:latin typeface="Times New Roman" panose="02020603050405020304" pitchFamily="18" charset="0"/>
              <a:cs typeface="Times New Roman" panose="02020603050405020304" pitchFamily="18" charset="0"/>
              <a:sym typeface="+mn-ea"/>
            </a:endParaRPr>
          </a:p>
          <a:p>
            <a:pPr algn="just"/>
            <a:r>
              <a:rPr lang="en-US" sz="2400">
                <a:latin typeface="Times New Roman" panose="02020603050405020304" pitchFamily="18" charset="0"/>
                <a:cs typeface="Times New Roman" panose="02020603050405020304" pitchFamily="18" charset="0"/>
                <a:sym typeface="+mn-ea"/>
              </a:rPr>
              <a:t>Existing customers are also sources of potential new customers.</a:t>
            </a:r>
            <a:endParaRPr lang="en-US" sz="2400">
              <a:latin typeface="Times New Roman" panose="02020603050405020304" pitchFamily="18" charset="0"/>
              <a:cs typeface="Times New Roman" panose="02020603050405020304" pitchFamily="18" charset="0"/>
              <a:sym typeface="+mn-ea"/>
            </a:endParaRPr>
          </a:p>
        </p:txBody>
      </p:sp>
      <p:sp>
        <p:nvSpPr>
          <p:cNvPr id="4" name="Slide Number Placeholder 3"/>
          <p:cNvSpPr>
            <a:spLocks noGrp="1"/>
          </p:cNvSpPr>
          <p:nvPr>
            <p:ph type="sldNum" sz="quarter" idx="12"/>
          </p:nvPr>
        </p:nvSpPr>
        <p:spPr/>
        <p:txBody>
          <a:bodyPr/>
          <a:p>
            <a:pPr lvl="0"/>
            <a:fld id="{9A0DB2DC-4C9A-4742-B13C-FB6460FD3503}" type="slidenum">
              <a:rPr lang="zh-TW" altLang="en-US" dirty="0"/>
            </a:fld>
            <a:endParaRPr lang="zh-TW" altLang="en-US" dirty="0"/>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Solomon Melese,PhD</a:t>
            </a: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sz="2800" b="1">
                <a:latin typeface="Times New Roman" panose="02020603050405020304" pitchFamily="18" charset="0"/>
                <a:cs typeface="Times New Roman" panose="02020603050405020304" pitchFamily="18" charset="0"/>
                <a:sym typeface="+mn-ea"/>
              </a:rPr>
              <a:t>Consequences of Poor Customer Service</a:t>
            </a:r>
            <a:endParaRPr lang="en-US" sz="2800" b="1">
              <a:latin typeface="Times New Roman" panose="02020603050405020304" pitchFamily="18" charset="0"/>
              <a:cs typeface="Times New Roman" panose="02020603050405020304" pitchFamily="18" charset="0"/>
              <a:sym typeface="+mn-ea"/>
            </a:endParaRPr>
          </a:p>
        </p:txBody>
      </p:sp>
      <p:sp>
        <p:nvSpPr>
          <p:cNvPr id="3" name="Content Placeholder 2"/>
          <p:cNvSpPr>
            <a:spLocks noGrp="1"/>
          </p:cNvSpPr>
          <p:nvPr>
            <p:ph idx="1"/>
          </p:nvPr>
        </p:nvSpPr>
        <p:spPr>
          <a:xfrm>
            <a:off x="88900" y="990600"/>
            <a:ext cx="8811260" cy="5659755"/>
          </a:xfrm>
        </p:spPr>
        <p:txBody>
          <a:bodyPr/>
          <a:p>
            <a:pPr algn="just"/>
            <a:r>
              <a:rPr lang="en-US" sz="2400">
                <a:latin typeface="Times New Roman" panose="02020603050405020304" pitchFamily="18" charset="0"/>
                <a:cs typeface="Times New Roman" panose="02020603050405020304" pitchFamily="18" charset="0"/>
                <a:sym typeface="+mn-ea"/>
              </a:rPr>
              <a:t>Poor/defective service causes loss and bankruptcy.</a:t>
            </a:r>
            <a:endParaRPr lang="en-US" sz="2400">
              <a:latin typeface="Times New Roman" panose="02020603050405020304" pitchFamily="18" charset="0"/>
              <a:cs typeface="Times New Roman" panose="02020603050405020304" pitchFamily="18" charset="0"/>
              <a:sym typeface="+mn-ea"/>
            </a:endParaRPr>
          </a:p>
          <a:p>
            <a:pPr algn="just"/>
            <a:endParaRPr lang="en-US" sz="2400">
              <a:latin typeface="Times New Roman" panose="02020603050405020304" pitchFamily="18" charset="0"/>
              <a:cs typeface="Times New Roman" panose="02020603050405020304" pitchFamily="18" charset="0"/>
              <a:sym typeface="+mn-ea"/>
            </a:endParaRPr>
          </a:p>
          <a:p>
            <a:pPr algn="just"/>
            <a:r>
              <a:rPr lang="en-US" sz="2400">
                <a:latin typeface="Times New Roman" panose="02020603050405020304" pitchFamily="18" charset="0"/>
                <a:cs typeface="Times New Roman" panose="02020603050405020304" pitchFamily="18" charset="0"/>
                <a:sym typeface="+mn-ea"/>
              </a:rPr>
              <a:t>Organizations spend heavily on advertising to gain customers, but losing customers is costly.</a:t>
            </a:r>
            <a:endParaRPr lang="en-US" sz="2400">
              <a:latin typeface="Times New Roman" panose="02020603050405020304" pitchFamily="18" charset="0"/>
              <a:cs typeface="Times New Roman" panose="02020603050405020304" pitchFamily="18" charset="0"/>
              <a:sym typeface="+mn-ea"/>
            </a:endParaRPr>
          </a:p>
          <a:p>
            <a:pPr algn="just"/>
            <a:endParaRPr lang="en-US" sz="2400">
              <a:latin typeface="Times New Roman" panose="02020603050405020304" pitchFamily="18" charset="0"/>
              <a:cs typeface="Times New Roman" panose="02020603050405020304" pitchFamily="18" charset="0"/>
              <a:sym typeface="+mn-ea"/>
            </a:endParaRPr>
          </a:p>
          <a:p>
            <a:pPr algn="just"/>
            <a:r>
              <a:rPr lang="en-US" sz="2400">
                <a:latin typeface="Times New Roman" panose="02020603050405020304" pitchFamily="18" charset="0"/>
                <a:cs typeface="Times New Roman" panose="02020603050405020304" pitchFamily="18" charset="0"/>
                <a:sym typeface="+mn-ea"/>
              </a:rPr>
              <a:t>Retaining existing customers requires systematic handling.</a:t>
            </a:r>
            <a:endParaRPr lang="en-US" sz="2400">
              <a:latin typeface="Times New Roman" panose="02020603050405020304" pitchFamily="18" charset="0"/>
              <a:cs typeface="Times New Roman" panose="02020603050405020304" pitchFamily="18" charset="0"/>
              <a:sym typeface="+mn-ea"/>
            </a:endParaRPr>
          </a:p>
          <a:p>
            <a:pPr algn="just"/>
            <a:endParaRPr lang="en-US" sz="2400">
              <a:latin typeface="Times New Roman" panose="02020603050405020304" pitchFamily="18" charset="0"/>
              <a:cs typeface="Times New Roman" panose="02020603050405020304" pitchFamily="18" charset="0"/>
              <a:sym typeface="+mn-ea"/>
            </a:endParaRPr>
          </a:p>
          <a:p>
            <a:pPr algn="just"/>
            <a:r>
              <a:rPr lang="en-US" sz="2400">
                <a:latin typeface="Times New Roman" panose="02020603050405020304" pitchFamily="18" charset="0"/>
                <a:cs typeface="Times New Roman" panose="02020603050405020304" pitchFamily="18" charset="0"/>
                <a:sym typeface="+mn-ea"/>
              </a:rPr>
              <a:t>Customer satisfaction must be prioritized over short-term gains.</a:t>
            </a:r>
            <a:endParaRPr lang="en-US" sz="2400">
              <a:latin typeface="Times New Roman" panose="02020603050405020304" pitchFamily="18" charset="0"/>
              <a:cs typeface="Times New Roman" panose="02020603050405020304" pitchFamily="18" charset="0"/>
              <a:sym typeface="+mn-ea"/>
            </a:endParaRPr>
          </a:p>
        </p:txBody>
      </p:sp>
      <p:sp>
        <p:nvSpPr>
          <p:cNvPr id="4" name="Slide Number Placeholder 3"/>
          <p:cNvSpPr>
            <a:spLocks noGrp="1"/>
          </p:cNvSpPr>
          <p:nvPr>
            <p:ph type="sldNum" sz="quarter" idx="12"/>
          </p:nvPr>
        </p:nvSpPr>
        <p:spPr/>
        <p:txBody>
          <a:bodyPr/>
          <a:p>
            <a:pPr lvl="0"/>
            <a:fld id="{9A0DB2DC-4C9A-4742-B13C-FB6460FD3503}" type="slidenum">
              <a:rPr lang="zh-TW" altLang="en-US" dirty="0"/>
            </a:fld>
            <a:endParaRPr lang="zh-TW" altLang="en-US" dirty="0"/>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Solomon Melese,PhD</a:t>
            </a: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sz="2800" b="1">
                <a:latin typeface="Times New Roman" panose="02020603050405020304" pitchFamily="18" charset="0"/>
                <a:cs typeface="Times New Roman" panose="02020603050405020304" pitchFamily="18" charset="0"/>
                <a:sym typeface="+mn-ea"/>
              </a:rPr>
              <a:t>Customer Retention and Acquisition</a:t>
            </a:r>
            <a:endParaRPr lang="en-US" sz="2800" b="1">
              <a:latin typeface="Times New Roman" panose="02020603050405020304" pitchFamily="18" charset="0"/>
              <a:cs typeface="Times New Roman" panose="02020603050405020304" pitchFamily="18" charset="0"/>
              <a:sym typeface="+mn-ea"/>
            </a:endParaRPr>
          </a:p>
        </p:txBody>
      </p:sp>
      <p:sp>
        <p:nvSpPr>
          <p:cNvPr id="3" name="Content Placeholder 2"/>
          <p:cNvSpPr>
            <a:spLocks noGrp="1"/>
          </p:cNvSpPr>
          <p:nvPr>
            <p:ph idx="1"/>
          </p:nvPr>
        </p:nvSpPr>
        <p:spPr>
          <a:xfrm>
            <a:off x="88900" y="990600"/>
            <a:ext cx="8811260" cy="5659755"/>
          </a:xfrm>
        </p:spPr>
        <p:txBody>
          <a:bodyPr/>
          <a:p>
            <a:pPr algn="just"/>
            <a:r>
              <a:rPr lang="en-US" sz="2400">
                <a:latin typeface="Times New Roman" panose="02020603050405020304" pitchFamily="18" charset="0"/>
                <a:cs typeface="Times New Roman" panose="02020603050405020304" pitchFamily="18" charset="0"/>
                <a:sym typeface="+mn-ea"/>
              </a:rPr>
              <a:t>Organizations should aim to retain every customer.</a:t>
            </a:r>
            <a:endParaRPr lang="en-US" sz="2400">
              <a:latin typeface="Times New Roman" panose="02020603050405020304" pitchFamily="18" charset="0"/>
              <a:cs typeface="Times New Roman" panose="02020603050405020304" pitchFamily="18" charset="0"/>
              <a:sym typeface="+mn-ea"/>
            </a:endParaRPr>
          </a:p>
          <a:p>
            <a:pPr algn="just"/>
            <a:r>
              <a:rPr lang="en-US" sz="2400">
                <a:latin typeface="Times New Roman" panose="02020603050405020304" pitchFamily="18" charset="0"/>
                <a:cs typeface="Times New Roman" panose="02020603050405020304" pitchFamily="18" charset="0"/>
                <a:sym typeface="+mn-ea"/>
              </a:rPr>
              <a:t>Attracting new customers depends on keeping existing customers satisfied.</a:t>
            </a:r>
            <a:endParaRPr lang="en-US" sz="2400">
              <a:latin typeface="Times New Roman" panose="02020603050405020304" pitchFamily="18" charset="0"/>
              <a:cs typeface="Times New Roman" panose="02020603050405020304" pitchFamily="18" charset="0"/>
              <a:sym typeface="+mn-ea"/>
            </a:endParaRPr>
          </a:p>
          <a:p>
            <a:pPr algn="just"/>
            <a:r>
              <a:rPr lang="en-US" sz="2400">
                <a:latin typeface="Times New Roman" panose="02020603050405020304" pitchFamily="18" charset="0"/>
                <a:cs typeface="Times New Roman" panose="02020603050405020304" pitchFamily="18" charset="0"/>
                <a:sym typeface="+mn-ea"/>
              </a:rPr>
              <a:t>Poor customer handling leads to loss of revenue not just for one year, but over the customer’s lifetime.</a:t>
            </a:r>
            <a:endParaRPr lang="en-US" sz="2400">
              <a:latin typeface="Times New Roman" panose="02020603050405020304" pitchFamily="18" charset="0"/>
              <a:cs typeface="Times New Roman" panose="02020603050405020304" pitchFamily="18" charset="0"/>
              <a:sym typeface="+mn-ea"/>
            </a:endParaRPr>
          </a:p>
          <a:p>
            <a:pPr algn="just"/>
            <a:r>
              <a:rPr lang="en-US" sz="2400">
                <a:latin typeface="Times New Roman" panose="02020603050405020304" pitchFamily="18" charset="0"/>
                <a:cs typeface="Times New Roman" panose="02020603050405020304" pitchFamily="18" charset="0"/>
                <a:sym typeface="+mn-ea"/>
              </a:rPr>
              <a:t>Major reasons for losing customers:</a:t>
            </a:r>
            <a:endParaRPr lang="en-US" sz="2400">
              <a:latin typeface="Times New Roman" panose="02020603050405020304" pitchFamily="18" charset="0"/>
              <a:cs typeface="Times New Roman" panose="02020603050405020304" pitchFamily="18" charset="0"/>
              <a:sym typeface="+mn-ea"/>
            </a:endParaRPr>
          </a:p>
          <a:p>
            <a:pPr lvl="1" algn="just"/>
            <a:r>
              <a:rPr lang="en-US" sz="2100">
                <a:latin typeface="Times New Roman" panose="02020603050405020304" pitchFamily="18" charset="0"/>
                <a:cs typeface="Times New Roman" panose="02020603050405020304" pitchFamily="18" charset="0"/>
                <a:sym typeface="+mn-ea"/>
              </a:rPr>
              <a:t>Poor service</a:t>
            </a:r>
            <a:endParaRPr lang="en-US" sz="2100">
              <a:latin typeface="Times New Roman" panose="02020603050405020304" pitchFamily="18" charset="0"/>
              <a:cs typeface="Times New Roman" panose="02020603050405020304" pitchFamily="18" charset="0"/>
              <a:sym typeface="+mn-ea"/>
            </a:endParaRPr>
          </a:p>
          <a:p>
            <a:pPr lvl="1" algn="just"/>
            <a:r>
              <a:rPr lang="en-US" sz="2100">
                <a:latin typeface="Times New Roman" panose="02020603050405020304" pitchFamily="18" charset="0"/>
                <a:cs typeface="Times New Roman" panose="02020603050405020304" pitchFamily="18" charset="0"/>
                <a:sym typeface="+mn-ea"/>
              </a:rPr>
              <a:t>Poor quality</a:t>
            </a:r>
            <a:endParaRPr lang="en-US" sz="2100">
              <a:latin typeface="Times New Roman" panose="02020603050405020304" pitchFamily="18" charset="0"/>
              <a:cs typeface="Times New Roman" panose="02020603050405020304" pitchFamily="18" charset="0"/>
              <a:sym typeface="+mn-ea"/>
            </a:endParaRPr>
          </a:p>
          <a:p>
            <a:pPr lvl="1" algn="just"/>
            <a:r>
              <a:rPr lang="en-US" sz="2100">
                <a:latin typeface="Times New Roman" panose="02020603050405020304" pitchFamily="18" charset="0"/>
                <a:cs typeface="Times New Roman" panose="02020603050405020304" pitchFamily="18" charset="0"/>
                <a:sym typeface="+mn-ea"/>
              </a:rPr>
              <a:t>Rude behavior</a:t>
            </a:r>
            <a:endParaRPr lang="en-US" sz="2100">
              <a:latin typeface="Times New Roman" panose="02020603050405020304" pitchFamily="18" charset="0"/>
              <a:cs typeface="Times New Roman" panose="02020603050405020304" pitchFamily="18" charset="0"/>
              <a:sym typeface="+mn-ea"/>
            </a:endParaRPr>
          </a:p>
        </p:txBody>
      </p:sp>
      <p:sp>
        <p:nvSpPr>
          <p:cNvPr id="4" name="Slide Number Placeholder 3"/>
          <p:cNvSpPr>
            <a:spLocks noGrp="1"/>
          </p:cNvSpPr>
          <p:nvPr>
            <p:ph type="sldNum" sz="quarter" idx="12"/>
          </p:nvPr>
        </p:nvSpPr>
        <p:spPr/>
        <p:txBody>
          <a:bodyPr/>
          <a:p>
            <a:pPr lvl="0"/>
            <a:fld id="{9A0DB2DC-4C9A-4742-B13C-FB6460FD3503}" type="slidenum">
              <a:rPr lang="zh-TW" altLang="en-US" dirty="0"/>
            </a:fld>
            <a:endParaRPr lang="zh-TW" altLang="en-US" dirty="0"/>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Solomon Melese,PhD</a:t>
            </a: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sz="2800" b="1">
                <a:latin typeface="Times New Roman" panose="02020603050405020304" pitchFamily="18" charset="0"/>
                <a:cs typeface="Times New Roman" panose="02020603050405020304" pitchFamily="18" charset="0"/>
                <a:sym typeface="+mn-ea"/>
              </a:rPr>
              <a:t> Customer Handling and Satisfaction</a:t>
            </a:r>
            <a:endParaRPr lang="en-US" sz="2800" b="1">
              <a:latin typeface="Times New Roman" panose="02020603050405020304" pitchFamily="18" charset="0"/>
              <a:cs typeface="Times New Roman" panose="02020603050405020304" pitchFamily="18" charset="0"/>
              <a:sym typeface="+mn-ea"/>
            </a:endParaRPr>
          </a:p>
        </p:txBody>
      </p:sp>
      <p:sp>
        <p:nvSpPr>
          <p:cNvPr id="3" name="Content Placeholder 2"/>
          <p:cNvSpPr>
            <a:spLocks noGrp="1"/>
          </p:cNvSpPr>
          <p:nvPr>
            <p:ph idx="1"/>
          </p:nvPr>
        </p:nvSpPr>
        <p:spPr>
          <a:xfrm>
            <a:off x="88900" y="990600"/>
            <a:ext cx="8811260" cy="5659755"/>
          </a:xfrm>
        </p:spPr>
        <p:txBody>
          <a:bodyPr/>
          <a:p>
            <a:pPr algn="just"/>
            <a:r>
              <a:rPr lang="en-US" sz="2400" b="1">
                <a:latin typeface="Times New Roman" panose="02020603050405020304" pitchFamily="18" charset="0"/>
                <a:cs typeface="Times New Roman" panose="02020603050405020304" pitchFamily="18" charset="0"/>
                <a:sym typeface="+mn-ea"/>
              </a:rPr>
              <a:t>Customers as invaluable assets:</a:t>
            </a:r>
            <a:endParaRPr lang="en-US" sz="2400" b="1">
              <a:latin typeface="Times New Roman" panose="02020603050405020304" pitchFamily="18" charset="0"/>
              <a:cs typeface="Times New Roman" panose="02020603050405020304" pitchFamily="18" charset="0"/>
              <a:sym typeface="+mn-ea"/>
            </a:endParaRPr>
          </a:p>
          <a:p>
            <a:pPr lvl="1" algn="just"/>
            <a:r>
              <a:rPr lang="en-US" sz="2100">
                <a:latin typeface="Times New Roman" panose="02020603050405020304" pitchFamily="18" charset="0"/>
                <a:cs typeface="Times New Roman" panose="02020603050405020304" pitchFamily="18" charset="0"/>
                <a:sym typeface="+mn-ea"/>
              </a:rPr>
              <a:t>One customer’s value is infinite: lifetime sales + referrals.</a:t>
            </a:r>
            <a:endParaRPr lang="en-US" sz="2100">
              <a:latin typeface="Times New Roman" panose="02020603050405020304" pitchFamily="18" charset="0"/>
              <a:cs typeface="Times New Roman" panose="02020603050405020304" pitchFamily="18" charset="0"/>
              <a:sym typeface="+mn-ea"/>
            </a:endParaRPr>
          </a:p>
          <a:p>
            <a:pPr algn="just"/>
            <a:r>
              <a:rPr lang="en-US" sz="2400" b="1">
                <a:latin typeface="Times New Roman" panose="02020603050405020304" pitchFamily="18" charset="0"/>
                <a:cs typeface="Times New Roman" panose="02020603050405020304" pitchFamily="18" charset="0"/>
                <a:sym typeface="+mn-ea"/>
              </a:rPr>
              <a:t>Reducing complaints:</a:t>
            </a:r>
            <a:endParaRPr lang="en-US" sz="2400" b="1">
              <a:latin typeface="Times New Roman" panose="02020603050405020304" pitchFamily="18" charset="0"/>
              <a:cs typeface="Times New Roman" panose="02020603050405020304" pitchFamily="18" charset="0"/>
              <a:sym typeface="+mn-ea"/>
            </a:endParaRPr>
          </a:p>
          <a:p>
            <a:pPr lvl="1" algn="just"/>
            <a:r>
              <a:rPr lang="en-US" sz="2100">
                <a:latin typeface="Times New Roman" panose="02020603050405020304" pitchFamily="18" charset="0"/>
                <a:cs typeface="Times New Roman" panose="02020603050405020304" pitchFamily="18" charset="0"/>
                <a:sym typeface="+mn-ea"/>
              </a:rPr>
              <a:t>Complaints are opportunities to improve.</a:t>
            </a:r>
            <a:endParaRPr lang="en-US" sz="2100">
              <a:latin typeface="Times New Roman" panose="02020603050405020304" pitchFamily="18" charset="0"/>
              <a:cs typeface="Times New Roman" panose="02020603050405020304" pitchFamily="18" charset="0"/>
              <a:sym typeface="+mn-ea"/>
            </a:endParaRPr>
          </a:p>
          <a:p>
            <a:pPr lvl="1" algn="just"/>
            <a:r>
              <a:rPr lang="en-US" sz="2100">
                <a:latin typeface="Times New Roman" panose="02020603050405020304" pitchFamily="18" charset="0"/>
                <a:cs typeface="Times New Roman" panose="02020603050405020304" pitchFamily="18" charset="0"/>
                <a:sym typeface="+mn-ea"/>
              </a:rPr>
              <a:t>Quick resolution improves return rates:</a:t>
            </a:r>
            <a:endParaRPr lang="en-US" sz="2100">
              <a:latin typeface="Times New Roman" panose="02020603050405020304" pitchFamily="18" charset="0"/>
              <a:cs typeface="Times New Roman" panose="02020603050405020304" pitchFamily="18" charset="0"/>
              <a:sym typeface="+mn-ea"/>
            </a:endParaRPr>
          </a:p>
          <a:p>
            <a:pPr lvl="2" algn="just"/>
            <a:r>
              <a:rPr lang="en-US" sz="1800">
                <a:latin typeface="Times New Roman" panose="02020603050405020304" pitchFamily="18" charset="0"/>
                <a:cs typeface="Times New Roman" panose="02020603050405020304" pitchFamily="18" charset="0"/>
                <a:sym typeface="+mn-ea"/>
              </a:rPr>
              <a:t>91% of dissatisfied customers may leave, but 82% return if resolved quickly.</a:t>
            </a:r>
            <a:endParaRPr lang="en-US" sz="1800">
              <a:latin typeface="Times New Roman" panose="02020603050405020304" pitchFamily="18" charset="0"/>
              <a:cs typeface="Times New Roman" panose="02020603050405020304" pitchFamily="18" charset="0"/>
              <a:sym typeface="+mn-ea"/>
            </a:endParaRPr>
          </a:p>
          <a:p>
            <a:pPr lvl="1" algn="just"/>
            <a:r>
              <a:rPr lang="en-US" sz="2100">
                <a:latin typeface="Times New Roman" panose="02020603050405020304" pitchFamily="18" charset="0"/>
                <a:cs typeface="Times New Roman" panose="02020603050405020304" pitchFamily="18" charset="0"/>
                <a:sym typeface="+mn-ea"/>
              </a:rPr>
              <a:t>Treat customer satisfaction as an investment.</a:t>
            </a:r>
            <a:endParaRPr lang="en-US" sz="2100">
              <a:latin typeface="Times New Roman" panose="02020603050405020304" pitchFamily="18" charset="0"/>
              <a:cs typeface="Times New Roman" panose="02020603050405020304" pitchFamily="18" charset="0"/>
              <a:sym typeface="+mn-ea"/>
            </a:endParaRPr>
          </a:p>
          <a:p>
            <a:pPr algn="just"/>
            <a:r>
              <a:rPr lang="en-US" sz="2400" b="1">
                <a:latin typeface="Times New Roman" panose="02020603050405020304" pitchFamily="18" charset="0"/>
                <a:cs typeface="Times New Roman" panose="02020603050405020304" pitchFamily="18" charset="0"/>
                <a:sym typeface="+mn-ea"/>
              </a:rPr>
              <a:t>Place yourself in the customer’s shoes:</a:t>
            </a:r>
            <a:endParaRPr lang="en-US" sz="2400" b="1">
              <a:latin typeface="Times New Roman" panose="02020603050405020304" pitchFamily="18" charset="0"/>
              <a:cs typeface="Times New Roman" panose="02020603050405020304" pitchFamily="18" charset="0"/>
              <a:sym typeface="+mn-ea"/>
            </a:endParaRPr>
          </a:p>
          <a:p>
            <a:pPr lvl="1" algn="just"/>
            <a:r>
              <a:rPr lang="en-US" sz="2100">
                <a:latin typeface="Times New Roman" panose="02020603050405020304" pitchFamily="18" charset="0"/>
                <a:cs typeface="Times New Roman" panose="02020603050405020304" pitchFamily="18" charset="0"/>
                <a:sym typeface="+mn-ea"/>
              </a:rPr>
              <a:t>Choose customers carefully but maintain service quality.</a:t>
            </a:r>
            <a:endParaRPr lang="en-US" sz="2100">
              <a:latin typeface="Times New Roman" panose="02020603050405020304" pitchFamily="18" charset="0"/>
              <a:cs typeface="Times New Roman" panose="02020603050405020304" pitchFamily="18" charset="0"/>
              <a:sym typeface="+mn-ea"/>
            </a:endParaRPr>
          </a:p>
          <a:p>
            <a:pPr lvl="1" algn="just"/>
            <a:r>
              <a:rPr lang="en-US" sz="2100">
                <a:latin typeface="Times New Roman" panose="02020603050405020304" pitchFamily="18" charset="0"/>
                <a:cs typeface="Times New Roman" panose="02020603050405020304" pitchFamily="18" charset="0"/>
                <a:sym typeface="+mn-ea"/>
              </a:rPr>
              <a:t>Part with unwanted customers tactfully.</a:t>
            </a:r>
            <a:endParaRPr lang="en-US" sz="2100">
              <a:latin typeface="Times New Roman" panose="02020603050405020304" pitchFamily="18" charset="0"/>
              <a:cs typeface="Times New Roman" panose="02020603050405020304" pitchFamily="18" charset="0"/>
              <a:sym typeface="+mn-ea"/>
            </a:endParaRPr>
          </a:p>
          <a:p>
            <a:pPr lvl="1" algn="just"/>
            <a:r>
              <a:rPr lang="en-US" sz="2100">
                <a:latin typeface="Times New Roman" panose="02020603050405020304" pitchFamily="18" charset="0"/>
                <a:cs typeface="Times New Roman" panose="02020603050405020304" pitchFamily="18" charset="0"/>
                <a:sym typeface="+mn-ea"/>
              </a:rPr>
              <a:t>Follow the principle: “Do unto your customer as you would have done unto you.”</a:t>
            </a:r>
            <a:endParaRPr lang="en-US" sz="2100">
              <a:latin typeface="Times New Roman" panose="02020603050405020304" pitchFamily="18" charset="0"/>
              <a:cs typeface="Times New Roman" panose="02020603050405020304" pitchFamily="18" charset="0"/>
              <a:sym typeface="+mn-ea"/>
            </a:endParaRPr>
          </a:p>
        </p:txBody>
      </p:sp>
      <p:sp>
        <p:nvSpPr>
          <p:cNvPr id="4" name="Slide Number Placeholder 3"/>
          <p:cNvSpPr>
            <a:spLocks noGrp="1"/>
          </p:cNvSpPr>
          <p:nvPr>
            <p:ph type="sldNum" sz="quarter" idx="12"/>
          </p:nvPr>
        </p:nvSpPr>
        <p:spPr/>
        <p:txBody>
          <a:bodyPr/>
          <a:p>
            <a:pPr lvl="0"/>
            <a:fld id="{9A0DB2DC-4C9A-4742-B13C-FB6460FD3503}" type="slidenum">
              <a:rPr lang="zh-TW" altLang="en-US" dirty="0"/>
            </a:fld>
            <a:endParaRPr lang="zh-TW" altLang="en-US" dirty="0"/>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Solomon Melese,PhD</a:t>
            </a: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4" name="Slide Number Placeholder 3"/>
          <p:cNvSpPr>
            <a:spLocks noGrp="1"/>
          </p:cNvSpPr>
          <p:nvPr>
            <p:ph type="sldNum" sz="quarter" idx="12"/>
          </p:nvPr>
        </p:nvSpPr>
        <p:spPr/>
        <p:txBody>
          <a:bodyPr/>
          <a:p>
            <a:pPr lvl="0"/>
            <a:fld id="{9A0DB2DC-4C9A-4742-B13C-FB6460FD3503}" type="slidenum">
              <a:rPr lang="zh-TW" altLang="en-US" dirty="0"/>
            </a:fld>
            <a:endParaRPr lang="zh-TW" altLang="en-US" dirty="0"/>
          </a:p>
        </p:txBody>
      </p:sp>
      <p:pic>
        <p:nvPicPr>
          <p:cNvPr id="7" name="Content Placeholder 6"/>
          <p:cNvPicPr>
            <a:picLocks noChangeAspect="1"/>
          </p:cNvPicPr>
          <p:nvPr>
            <p:ph idx="1"/>
          </p:nvPr>
        </p:nvPicPr>
        <p:blipFill>
          <a:blip r:embed="rId1"/>
          <a:stretch>
            <a:fillRect/>
          </a:stretch>
        </p:blipFill>
        <p:spPr>
          <a:xfrm>
            <a:off x="-39370" y="0"/>
            <a:ext cx="9261475" cy="6844665"/>
          </a:xfrm>
          <a:prstGeom prst="rect">
            <a:avLst/>
          </a:prstGeom>
        </p:spPr>
      </p:pic>
    </p:spTree>
  </p:cSld>
  <p:clrMapOvr>
    <a:masterClrMapping/>
  </p:clrMapOvr>
</p:sld>
</file>

<file path=ppt/theme/theme1.xml><?xml version="1.0" encoding="utf-8"?>
<a:theme xmlns:a="http://schemas.openxmlformats.org/drawingml/2006/main" name="Communications and Dialogues">
  <a:themeElements>
    <a:clrScheme name="Communications and Dialogues 13">
      <a:dk1>
        <a:srgbClr val="000000"/>
      </a:dk1>
      <a:lt1>
        <a:srgbClr val="FFFFFF"/>
      </a:lt1>
      <a:dk2>
        <a:srgbClr val="000000"/>
      </a:dk2>
      <a:lt2>
        <a:srgbClr val="969696"/>
      </a:lt2>
      <a:accent1>
        <a:srgbClr val="0066CC"/>
      </a:accent1>
      <a:accent2>
        <a:srgbClr val="3399FF"/>
      </a:accent2>
      <a:accent3>
        <a:srgbClr val="FFFFFF"/>
      </a:accent3>
      <a:accent4>
        <a:srgbClr val="000000"/>
      </a:accent4>
      <a:accent5>
        <a:srgbClr val="AAB8E2"/>
      </a:accent5>
      <a:accent6>
        <a:srgbClr val="2D8AE7"/>
      </a:accent6>
      <a:hlink>
        <a:srgbClr val="CC3300"/>
      </a:hlink>
      <a:folHlink>
        <a:srgbClr val="996600"/>
      </a:folHlink>
    </a:clrScheme>
    <a:fontScheme name="Communications and Dialogues">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lnDef>
  </a:objectDefaults>
  <a:extraClrSchemeLst>
    <a:extraClrScheme>
      <a:clrScheme name="Communications and Dialogue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ommunications and Dialogue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ommunications and Dialogue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ommunications and Dialogue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ommunications and Dialogue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ommunications and Dialogue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ommunications and Dialogues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ommunications and Dialogue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ommunications and Dialogue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ommunications and Dialogue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ommunications and Dialogue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ommunications and Dialogue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Communications and Dialogues 13">
        <a:dk1>
          <a:srgbClr val="000000"/>
        </a:dk1>
        <a:lt1>
          <a:srgbClr val="FFFFFF"/>
        </a:lt1>
        <a:dk2>
          <a:srgbClr val="000000"/>
        </a:dk2>
        <a:lt2>
          <a:srgbClr val="969696"/>
        </a:lt2>
        <a:accent1>
          <a:srgbClr val="0066CC"/>
        </a:accent1>
        <a:accent2>
          <a:srgbClr val="3399FF"/>
        </a:accent2>
        <a:accent3>
          <a:srgbClr val="FFFFFF"/>
        </a:accent3>
        <a:accent4>
          <a:srgbClr val="000000"/>
        </a:accent4>
        <a:accent5>
          <a:srgbClr val="AAB8E2"/>
        </a:accent5>
        <a:accent6>
          <a:srgbClr val="2D8AE7"/>
        </a:accent6>
        <a:hlink>
          <a:srgbClr val="CC3300"/>
        </a:hlink>
        <a:folHlink>
          <a:srgbClr val="9966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25188</Words>
  <Application>WPS Presentation</Application>
  <PresentationFormat>如螢幕大小</PresentationFormat>
  <Paragraphs>1082</Paragraphs>
  <Slides>74</Slides>
  <Notes>1</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74</vt:i4>
      </vt:variant>
    </vt:vector>
  </HeadingPairs>
  <TitlesOfParts>
    <vt:vector size="81" baseType="lpstr">
      <vt:lpstr>Arial</vt:lpstr>
      <vt:lpstr>SimSun</vt:lpstr>
      <vt:lpstr>Wingdings</vt:lpstr>
      <vt:lpstr>Times New Roman</vt:lpstr>
      <vt:lpstr>Microsoft YaHei</vt:lpstr>
      <vt:lpstr>Arial Unicode MS</vt:lpstr>
      <vt:lpstr>Communications and Dialogues</vt:lpstr>
      <vt:lpstr>PowerPoint 演示文稿</vt:lpstr>
      <vt:lpstr>Chapter Learning Outcomes</vt:lpstr>
      <vt:lpstr>3.1 Introduction</vt:lpstr>
      <vt:lpstr> Introduction</vt:lpstr>
      <vt:lpstr> Introduction</vt:lpstr>
      <vt:lpstr> Introduction</vt:lpstr>
      <vt:lpstr>5.2Meaning and Definitions of Marketing</vt:lpstr>
      <vt:lpstr>Definitions of Marketing</vt:lpstr>
      <vt:lpstr>Definitions of Marketing</vt:lpstr>
      <vt:lpstr>Key Marketing Questions</vt:lpstr>
      <vt:lpstr>Who Are Your Customers?</vt:lpstr>
      <vt:lpstr>What are my customer’s needs and wants?</vt:lpstr>
      <vt:lpstr>How can I satisfy my customers’?</vt:lpstr>
      <vt:lpstr> 5.3 Core Concepts of Marketing 5.3.1 Needs, Wants, and Demand </vt:lpstr>
      <vt:lpstr>Key Terms</vt:lpstr>
      <vt:lpstr>Key Terms</vt:lpstr>
      <vt:lpstr>Key Terms</vt:lpstr>
      <vt:lpstr>5.4 Importance of Marketing</vt:lpstr>
      <vt:lpstr>Types of Utility in Marketing</vt:lpstr>
      <vt:lpstr>Types of Utility in Marketing</vt:lpstr>
      <vt:lpstr>Types of Utility in Marketing</vt:lpstr>
      <vt:lpstr>5.5 Marketing Philosophies</vt:lpstr>
      <vt:lpstr>1. Production Concept</vt:lpstr>
      <vt:lpstr>2. Product Concept</vt:lpstr>
      <vt:lpstr>3. Selling/Sales Concept</vt:lpstr>
      <vt:lpstr>4. Marketing Concept</vt:lpstr>
      <vt:lpstr>Table 5.1 Selling and Marketing Concept Contrasted</vt:lpstr>
      <vt:lpstr> 5. Societal Marketing Concept</vt:lpstr>
      <vt:lpstr>6. Relationship Marketing</vt:lpstr>
      <vt:lpstr>Table 5.2: Summary of the Evolution of Marketing</vt:lpstr>
      <vt:lpstr>5.6 Marketing Information Systems</vt:lpstr>
      <vt:lpstr>Figure 5.1 Marketing information systems</vt:lpstr>
      <vt:lpstr>5.6.1 Marketing Research</vt:lpstr>
      <vt:lpstr>Role of Marketing Researcharch</vt:lpstr>
      <vt:lpstr>Marketing Research Components</vt:lpstr>
      <vt:lpstr>5.6.1.3 Customer Satisfaction Research</vt:lpstr>
      <vt:lpstr>5.6.1.4 Marketing Research Process</vt:lpstr>
      <vt:lpstr>Marketing Research Process</vt:lpstr>
      <vt:lpstr>Marketing Research Process</vt:lpstr>
      <vt:lpstr>Marketing Research Process</vt:lpstr>
      <vt:lpstr>Marketing Research Process</vt:lpstr>
      <vt:lpstr>Marketing Research Process</vt:lpstr>
      <vt:lpstr>Marketing Research Process</vt:lpstr>
      <vt:lpstr>5.6.2 Marketing Intelligence</vt:lpstr>
      <vt:lpstr>5.6.2.1The Importance of Marketing Intelligence</vt:lpstr>
      <vt:lpstr>5.6.2.2Ways to Undertake Marketing Intelligence</vt:lpstr>
      <vt:lpstr>5.6.3 Competitive Analysis</vt:lpstr>
      <vt:lpstr>5.6.3.1Uses of Competitive Analysis</vt:lpstr>
      <vt:lpstr>Competitive Analysis Questions</vt:lpstr>
      <vt:lpstr>5.6.3.3 Steps of Competitive Analysis</vt:lpstr>
      <vt:lpstr>5.6.3.3 Steps of Competitive Analysis</vt:lpstr>
      <vt:lpstr>5.7The Marketing Mix and Marketing Strategies 5.7.1The 4 P’s Of Marketing/The Marketing Mix</vt:lpstr>
      <vt:lpstr>1. Product</vt:lpstr>
      <vt:lpstr>2. Pricing</vt:lpstr>
      <vt:lpstr>2. Pricing</vt:lpstr>
      <vt:lpstr>3. Place (Distribution):</vt:lpstr>
      <vt:lpstr>4. Promotion:</vt:lpstr>
      <vt:lpstr>5.7.2 What Is Marketing Strategy?</vt:lpstr>
      <vt:lpstr>1.Pricing Strategy</vt:lpstr>
      <vt:lpstr>Common strategies:</vt:lpstr>
      <vt:lpstr>2. Promotion Strategy</vt:lpstr>
      <vt:lpstr>3. Distribution Strategy </vt:lpstr>
      <vt:lpstr>Marketing Channels</vt:lpstr>
      <vt:lpstr>Channel Decision Importance</vt:lpstr>
      <vt:lpstr>Factors for Choosing Channels</vt:lpstr>
      <vt:lpstr>5.8Selling and of Customer Service</vt:lpstr>
      <vt:lpstr>5.8.1 The Concept of Service</vt:lpstr>
      <vt:lpstr>5.8.2 The Concept of Customer</vt:lpstr>
      <vt:lpstr>5.8.3Strategic Activities needed for Quality Customer Service Delivery</vt:lpstr>
      <vt:lpstr>5.8.4 Customer Handling and Satisfaction</vt:lpstr>
      <vt:lpstr>Consequences of Poor Customer Service</vt:lpstr>
      <vt:lpstr>Customer Retention and Acquisition</vt:lpstr>
      <vt:lpstr> Customer Handling and Satisfaction</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Introduction to Project Management</dc:title>
  <dc:creator/>
  <cp:lastModifiedBy>nEW u</cp:lastModifiedBy>
  <cp:revision>512</cp:revision>
  <dcterms:created xsi:type="dcterms:W3CDTF">2001-07-05T23:10:00Z</dcterms:created>
  <dcterms:modified xsi:type="dcterms:W3CDTF">2026-02-22T20:35:00Z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1033-11.2.0.10176</vt:lpwstr>
  </property>
</Properties>
</file>