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51" r:id="rId3"/>
    <p:sldId id="464" r:id="rId5"/>
    <p:sldId id="651" r:id="rId6"/>
    <p:sldId id="819" r:id="rId7"/>
    <p:sldId id="821" r:id="rId8"/>
    <p:sldId id="822" r:id="rId9"/>
    <p:sldId id="824" r:id="rId10"/>
    <p:sldId id="826" r:id="rId11"/>
    <p:sldId id="828" r:id="rId12"/>
    <p:sldId id="830" r:id="rId13"/>
    <p:sldId id="832" r:id="rId14"/>
    <p:sldId id="834" r:id="rId15"/>
    <p:sldId id="836" r:id="rId16"/>
    <p:sldId id="838" r:id="rId17"/>
    <p:sldId id="840" r:id="rId18"/>
    <p:sldId id="842" r:id="rId19"/>
    <p:sldId id="844" r:id="rId20"/>
    <p:sldId id="848" r:id="rId21"/>
    <p:sldId id="846" r:id="rId22"/>
    <p:sldId id="850" r:id="rId23"/>
    <p:sldId id="852" r:id="rId24"/>
    <p:sldId id="854" r:id="rId25"/>
    <p:sldId id="856" r:id="rId26"/>
    <p:sldId id="858" r:id="rId27"/>
    <p:sldId id="860" r:id="rId28"/>
    <p:sldId id="862" r:id="rId29"/>
    <p:sldId id="864" r:id="rId30"/>
    <p:sldId id="866" r:id="rId31"/>
    <p:sldId id="868" r:id="rId32"/>
    <p:sldId id="870" r:id="rId33"/>
    <p:sldId id="872" r:id="rId34"/>
    <p:sldId id="874" r:id="rId35"/>
    <p:sldId id="876" r:id="rId36"/>
    <p:sldId id="878" r:id="rId37"/>
    <p:sldId id="880" r:id="rId38"/>
    <p:sldId id="882" r:id="rId39"/>
    <p:sldId id="884" r:id="rId40"/>
    <p:sldId id="886" r:id="rId41"/>
    <p:sldId id="888" r:id="rId42"/>
    <p:sldId id="548" r:id="rId43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8"/>
    <p:restoredTop sz="94576"/>
  </p:normalViewPr>
  <p:slideViewPr>
    <p:cSldViewPr showGuides="1">
      <p:cViewPr varScale="1">
        <p:scale>
          <a:sx n="110" d="100"/>
          <a:sy n="110" d="100"/>
        </p:scale>
        <p:origin x="-210" y="-84"/>
      </p:cViewPr>
      <p:guideLst>
        <p:guide orient="horz" pos="2155"/>
        <p:guide pos="29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866" name="Header Placeholder 3686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en-US" sz="1200"/>
          </a:p>
        </p:txBody>
      </p:sp>
      <p:sp>
        <p:nvSpPr>
          <p:cNvPr id="36867" name="Date Placeholder 36866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en-US" sz="1200"/>
          </a:p>
        </p:txBody>
      </p:sp>
      <p:sp>
        <p:nvSpPr>
          <p:cNvPr id="36868" name="Slide Image Placeholder 36867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6869" name="Text Placeholder 36868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36870" name="Footer Placeholder 3686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en-US" sz="1200"/>
          </a:p>
        </p:txBody>
      </p:sp>
      <p:sp>
        <p:nvSpPr>
          <p:cNvPr id="36871" name="Slide Number Placeholder 36870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sz="1200"/>
            </a:fld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 algn="r"/>
            <a:fld id="{9A0DB2DC-4C9A-4742-B13C-FB6460FD3503}" type="slidenum">
              <a:rPr lang="en-US" sz="1200"/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image" Target="../media/image3.jpe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762000"/>
            <a:ext cx="9144635" cy="6073140"/>
          </a:xfrm>
        </p:spPr>
        <p:txBody>
          <a:bodyPr/>
          <a:p>
            <a:pPr marL="0" indent="0" algn="ctr">
              <a:buNone/>
            </a:pPr>
            <a:endParaRPr lang="en-US" sz="36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College of Business and Economics</a:t>
            </a:r>
            <a:endParaRPr lang="en-US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Departement of Management</a:t>
            </a:r>
            <a:endParaRPr lang="en-US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endParaRPr lang="en-US" sz="36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CHAPTER 4: PRODUCT/SERVICE DEVELOPMENT</a:t>
            </a:r>
            <a:r>
              <a:rPr lang="en-US" sz="1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</a:t>
            </a:r>
            <a:endParaRPr lang="en-US" sz="28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    </a:t>
            </a:r>
            <a:endParaRPr lang="en-US" sz="28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               </a:t>
            </a:r>
            <a:endParaRPr 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5" name="Picture 4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3200" y="0"/>
            <a:ext cx="3797300" cy="162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4989195"/>
            <a:ext cx="3402965" cy="173228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Chapter Learning Outcomes</a:t>
            </a:r>
            <a:endParaRPr lang="en-US" sz="480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555" y="1174750"/>
            <a:ext cx="8886825" cy="5530850"/>
          </a:xfrm>
        </p:spPr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this chapter, students should be able to: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Describe the Concept of Product and Services;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List Product/Service Development Process; and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Discuss the Intellectual Property Protection.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3.1 Introduction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Product/service development is the complete process of bringing a new product or service to the market.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It is an ongoing practice in Entrepreneur’s business.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New products provide growth opportunities and strengthen market position.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New product development includes: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Idea generation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Product design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Detail engineering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Market research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analysis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New product development is critical due to: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Intense global competition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Short product and technology lifecycles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Unpredictable consumer buying patterns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Possible market stagnation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chapter explores the new product development process.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Focus on real life situations and consumer insight.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4.2 The Concept of Product/Service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Many entrepreneurs find it difficult to identify a new product/service or market opportunity.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need to identify opportunities for domestic and/or international expansion.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 ventures grow, new management skills and corporate entrepreneurship may be required.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entrepreneurs adapt organizational culture, structure, procedures, strategic direction, and products.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Product/Service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success depends on customer satisfaction and delight.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comes from products/services with required attributes.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products/services need: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Attractive package design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Robust performance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Product design must be practical for production and provide competitive advantage.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Product/Service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Product design aims to: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35">
                <a:latin typeface="Times New Roman" panose="02020603050405020304" pitchFamily="18" charset="0"/>
                <a:cs typeface="Times New Roman" panose="02020603050405020304" pitchFamily="18" charset="0"/>
              </a:rPr>
              <a:t>Satisfy customers</a:t>
            </a:r>
            <a:endParaRPr lang="en-US" sz="183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35">
                <a:latin typeface="Times New Roman" panose="02020603050405020304" pitchFamily="18" charset="0"/>
                <a:cs typeface="Times New Roman" panose="02020603050405020304" pitchFamily="18" charset="0"/>
              </a:rPr>
              <a:t>Maximize value at minimum cost</a:t>
            </a:r>
            <a:endParaRPr lang="en-US" sz="183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Products/services must meet primary needs and desires.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May involve enhancement of existing products rather than new development.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Companies introduce smaller, efficient, intelligent products with lean operations.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Match emerging trends with technology and purchasing dynamics.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Product/Service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startups depend on a distinctive and compelling proposition.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Products/services succeed if they: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Eliminate existing pain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Add significant tangible benefits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Easier to sell products that solve clear customer pain.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Product/Service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 is a myth that anyone can succeed with any idea.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Most businessmen are knowledgeable about their merchandise before starting.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Even experienced operators face unexpected troubles.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Novices may introduce more problems than they can manage, reducing effectiveness.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4.3 Product/Service Development Process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Product development is the process through which companies: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React to market signals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Respond to changes in customer demand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Adopt new technologies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Foray into new areas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35">
                <a:latin typeface="Times New Roman" panose="02020603050405020304" pitchFamily="18" charset="0"/>
                <a:cs typeface="Times New Roman" panose="02020603050405020304" pitchFamily="18" charset="0"/>
              </a:rPr>
              <a:t>Ensure continuous growth</a:t>
            </a:r>
            <a:endParaRPr lang="en-US" sz="183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 is a core process for achieving strategic objectives.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renewal of the business model and deters competition.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Product/Service Development Process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After selecting the opportunity and designing a business model, the next step is to develop a commercial version of the opportunity.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most cases, this is either a product or a service.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successful business continuously and rapidly develops new or improved versions of existing products that deliver more value than customers expect (Palgrave, 2019).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Product/Service Development Process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Product/service development is part of the overall new-venture creation process.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Although many models exist, four distinct stages are adopted here: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Idea Generation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Incubation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Diffusion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Product/Service Development Process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105" name="Image 105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381000" y="1143000"/>
            <a:ext cx="8502015" cy="463296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Stages of new product development process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New Idea Generation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Idea Screening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Concept Development and Testing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Marketing Strategy Development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Analysis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Product Development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Market Testing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Commercialization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 New Idea Generation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Process starts with search for ideas.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Companies should encourage any new idea.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Idea must have a market for the product/service conceived.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ideas include: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Consumers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products and services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channels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Federal government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development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Idea Screening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Purpose is to reduce ideas to few vital/valuable ones.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Ideas are written down and reviewed weekly by an idea committee.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Ideas sorted into: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Promising Ideas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Marginal Ideas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Rejects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Promising ideas are researched by committee members.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Concept Development and Testing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Attractive ideas refined into testable product concepts.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People buy concepts, not ideas.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Key questions: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Who will use the product?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What benefits should it provide?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When will it be consumed?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Concept testing involves target consumers and their reactions.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Concepts may be presented in words or pictures.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Marketing Strategy Development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Develop preliminary marketing strategy after product testing.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Strategy refined in later stages.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Plan includes: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Market size, structure, behavior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Planned price, distribution strategy, 1st year marketing budget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Long-run sales, profit goals, marketing mix strategy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Business Analysis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Evaluate business attractiveness of the proposal.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Prepare sales, cost, and profit projections.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Estimate total sales to ensure satisfactory profit.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Estimate costs and profits at different sales levels.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 financial measures such as breakeven analysis.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 Product Development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Product concept moves to R&amp;D or engineering.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Develop physical versions or prototypes.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Prototype must embody key attributes in concept statement.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Design functional and psychological characteristics.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Conduct: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tests (laboratory &amp; field conditions)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Consumer tests (lab or home use)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 Market Testing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Product dressed with brand name.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Test in authentic consumer settings.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Learn market size and reactions of consumers and dealers.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information on buyers, dealers, effectiveness, and potential.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Benefits include more reliable sales forecasts and pretesting alternatives.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Commercialization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Market entry timing is critical.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Strategies: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First Entry (first mover advantage)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Late Entry Strategy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Competitor educates market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Avoid competitor’s faults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Learn market size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Parallel Entry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Use latest technology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Operate at higher volume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Reduce cost and improve quality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Use innovative marketing approach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Commercialization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Single locality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Region/several regions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National/international market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Whom: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Early adopters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Heavy users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Opinion leaders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Reachable at low cost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How: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Use network-planning techniques such as Critical Path Scheduling (CPS).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4.4 Legal and Regulatory Frameworks for Entrepreneurs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have many options in setting up an organization.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It is necessary to understand advantages and disadvantages regarding: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Liability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Taxes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Continuity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Transferability of interest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Costs of setting up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Attractiveness for raising capital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Legal advice is necessary to ensure appropriate decisions.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Legal and Regulatory Frameworks for Entrepreneurs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Novice entrepreneurs face challenges in understanding the regulatory environment.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regulatory environment consists of numerous laws and regulations.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operate legally and avoid unnecessary suits and liabilities, entrepreneurs must understand the laws governing their business.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key legal issues every entrepreneur needs to consider.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06045"/>
            <a:ext cx="8229600" cy="879475"/>
          </a:xfrm>
        </p:spPr>
        <p:txBody>
          <a:bodyPr/>
          <a:p>
            <a:pPr algn="ctr"/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4.5Intellectual Property Protection/Product/Service Protection</a:t>
            </a: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4.5.1What is Intellectual Property?</a:t>
            </a: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6685" y="914400"/>
            <a:ext cx="854011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property includes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patents, trademarks, copyrights, and trade secrets.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important assets to the entrepreneur.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often ignore important protection steps due to lack of understanding.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property covers ideas, inventions, artistic works, and commercially viable products created from mental processes.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Protected by legal means such as patents, copyrights, and trademark registrations.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must protect these assets under relevant law.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Experts recommend official registration for protection.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06045"/>
            <a:ext cx="8229600" cy="879475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4.5.2 Patents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310" y="914400"/>
            <a:ext cx="893254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who invent or improve inventions need patent protection.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patent is a contract between inventor and government.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grants exclusive rights in exchange for disclosure.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Types of Patents: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Utility Patent: Protects new inventions or functional improvements.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Design Patent: Protects appearance, ornamental and original designs.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when function is not improved but style is changed.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for shoe producers and package design firms.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06045"/>
            <a:ext cx="8229600" cy="879475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Patent Rights and Scope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310" y="914400"/>
            <a:ext cx="893254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Patent provides exclusive rights to hold, transfer, and license production and sale.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Issued by government for a specific number of years.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Can be sold, transferred, willed, licensed, or used as collateral.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Can Be Patented: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Processes: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Methods of production, research, testing, analysis, technologies with new applications.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Machines: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Products, instruments, physical objects.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Manufactures: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Combinations of physical matter not naturally found.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matter: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Chemical compounds, medicines, etc.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06045"/>
            <a:ext cx="8229600" cy="879475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4.5.3Trademarks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310" y="914400"/>
            <a:ext cx="893254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trademark may be a word, symbol, design, slogan, or sound.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source or sponsorship of goods/services.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by government offices.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Can last indefinitely if properly renewed.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Renewed periodically unless canceled or abandoned.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06045"/>
            <a:ext cx="8229600" cy="879475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a Registered Trademark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310" y="914400"/>
            <a:ext cx="893254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nationwide exclusive rights notice.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Allows suing for trademark infringement.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Establishes incontestable commercial rights.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Allows registration with customs to prevent similar imports.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Entitles use of the ® symbol.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basis for foreign trademark applications.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06045"/>
            <a:ext cx="8229600" cy="879475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4.5.4Copyrights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310" y="914400"/>
            <a:ext cx="893254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Copyright prevents others from printing, copying, or publishing original works.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Protects literary and artistic productions.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Covers works such as poetry, novels, movies, songs, software, and architecture.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exclusive rights to creators.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Usually valid for life of the inventor plus additional decades.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06045"/>
            <a:ext cx="8229600" cy="879475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4.6The Intellectual Property System in Ethiopia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310" y="914400"/>
            <a:ext cx="893254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Ethiopia became party to the convention establishing the World Intellectual Property Organization (WIPO) in February 1998.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Joined the Nairobi Treaty on the Protection of the Olympic Symbol in 1981.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Member of Common Market for Eastern and Southern Africa (1994).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Party to Partnership Agreement between African, Caribbean and Pacific Group of States and the European Union.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06045"/>
            <a:ext cx="8229600" cy="879475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The Intellectual Property System in Ethiopia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310" y="914400"/>
            <a:ext cx="893254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Ethiopian Intellectual Property Office established in 2003.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Facilitate legal protection and exploitation of intellectual property.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disseminate technological information from patent documents.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Recommend IP policies and legislation.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Promote public awareness of intellectual property.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06045"/>
            <a:ext cx="8229600" cy="879475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Patent Law in Ethiopia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310" y="914400"/>
            <a:ext cx="893254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Governed by Patent Proclamation and Implementing Regulation.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Conditions for patent: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Must be new.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Must be capable of industrial application.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Must be non-obvious.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Excluded from patentability: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Inventions against public order or morality.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Plant/animal varieties and biological processes.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Schemes, rules, business methods, computer programs.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Discoveries, scientific theories, mathematical methods.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Medical treatment and diagnostic methods.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06045"/>
            <a:ext cx="8229600" cy="879475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Rights and Limitations of Patentee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310" y="914400"/>
            <a:ext cx="893254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Rights include making, using, and exploiting the invention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required for others to use it.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 import monopoly right in Ethiopia.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include: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Non-commercial use.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research and experimentation.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Temporary presence in aircraft, vehicles, vessels.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Products lawfully marketed in Ethiopia.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National security, health, nutrition, economic development (with remuneration).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Patent duration: 15 years, extendable by 5 years.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06045"/>
            <a:ext cx="8229600" cy="879475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Trademark Protection in Ethiopia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310" y="914400"/>
            <a:ext cx="893254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Trademark Directive issued in 1986.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Central registration of trademarks.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Distinguish goods/services and prevent unfair trade.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 ownership information.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 trademark information to government and individuals.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granted after publication of cautionary notice.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06045"/>
            <a:ext cx="8229600" cy="879475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Copyright Protection in Ethiopia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310" y="914400"/>
            <a:ext cx="893254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Protected under Copyright and Related Rights Proclamation (2004).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Covers literary, artistic, and scientific works including: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Books, articles, computer programs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Speeches and lectures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Dramatic and musical works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Audiovisual works and sound recordings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and fine arts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Photographic and cinematographic works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Maps, plans, sketches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Derivative works and databases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06045"/>
            <a:ext cx="8229600" cy="879475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Scope and Duration of Copyright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310" y="914400"/>
            <a:ext cx="8932545" cy="589724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applies to: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Nationals or residents of Ethiopia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Works first published in Ethiopia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Audiovisual works with producer headquartered in Ethiopia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works located in Ethiopia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granted upon creation if original and fixed in material form.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Quality and purpose not considered.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Protects rights of performers, phonogram producers, and broadcasters.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Duration:</a:t>
            </a:r>
            <a:endParaRPr lang="en-US" sz="2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charset="0"/>
              <a:buChar char="Ø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Life of author plus 50 years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charset="0"/>
              <a:buChar char="Ø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50 years for performers and producers of sound recordings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charset="0"/>
              <a:buChar char="Ø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20 years for broadcasting organizations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39370" y="0"/>
            <a:ext cx="9261475" cy="68446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13354</Words>
  <Application>WPS Presentation</Application>
  <PresentationFormat>如螢幕大小</PresentationFormat>
  <Paragraphs>601</Paragraphs>
  <Slides>40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Arial</vt:lpstr>
      <vt:lpstr>SimSun</vt:lpstr>
      <vt:lpstr>Wingdings</vt:lpstr>
      <vt:lpstr>Times New Roman</vt:lpstr>
      <vt:lpstr>Microsoft YaHei</vt:lpstr>
      <vt:lpstr>Arial Unicode MS</vt:lpstr>
      <vt:lpstr>Wingdings</vt:lpstr>
      <vt:lpstr>Communications and Dialogues</vt:lpstr>
      <vt:lpstr>PowerPoint 演示文稿</vt:lpstr>
      <vt:lpstr>Chapter Learning Outcomes</vt:lpstr>
      <vt:lpstr>3.1 Introduction</vt:lpstr>
      <vt:lpstr>Introduction</vt:lpstr>
      <vt:lpstr> Introduction</vt:lpstr>
      <vt:lpstr>4.2 The Concept of Product/Service</vt:lpstr>
      <vt:lpstr>Product/Service</vt:lpstr>
      <vt:lpstr> Product/Service</vt:lpstr>
      <vt:lpstr> Product/Service</vt:lpstr>
      <vt:lpstr>Product/Service</vt:lpstr>
      <vt:lpstr>4.3 Product/Service Development Process</vt:lpstr>
      <vt:lpstr>Product/Service Development Process</vt:lpstr>
      <vt:lpstr> Product/Service Development Process</vt:lpstr>
      <vt:lpstr> Product/Service Development Process</vt:lpstr>
      <vt:lpstr> Stages of new product development process</vt:lpstr>
      <vt:lpstr>1. New Idea Generation</vt:lpstr>
      <vt:lpstr> 2. Idea Screening </vt:lpstr>
      <vt:lpstr>  3. Concept Development and Testing  </vt:lpstr>
      <vt:lpstr>   4. Marketing Strategy Development   </vt:lpstr>
      <vt:lpstr>5. Business Analysis</vt:lpstr>
      <vt:lpstr>6. Product Development</vt:lpstr>
      <vt:lpstr> 7. Market Testing t</vt:lpstr>
      <vt:lpstr>  8. Commercialization  t</vt:lpstr>
      <vt:lpstr>  Commercialization  t</vt:lpstr>
      <vt:lpstr>  4.4 Legal and Regulatory Frameworks for Entrepreneurs  t</vt:lpstr>
      <vt:lpstr>  Legal and Regulatory Frameworks for Entrepreneurs  t</vt:lpstr>
      <vt:lpstr>   4.5Intellectual Property Protection/Product/Service Protection 4.5.1What is Intellectual Property?  t</vt:lpstr>
      <vt:lpstr>4.5.2 Patents</vt:lpstr>
      <vt:lpstr>Patent Rights and Scope</vt:lpstr>
      <vt:lpstr>4.5.3Trademarks</vt:lpstr>
      <vt:lpstr>Benefits of a Registered Trademark</vt:lpstr>
      <vt:lpstr>4.5.4Copyrights</vt:lpstr>
      <vt:lpstr>4.6The Intellectual Property System in Ethiopia</vt:lpstr>
      <vt:lpstr>The Intellectual Property System in Ethiopia</vt:lpstr>
      <vt:lpstr>Patent Law in Ethiopia</vt:lpstr>
      <vt:lpstr>Rights and Limitations of Patentee</vt:lpstr>
      <vt:lpstr>Trademark Protection in Ethiopia</vt:lpstr>
      <vt:lpstr>Copyright Protection in Ethiopia</vt:lpstr>
      <vt:lpstr>Scope and Duration of Copyright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Project Management</dc:title>
  <dc:creator/>
  <cp:lastModifiedBy>nEW u</cp:lastModifiedBy>
  <cp:revision>460</cp:revision>
  <dcterms:created xsi:type="dcterms:W3CDTF">2001-07-05T23:10:00Z</dcterms:created>
  <dcterms:modified xsi:type="dcterms:W3CDTF">2026-02-22T20:24:10Z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1033-11.2.0.10176</vt:lpwstr>
  </property>
</Properties>
</file>