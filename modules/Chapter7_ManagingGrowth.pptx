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51" r:id="rId3"/>
    <p:sldId id="464" r:id="rId5"/>
    <p:sldId id="651" r:id="rId6"/>
    <p:sldId id="1089" r:id="rId7"/>
    <p:sldId id="1092" r:id="rId8"/>
    <p:sldId id="1094" r:id="rId9"/>
    <p:sldId id="1096" r:id="rId10"/>
    <p:sldId id="1098" r:id="rId11"/>
    <p:sldId id="1100" r:id="rId12"/>
    <p:sldId id="1102" r:id="rId13"/>
    <p:sldId id="1104" r:id="rId14"/>
    <p:sldId id="1106" r:id="rId15"/>
    <p:sldId id="1108" r:id="rId16"/>
    <p:sldId id="1110" r:id="rId17"/>
    <p:sldId id="1112" r:id="rId18"/>
    <p:sldId id="1114" r:id="rId19"/>
    <p:sldId id="1116" r:id="rId20"/>
    <p:sldId id="1118" r:id="rId21"/>
    <p:sldId id="1120" r:id="rId22"/>
    <p:sldId id="1122" r:id="rId23"/>
    <p:sldId id="1124" r:id="rId24"/>
    <p:sldId id="1126" r:id="rId25"/>
    <p:sldId id="1128" r:id="rId26"/>
    <p:sldId id="1130" r:id="rId27"/>
    <p:sldId id="1132" r:id="rId28"/>
    <p:sldId id="1134" r:id="rId29"/>
    <p:sldId id="1136" r:id="rId30"/>
    <p:sldId id="1138" r:id="rId31"/>
    <p:sldId id="1140" r:id="rId32"/>
    <p:sldId id="1142" r:id="rId33"/>
    <p:sldId id="1144" r:id="rId34"/>
    <p:sldId id="1146" r:id="rId35"/>
    <p:sldId id="1148" r:id="rId36"/>
    <p:sldId id="1150" r:id="rId37"/>
    <p:sldId id="1152" r:id="rId38"/>
    <p:sldId id="1154" r:id="rId39"/>
    <p:sldId id="1156" r:id="rId40"/>
    <p:sldId id="1158" r:id="rId41"/>
    <p:sldId id="1160" r:id="rId42"/>
    <p:sldId id="1162" r:id="rId43"/>
    <p:sldId id="1164" r:id="rId44"/>
    <p:sldId id="1166" r:id="rId45"/>
    <p:sldId id="1168" r:id="rId46"/>
    <p:sldId id="1170" r:id="rId47"/>
    <p:sldId id="1172" r:id="rId48"/>
    <p:sldId id="1174" r:id="rId49"/>
    <p:sldId id="1176" r:id="rId50"/>
    <p:sldId id="1178" r:id="rId51"/>
    <p:sldId id="1180" r:id="rId52"/>
    <p:sldId id="1184" r:id="rId53"/>
    <p:sldId id="1186" r:id="rId54"/>
    <p:sldId id="1188" r:id="rId55"/>
    <p:sldId id="1190" r:id="rId56"/>
    <p:sldId id="1192" r:id="rId57"/>
    <p:sldId id="1194" r:id="rId58"/>
    <p:sldId id="1196" r:id="rId59"/>
    <p:sldId id="1198" r:id="rId60"/>
    <p:sldId id="1200" r:id="rId61"/>
    <p:sldId id="1202" r:id="rId62"/>
    <p:sldId id="1204" r:id="rId63"/>
    <p:sldId id="1206" r:id="rId64"/>
    <p:sldId id="1208" r:id="rId65"/>
    <p:sldId id="1210" r:id="rId66"/>
    <p:sldId id="1212" r:id="rId67"/>
    <p:sldId id="548" r:id="rId6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8"/>
    <p:restoredTop sz="94576"/>
  </p:normalViewPr>
  <p:slideViewPr>
    <p:cSldViewPr showGuides="1">
      <p:cViewPr varScale="1">
        <p:scale>
          <a:sx n="110" d="100"/>
          <a:sy n="110" d="100"/>
        </p:scale>
        <p:origin x="-210" y="-84"/>
      </p:cViewPr>
      <p:guideLst>
        <p:guide orient="horz" pos="215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4.xml"/><Relationship Id="rId69" Type="http://schemas.openxmlformats.org/officeDocument/2006/relationships/presProps" Target="presProps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866" name="Header Placeholder 3686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en-US" sz="1200"/>
          </a:p>
        </p:txBody>
      </p:sp>
      <p:sp>
        <p:nvSpPr>
          <p:cNvPr id="36867" name="Date Placeholder 36866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en-US" sz="1200"/>
          </a:p>
        </p:txBody>
      </p:sp>
      <p:sp>
        <p:nvSpPr>
          <p:cNvPr id="36868" name="Slide Image Placeholder 36867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869" name="Text Placeholder 36868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36870" name="Footer Placeholder 3686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en-US" sz="1200"/>
          </a:p>
        </p:txBody>
      </p:sp>
      <p:sp>
        <p:nvSpPr>
          <p:cNvPr id="36871" name="Slide Number Placeholder 36870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sz="1200"/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 algn="r"/>
            <a:fld id="{9A0DB2DC-4C9A-4742-B13C-FB6460FD3503}" type="slidenum">
              <a:rPr lang="en-US" sz="1200"/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image" Target="../media/image3.jpe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jpe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762000"/>
            <a:ext cx="9144635" cy="6073140"/>
          </a:xfrm>
        </p:spPr>
        <p:txBody>
          <a:bodyPr/>
          <a:p>
            <a:pPr marL="0" indent="0" algn="ctr">
              <a:buNone/>
            </a:pPr>
            <a:endParaRPr lang="en-US" sz="36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College of Business and Economics</a:t>
            </a: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Departement of Management</a:t>
            </a: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endParaRPr lang="en-US" sz="36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CHAPTER 7 MANAGING GROWTH AND TRANSITION </a:t>
            </a:r>
            <a:endParaRPr 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             </a:t>
            </a:r>
            <a:endParaRPr lang="en-US" sz="28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                 </a:t>
            </a:r>
            <a:endParaRPr 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5" name="Picture 4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0"/>
            <a:ext cx="3797300" cy="130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36795"/>
            <a:ext cx="3208020" cy="202120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Chapter Learning Outcomes</a:t>
            </a:r>
            <a:endParaRPr lang="en-US" sz="48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555" y="1174750"/>
            <a:ext cx="8886825" cy="5530850"/>
          </a:xfrm>
        </p:spPr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this chapter, students should be able to: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Identify factors that affect business growth,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business expansion strategies,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Know &amp; internalize business ethics &amp; social responsibilities.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3.1 Introduction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initially focus on resource mobilization.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At the growth stage, businesses must continue expanding with proper management and leadership.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Success depends on: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Controllable variables – decisions, management, leadership.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Uncontrollable variables – market conditions, regulations, external environment.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developing countries like Ethiopia, growth is challenged by a business-unfriendly environment.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Key focus areas for growing businesses: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growth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Business ethics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Corporate social responsibility (CSR)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1.2Timmons Model of Entrepreneurship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656580"/>
          </a:xfrm>
        </p:spPr>
        <p:txBody>
          <a:bodyPr/>
          <a:p>
            <a:pPr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What key aspects does an entrepreneur need to manage to start and grow a business?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Figure 7.1 Timmons model of entrepreneurship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00" y="1752600"/>
            <a:ext cx="7613015" cy="414464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Timmons Model of Entrepreneurship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Jeffry Timmons (2006)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Originated from doctoral thesis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Enhanced through further research and case studies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Serves as a guide to increase chances of entrepreneurial success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central themes driving the dynamic entrepreneurial process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Core Themes of the Timmons Model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Lead entrepreneur &amp; entrepreneurial team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Careful use of money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Integrated, holistic, sustainable, and balanced approach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Controllable components that can be assessed and influenced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 risks career, personal cash flow, and net worth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Three Key Components for Venture Success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successful venture, entrepreneurs must balance: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endParaRPr lang="en-US" sz="2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Teams</a:t>
            </a:r>
            <a:endParaRPr lang="en-US" sz="2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en-US" sz="2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These are dynamic and interdependent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one factor affect the others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 Opportunities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is opportunity driven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Process does not start with: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Business plan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Money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 step: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evaluate a viable market opportunity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Problems in the environment become opportunities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vs. Idea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Right opportunity ensures long-term success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is more essential than talent or competence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 good idea ≠ a great business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Excellent idea: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Creates or adds customer value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Attractive, durable, and timely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Opportunities (Ethiopian Context)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Quality problems in education     Tutorial programs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Shortage of housemaids      Daycare centers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Weak textbook preparation      Supplementary textbooks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Question banks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Solved problems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problems transformed into business opportunities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267200" y="1219200"/>
            <a:ext cx="304800" cy="7620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3505200" y="2057400"/>
            <a:ext cx="304800" cy="7620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3886200" y="2971800"/>
            <a:ext cx="304800" cy="7620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2. Teams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Critical after identifying opportunity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have defined roles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Individuals have strengths and weaknesses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 one is complete in all aspects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Teams evolve through stages toward maturity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the Entrepreneurial Team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Lead entrepreneur must: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Identify opportunity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Gather required resources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Assemble best talent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Team size &amp; background depend on opportunity size and nature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Good team      Great success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Poor team      Waste of great idea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1828800" y="4953000"/>
            <a:ext cx="304800" cy="7620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1905000" y="4114800"/>
            <a:ext cx="304800" cy="7620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Major Roles of the Team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Reduce ambiguity and uncertainty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Apply creativity (inventiveness)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Provide leadership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Manage resources effectively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Interact with external forces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Respond to changing capital market context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3.Resources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Finding and managing resources requires specific skills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Equally important as managing people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Two main types: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Tangible Resources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Buildings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Land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technology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Money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Intangible Resources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Goodwill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Balancing the Three Factors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Success depends on balancing: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Managed through: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Leadership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Transforms opportunity into viable business model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Qualities of Entrepreneurs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tend to have: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Industry knowledge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user needs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Sense of timing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Market entry awareness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Ability to handle uncertainty and change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Capacity to capitalize on favorable events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the Timmons Model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opportunities rather than threats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Academically tested approach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identifying fits and gaps among: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Venture creation is an evolutionary process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Factors are dynamic and interrelated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1.3 New Venture Expansion Strategies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1.3.1 Introduction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All successful small businesses eventually face growth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Expansion brings opportunities and perils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Often increases financial returns for: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Owners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Employees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Validates entrepreneur’s original vision and effort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of Business Growth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Growth creates managerial, legal, and financial challenges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Hiring new employees      Need for stronger leadership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becomes less centralized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Increased: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Internal politics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Protectionism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Disagreements over goals and projects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3352800" y="1600200"/>
            <a:ext cx="304800" cy="7620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&amp; Financial Implications of Growth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Expanded market share     New strategies against larger competitors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capital required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New responsibilities to: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Shareholders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Investors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lenders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company structure, needs, and objectives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4038600" y="1219200"/>
            <a:ext cx="304800" cy="7620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Managing Growth Effectively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Growth must align with meaningful long-term objectives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Profitable growth is a by-product of: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Effective management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Proper planning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Careful handling of key factors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Requires understanding strengths and weaknesses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1.3.2 Methods of Growth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Small businesses expand through incremental or strategic approaches: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product inventory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Expanding services rendered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Studying broader growth options over time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Common Routes of Expansion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Acquisition of smaller existing businesses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Offering franchise ownership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Licensing intellectual property (common in software products)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distributorships and dealerships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Pursuing new marketing routes (e.g., catalogs)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Growth Options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oining industry cooperatives: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Advertising savings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Purchasing advantages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Public stock offerings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Employee Stock Ownership Plans (ESOPs):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Shares given/sold to employees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Common in social enterprises and Chinese firms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Preparing for Growth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Before pursuing expansion: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Conduct honest assessment of: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Weaknesses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markets and opportunities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Develop structures and processes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Complete long-range planning (3–5 years)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Agree on key future strategies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Organic growth as one method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1.3.3The Ansoff Matrix – Growth Strategy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Strategic planning tool for future growth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Igor Ansoff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the Product/Market Matrix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Focuses on: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What is sold (product growth)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Who it is sold to (market growth)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Four Generic Growth Strategies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Ansoff Matrix outlines four strategies with different risk levels: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Market Penetration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Market Developmen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Product Development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 algn="just">
              <a:buFont typeface="+mj-lt"/>
              <a:buAutoNum type="arabicPeriod"/>
            </a:pPr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Diversification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Four Generic Growth Strategies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773430"/>
            <a:ext cx="9000490" cy="6028055"/>
          </a:xfrm>
        </p:spPr>
        <p:txBody>
          <a:bodyPr/>
          <a:p>
            <a:pPr marL="0" indent="0" algn="just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Market Penetration / Consumption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products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Existing market segments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Aim: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Increase market share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Low risk (high experience with product and market)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. Market Development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products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New market segments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Medium to high risk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3. Product Development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New products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Existing market segments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Medium to high risk (limited experience with new product)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4. Diversification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New products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New markets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High risk (no experience with product and market)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Four Generic Growth Strategies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8440420" cy="4953000"/>
          </a:xfrm>
        </p:spPr>
        <p:txBody>
          <a:bodyPr/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    Figure 7.2 Ansoff’s Matrix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1" name="Image 151"/>
          <p:cNvPicPr>
            <a:picLocks noChangeAspect="1"/>
          </p:cNvPicPr>
          <p:nvPr>
            <p:ph sz="half" idx="2"/>
          </p:nvPr>
        </p:nvPicPr>
        <p:blipFill>
          <a:blip r:embed="rId1" cstate="print"/>
          <a:stretch>
            <a:fillRect/>
          </a:stretch>
        </p:blipFill>
        <p:spPr>
          <a:xfrm>
            <a:off x="838200" y="1219200"/>
            <a:ext cx="7130415" cy="41751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1.3.3.1Selecting a Product-Market Growth Strategy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Four strategic options for growth: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Market Penetration / Consumption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Market Development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Product Development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Diversification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I) Market Penetration / Consumption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products in existing markets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No major product change required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Growth through: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Promotional methods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Attractive pricing policies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Extensive distribution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Encourage increased product usage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Example: Toothbrush size influencing toothpaste consumption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Lowest risk (familiar product and market)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II) Market Development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products      New markets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Assumes current markets are fully exploited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Achieved through: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New geographical markets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35">
                <a:latin typeface="Times New Roman" panose="02020603050405020304" pitchFamily="18" charset="0"/>
                <a:cs typeface="Times New Roman" panose="02020603050405020304" pitchFamily="18" charset="0"/>
              </a:rPr>
              <a:t>New distribution channels (e-commerce, mail order)</a:t>
            </a:r>
            <a:endParaRPr lang="en-US" sz="21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35">
                <a:latin typeface="Times New Roman" panose="02020603050405020304" pitchFamily="18" charset="0"/>
                <a:cs typeface="Times New Roman" panose="02020603050405020304" pitchFamily="18" charset="0"/>
              </a:rPr>
              <a:t>New product packaging</a:t>
            </a:r>
            <a:endParaRPr lang="en-US" sz="21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35">
                <a:latin typeface="Times New Roman" panose="02020603050405020304" pitchFamily="18" charset="0"/>
                <a:cs typeface="Times New Roman" panose="02020603050405020304" pitchFamily="18" charset="0"/>
              </a:rPr>
              <a:t>Different pricing policies</a:t>
            </a:r>
            <a:endParaRPr lang="en-US" sz="21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Guinness expanding into African markets including Ethiopia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Medium to high risk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743200" y="1219200"/>
            <a:ext cx="304800" cy="7620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III) Product Development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New or modified products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Targeted to existing markets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 may include: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presentation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Better performance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Higher quality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Car manufacturers offering additional car parts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Medium to high risk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IV) Diversification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New products     New markets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Most risky strategy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Two major unknowns: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Product development problems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Unknown market characteristics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Requires clear objectives and risk assessment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286000" y="1219200"/>
            <a:ext cx="304800" cy="7620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Types of Diversification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marL="0" indent="0" algn="just">
              <a:buNone/>
            </a:pPr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Related Diversification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Within same industry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 Cake manufacturer      Fresh juice production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Unrelated Diversification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No previous industry/market experience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Example: Richard Branson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Virgin brand diversified into: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1830">
                <a:latin typeface="Times New Roman" panose="02020603050405020304" pitchFamily="18" charset="0"/>
                <a:cs typeface="Times New Roman" panose="02020603050405020304" pitchFamily="18" charset="0"/>
              </a:rPr>
              <a:t>Entertainment</a:t>
            </a:r>
            <a:endParaRPr lang="en-US" sz="183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1830">
                <a:latin typeface="Times New Roman" panose="02020603050405020304" pitchFamily="18" charset="0"/>
                <a:cs typeface="Times New Roman" panose="02020603050405020304" pitchFamily="18" charset="0"/>
              </a:rPr>
              <a:t>Air and rail travel</a:t>
            </a:r>
            <a:endParaRPr lang="en-US" sz="183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US" sz="1830">
                <a:latin typeface="Times New Roman" panose="02020603050405020304" pitchFamily="18" charset="0"/>
                <a:cs typeface="Times New Roman" panose="02020603050405020304" pitchFamily="18" charset="0"/>
              </a:rPr>
              <a:t>Foods</a:t>
            </a:r>
            <a:endParaRPr lang="en-US" sz="183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Over 400 companies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4191000" y="1981200"/>
            <a:ext cx="304800" cy="7620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1.3.4 Expansion Issues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I) Growing Too Fast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can overwhelm business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Demand may exceed production capacity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strain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Requires effective research and long-term planning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II)Recordkeeping and Other Infrastructure Needs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Need updated systems for: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Cash flow monitoring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Inventory tracking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Financial management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HR information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in advanced communication systems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III)Expansion Capital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Growth requires additional financing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Can be frustrating if unprepared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Revise business plan annually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Update marketing strategies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Secure financing under favorable terms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IV)Personnel Issues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Hiring new staff for: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Careful hiring essential during expansion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Growth creates opportunities for early employees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Some employees may leave due to change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V) Customer Service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service often declines during rapid growth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Increased workload      Delayed responses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Risk of losing existing and new clients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Maintain adequate staffing levels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3048000" y="2057400"/>
            <a:ext cx="304800" cy="7620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VI)Disagreements among Ownership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Early ownership arrangements may become problematic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in: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 levels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Vision for company direction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Possible partner departure for unified direction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VII)Family Issues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Expansion requires sacrifice of time and money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Growing family responsibilities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Pressure to balance home and business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must decide on personal sacrifices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VIII)Transformation of Company Culture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Harder to maintain early values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Growth leads to: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Larger staff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Expanding markets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More deadlines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Owners must actively shape company culture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IX)Changing Role of Owner At The Initial State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Shift from hands-on role to CEO role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Focus on: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Leadership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Delegate daily operations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Seek external expertise (legal, accounting)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1.3.5 Choosing not to Grow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Some owners avoid expansion despite opportunity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Growth reduces: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Close relationships with customers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Direct employee interaction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Avoid stress and management headaches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Desire to balance family and personal interests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1.4Business Ethics and Social Responsibility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marL="0" indent="0"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Define and discuss the three main theories of corporate social responsibility (CSR).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Explain why CSR ultimately benefits both companies and their stakeholders.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1.4.1 Introduction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Business organizations, as established by their entrepreneurs, are expected to do their businesses in a sustainable and ethical manner. For this there are certain theories that we should understand.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These theories have been evolving through time as business practices mature and grow as well as societal and government influence increase.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1.4.2Three Approaches to Corporate Responsibility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view: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Corporation exists primarily to make profits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Supported by stockholder theory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Broader view includes: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Corporate Social Responsibility (CSR)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Triple Bottom Line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+mj-lt"/>
              <a:buAutoNum type="arabicPeriod"/>
            </a:pPr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Theory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 Corporate Social Responsibility (CSR)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Meaning of CSR: </a:t>
            </a:r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General theory emphasizing: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Profit responsibility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Ethical responsibility to community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Philosophy requiring companies to: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Produce reliable products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Charge fair prices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Pay fair wages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Protect environment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Address social concerns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Four Obligations of CSR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marL="457200" indent="-457200" algn="just">
              <a:buAutoNum type="arabicPeriod"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Economic Responsibility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Make profits to survive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profit       no business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AutoNum type="arabicPeriod"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2. Legal Responsibility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Follow laws and regulations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Obey both letter and spirit of the law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Accept rules as social good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2514600" y="2895600"/>
            <a:ext cx="304800" cy="76200"/>
          </a:xfrm>
          <a:prstGeom prst="rightArrow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Four Obligations of CSR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marL="0" indent="0"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3. Ethical Responsibility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Do what is right even if not legally required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Corporate culture as responsible citizen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Example: Safe disposal of toxic waste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4. Philanthropic Responsibility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Voluntary contributions to society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Support community projects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of daily business operations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2. The Triple Bottom Line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Expanded form of CSR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Measures performance in three areas: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Results reported separately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Focus on sustainability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Triple Bottom Line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5" y="936625"/>
            <a:ext cx="9189085" cy="4453255"/>
          </a:xfrm>
        </p:spPr>
        <p:txBody>
          <a:bodyPr/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Figure 7.3 Triple bottom lines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2" name="Image 152"/>
          <p:cNvPicPr>
            <a:picLocks noChangeAspect="1"/>
          </p:cNvPicPr>
          <p:nvPr>
            <p:ph sz="half" idx="2"/>
          </p:nvPr>
        </p:nvPicPr>
        <p:blipFill>
          <a:blip r:embed="rId1" cstate="print"/>
          <a:stretch>
            <a:fillRect/>
          </a:stretch>
        </p:blipFill>
        <p:spPr>
          <a:xfrm>
            <a:off x="838200" y="914400"/>
            <a:ext cx="7175500" cy="497078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Economic Sustainability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Emphasizes long-term financial stability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Avoids volatile short-term profits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Favors durable business plans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Reduces risk of collapse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Social Sustainability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Promotes balance in people’s lives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fair distribution of wealth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Supports dignity of work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Fair trade example: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Ethiopian specialty coffee farmers receive over 30% more than normal prices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Maintain healthy community relationships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Sustainability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Natural resources are limited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Promote conservation and renewable energy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Limit pollution and toxic waste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Support recycling and environmental renewal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Preserve livable planet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CSR vs Triple Bottom Line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CSR: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Focus on corporate obligations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More American-oriented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Triple Bottom Line: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Focus on sustainability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More European-oriented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Both see corporation as community participant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3. Stakeholder Theory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Edward Freeman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Starts from those affected by business actions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Asks: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Who is affected?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What rights do they have?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Those affected have moral claim to participate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Who Are Stakeholders?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include: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Owners/shareholders (reasonable profit)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Employees (reasonable salaries)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Customers (quality &amp; fair prices)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Suppliers (fair input prices)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Community residents (clean environment)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Creditors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(fair taxes)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Local businesses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Competitors (fair competition)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Stakeholder Theory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 treated similar to shareholders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Managers balance interests of all groups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Profit defined as human welfare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Emphasizes transparency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Collective bottom line approach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1.4.3 Business Ethics Principles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Ethical principles</a:t>
            </a:r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 = standards of behavior guiding managers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50">
                <a:latin typeface="Times New Roman" panose="02020603050405020304" pitchFamily="18" charset="0"/>
                <a:cs typeface="Times New Roman" panose="02020603050405020304" pitchFamily="18" charset="0"/>
              </a:rPr>
              <a:t>Define what ethical executives should and should not do</a:t>
            </a:r>
            <a:endParaRPr lang="en-US" sz="24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Honesty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Truthful in all dealings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No deception, misrepresentation, or selective omission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2. Integrity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Do what is right even under pressure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Principled, honorable, upright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Do not sacrifice values for convenience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3. Promise-Keeping &amp; Trustworthiness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Fulfill commitments in letter and spirit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and relevant information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Avoid technical excuses to escape obligations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Business Ethics Principles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marL="0" indent="0"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4. Loyalty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Faithful to company and colleagues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Protect confidential information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Avoid conflicts of interest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5. Fairness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Just and impartial decision-making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No abuse of power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Equal treatment and openness to change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6. Concern for Others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Caring and compassionate behavior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Apply the Golden Rule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Seek least harm and greatest good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Business Ethics Principles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marL="0" indent="0"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7. Respect for Others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Respect dignity, autonomy, and rights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Equal treatment regardless of background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8. Law Abiding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Comply with laws, rules, and regulations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Ensure lawful business practices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9. Commitment to Excellence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Pursue high standards of performance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Stay informed and prepared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improve competence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Business Ethics Principles</a:t>
            </a:r>
            <a:b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marL="0" indent="0"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10. Leadership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Serve as ethical role models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Promote ethical reasoning and decision-making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11. Reputation and Morale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Protect company reputation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Maintain employee morale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Prevent and correct misconduct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450" b="1">
                <a:latin typeface="Times New Roman" panose="02020603050405020304" pitchFamily="18" charset="0"/>
                <a:cs typeface="Times New Roman" panose="02020603050405020304" pitchFamily="18" charset="0"/>
              </a:rPr>
              <a:t>12. Accountability</a:t>
            </a:r>
            <a:endParaRPr lang="en-US" sz="24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Accept responsibility for decisions and actions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40">
                <a:latin typeface="Times New Roman" panose="02020603050405020304" pitchFamily="18" charset="0"/>
                <a:cs typeface="Times New Roman" panose="02020603050405020304" pitchFamily="18" charset="0"/>
              </a:rPr>
              <a:t>Accountable to colleagues, company, and community</a:t>
            </a:r>
            <a:endParaRPr lang="en-US" sz="214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39370" y="0"/>
            <a:ext cx="9261475" cy="68446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16368</Words>
  <Application>WPS Presentation</Application>
  <PresentationFormat>如螢幕大小</PresentationFormat>
  <Paragraphs>989</Paragraphs>
  <Slides>65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2" baseType="lpstr">
      <vt:lpstr>Arial</vt:lpstr>
      <vt:lpstr>SimSun</vt:lpstr>
      <vt:lpstr>Wingdings</vt:lpstr>
      <vt:lpstr>Times New Roman</vt:lpstr>
      <vt:lpstr>Microsoft YaHei</vt:lpstr>
      <vt:lpstr>Arial Unicode MS</vt:lpstr>
      <vt:lpstr>Communications and Dialogues</vt:lpstr>
      <vt:lpstr>PowerPoint 演示文稿</vt:lpstr>
      <vt:lpstr>Chapter Learning Outcomes</vt:lpstr>
      <vt:lpstr>3.1 Introduction</vt:lpstr>
      <vt:lpstr>1.2Timmons Model of Entrepreneurship</vt:lpstr>
      <vt:lpstr>Timmons Model of Entrepreneurship</vt:lpstr>
      <vt:lpstr>Core Themes of the Timmons Model</vt:lpstr>
      <vt:lpstr>Three Key Components for Venture Success</vt:lpstr>
      <vt:lpstr>1. Opportunities</vt:lpstr>
      <vt:lpstr>Opportunity vs. Idea</vt:lpstr>
      <vt:lpstr>Examples of Opportunities (Ethiopian Context)</vt:lpstr>
      <vt:lpstr>2. Teams</vt:lpstr>
      <vt:lpstr>Importance of the Entrepreneurial Team</vt:lpstr>
      <vt:lpstr>Major Roles of the Team</vt:lpstr>
      <vt:lpstr>3.Resources</vt:lpstr>
      <vt:lpstr>Balancing the Three Factors</vt:lpstr>
      <vt:lpstr>Qualities of Entrepreneurs</vt:lpstr>
      <vt:lpstr>Key Features of the Timmons Model</vt:lpstr>
      <vt:lpstr>1.3 New Venture Expansion Strategies 1.3.1 Introduction</vt:lpstr>
      <vt:lpstr>Challenges of Business Growth</vt:lpstr>
      <vt:lpstr>Structural &amp; Financial Implications of Growth</vt:lpstr>
      <vt:lpstr>Managing Growth Effectively</vt:lpstr>
      <vt:lpstr>1.3.2 Methods of Growth</vt:lpstr>
      <vt:lpstr>Common Routes of Expansion</vt:lpstr>
      <vt:lpstr>Additional Growth Options</vt:lpstr>
      <vt:lpstr>Preparing for Growth</vt:lpstr>
      <vt:lpstr>1.3.3The Ansoff Matrix – Growth Strategy</vt:lpstr>
      <vt:lpstr>Four Generic Growth Strategies</vt:lpstr>
      <vt:lpstr>Four Generic Growth Strategies</vt:lpstr>
      <vt:lpstr>Four Generic Growth Strategies</vt:lpstr>
      <vt:lpstr>1.3.3.1Selecting a Product-Market Growth Strategy</vt:lpstr>
      <vt:lpstr>I) Market Penetration / Consumption</vt:lpstr>
      <vt:lpstr>II) Market Development</vt:lpstr>
      <vt:lpstr>III) Product Development</vt:lpstr>
      <vt:lpstr>IV) Diversification</vt:lpstr>
      <vt:lpstr>Types of Diversification</vt:lpstr>
      <vt:lpstr>1.3.4 Expansion Issues I) Growing Too Fast</vt:lpstr>
      <vt:lpstr>II)Recordkeeping and Other Infrastructure Needs</vt:lpstr>
      <vt:lpstr>III)Expansion Capital</vt:lpstr>
      <vt:lpstr>IV)Personnel Issues</vt:lpstr>
      <vt:lpstr>V) Customer Service</vt:lpstr>
      <vt:lpstr>VI)Disagreements among Ownership</vt:lpstr>
      <vt:lpstr>VII)Family Issues</vt:lpstr>
      <vt:lpstr>VIII)Transformation of Company Culture</vt:lpstr>
      <vt:lpstr>IX)Changing Role of Owner At The Initial State</vt:lpstr>
      <vt:lpstr>1.3.5 Choosing not to Grow</vt:lpstr>
      <vt:lpstr>1.4Business Ethics and Social Responsibility</vt:lpstr>
      <vt:lpstr>1.4.1 Introduction</vt:lpstr>
      <vt:lpstr>1.4.2Three Approaches to Corporate Responsibility</vt:lpstr>
      <vt:lpstr>1. Corporate Social Responsibility (CSR)</vt:lpstr>
      <vt:lpstr>Four Obligations of CSR</vt:lpstr>
      <vt:lpstr>Four Obligations of CSR</vt:lpstr>
      <vt:lpstr>2. The Triple Bottom Line</vt:lpstr>
      <vt:lpstr>The Triple Bottom Line</vt:lpstr>
      <vt:lpstr>Economic Sustainability</vt:lpstr>
      <vt:lpstr>Social Sustainability</vt:lpstr>
      <vt:lpstr>Environmental Sustainability</vt:lpstr>
      <vt:lpstr>CSR vs Triple Bottom Line</vt:lpstr>
      <vt:lpstr>3. Stakeholder Theory</vt:lpstr>
      <vt:lpstr>Who Are Stakeholders?</vt:lpstr>
      <vt:lpstr>Key Features of Stakeholder Theory</vt:lpstr>
      <vt:lpstr> 1.4.3 Business Ethics Principles </vt:lpstr>
      <vt:lpstr> Business Ethics Principles </vt:lpstr>
      <vt:lpstr> Business Ethics Principles </vt:lpstr>
      <vt:lpstr> Business Ethics Principles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Project Management</dc:title>
  <dc:creator/>
  <cp:lastModifiedBy>nEW u</cp:lastModifiedBy>
  <cp:revision>570</cp:revision>
  <dcterms:created xsi:type="dcterms:W3CDTF">2001-07-05T23:10:00Z</dcterms:created>
  <dcterms:modified xsi:type="dcterms:W3CDTF">2026-02-22T20:23:31Z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1033-11.2.0.10176</vt:lpwstr>
  </property>
</Properties>
</file>