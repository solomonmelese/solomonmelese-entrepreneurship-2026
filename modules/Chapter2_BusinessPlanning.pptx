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551" r:id="rId3"/>
    <p:sldId id="464" r:id="rId4"/>
    <p:sldId id="651" r:id="rId5"/>
    <p:sldId id="652" r:id="rId6"/>
    <p:sldId id="668" r:id="rId7"/>
    <p:sldId id="704" r:id="rId8"/>
    <p:sldId id="705" r:id="rId9"/>
    <p:sldId id="706" r:id="rId10"/>
    <p:sldId id="707" r:id="rId11"/>
    <p:sldId id="708" r:id="rId12"/>
    <p:sldId id="709" r:id="rId13"/>
    <p:sldId id="710" r:id="rId14"/>
    <p:sldId id="711" r:id="rId15"/>
    <p:sldId id="712" r:id="rId16"/>
    <p:sldId id="713" r:id="rId17"/>
    <p:sldId id="714" r:id="rId18"/>
    <p:sldId id="715" r:id="rId19"/>
    <p:sldId id="716" r:id="rId20"/>
    <p:sldId id="717" r:id="rId21"/>
    <p:sldId id="718" r:id="rId22"/>
    <p:sldId id="720" r:id="rId23"/>
    <p:sldId id="722" r:id="rId24"/>
    <p:sldId id="723" r:id="rId25"/>
    <p:sldId id="725" r:id="rId26"/>
    <p:sldId id="726" r:id="rId27"/>
    <p:sldId id="727" r:id="rId28"/>
    <p:sldId id="728" r:id="rId29"/>
    <p:sldId id="730" r:id="rId30"/>
    <p:sldId id="731" r:id="rId31"/>
    <p:sldId id="732" r:id="rId32"/>
    <p:sldId id="733" r:id="rId33"/>
    <p:sldId id="734" r:id="rId34"/>
    <p:sldId id="735" r:id="rId35"/>
    <p:sldId id="736" r:id="rId36"/>
    <p:sldId id="737" r:id="rId37"/>
    <p:sldId id="740" r:id="rId38"/>
    <p:sldId id="741" r:id="rId39"/>
    <p:sldId id="742" r:id="rId40"/>
    <p:sldId id="743" r:id="rId41"/>
    <p:sldId id="744" r:id="rId42"/>
    <p:sldId id="745" r:id="rId43"/>
    <p:sldId id="746" r:id="rId44"/>
    <p:sldId id="747" r:id="rId45"/>
    <p:sldId id="748" r:id="rId46"/>
    <p:sldId id="548" r:id="rId4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8"/>
    <p:restoredTop sz="94576"/>
  </p:normalViewPr>
  <p:slideViewPr>
    <p:cSldViewPr showGuides="1">
      <p:cViewPr varScale="1">
        <p:scale>
          <a:sx n="110" d="100"/>
          <a:sy n="110" d="100"/>
        </p:scale>
        <p:origin x="-210" y="-84"/>
      </p:cViewPr>
      <p:guideLst>
        <p:guide orient="horz" pos="215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3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eader Placeholder 3686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sz="1200"/>
          </a:p>
        </p:txBody>
      </p:sp>
      <p:sp>
        <p:nvSpPr>
          <p:cNvPr id="36867" name="Date Placeholder 3686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en-US" sz="1200"/>
          </a:p>
        </p:txBody>
      </p:sp>
      <p:sp>
        <p:nvSpPr>
          <p:cNvPr id="36868" name="Slide Image Placeholder 36867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9" name="Text Placeholder 3686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36870" name="Footer Placeholder 3686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sz="1200"/>
          </a:p>
        </p:txBody>
      </p:sp>
      <p:sp>
        <p:nvSpPr>
          <p:cNvPr id="36871" name="Slide Number Placeholder 3687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3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62000"/>
            <a:ext cx="8932545" cy="6073140"/>
          </a:xfrm>
        </p:spPr>
        <p:txBody>
          <a:bodyPr/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College of Business and Economics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Departement of Management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36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CHAPTER 2: BUSINESS PLANNING</a:t>
            </a: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Picture 4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0"/>
            <a:ext cx="3797300" cy="162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4925"/>
            <a:ext cx="2619375" cy="174307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Chapter Learning Outcomes</a:t>
            </a:r>
            <a:endParaRPr lang="en-US" sz="4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55" y="1174750"/>
            <a:ext cx="8886825" cy="553085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chapter, students should be able to: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Identify opportunities in environment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Evaluate opportunities systematically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Generate viable business ideas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Explain business planning concepts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Identify components of business plan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Develop comprehensive business plan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2.1 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6147435" cy="546100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start any type of business or expand the existing one needs opportunity identification and evaluation, business idea development and prepare business plan.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opportunity identification and evaluation, idea development process and business planning are reasons for business failure.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chapter summarizes opportunity identifying and evaluating processes, business idea development process, feasibility study, importance and preparation of a business plan.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01105" y="1066800"/>
            <a:ext cx="2842895" cy="22802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962400"/>
            <a:ext cx="2857500" cy="1600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82613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2.2 Opportunity Identification and Evaluation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5560" y="885190"/>
            <a:ext cx="6244590" cy="5905500"/>
          </a:xfrm>
        </p:spPr>
        <p:txBody>
          <a:bodyPr/>
          <a:p>
            <a:pPr algn="just"/>
            <a:r>
              <a:rPr lang="en-US" sz="1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The initial stage in the entrepreneurial process is the </a:t>
            </a:r>
            <a:r>
              <a:rPr lang="en-US" sz="18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identification and refinement of a viable economic opportunity</a:t>
            </a:r>
            <a:r>
              <a:rPr lang="en-US" sz="1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 that exists in the market.</a:t>
            </a:r>
            <a:endParaRPr lang="en-US" sz="18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Without the recognition of an opportunity the entrepreneurial process is likely to result in failure.</a:t>
            </a:r>
            <a:endParaRPr lang="en-US" sz="18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Opportunity recognition corresponds to the principal activities that take place before a business is formed or structured.</a:t>
            </a:r>
            <a:endParaRPr lang="en-US" sz="18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The opportunity identification and evaluation stage can be divided into five main steps:</a:t>
            </a:r>
            <a:endParaRPr lang="en-US" sz="18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75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Getting the idea/scanning the environment</a:t>
            </a:r>
            <a:endParaRPr lang="en-US" sz="175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75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Identifying the opportunity</a:t>
            </a:r>
            <a:endParaRPr lang="en-US" sz="175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75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Developing the opportunity</a:t>
            </a:r>
            <a:endParaRPr lang="en-US" sz="175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75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Evaluating the opportunity</a:t>
            </a:r>
            <a:endParaRPr lang="en-US" sz="175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sz="175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</a:rPr>
              <a:t>Evaluating the team</a:t>
            </a:r>
            <a:endParaRPr lang="en-US" sz="175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53200" y="1600200"/>
            <a:ext cx="2593340" cy="184785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1)Scanning the Environment/ Getting the Idea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73990" y="1174750"/>
            <a:ext cx="6379210" cy="5435600"/>
          </a:xfrm>
        </p:spPr>
        <p:txBody>
          <a:bodyPr/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While scanning the environment it may provide you with </a:t>
            </a:r>
            <a:r>
              <a:rPr lang="en-US" sz="24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idea and business opportunities.</a:t>
            </a:r>
            <a:endParaRPr lang="en-US" sz="2400" b="1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Idea</a:t>
            </a: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 is a thought or suggestion about a possible course of action.</a:t>
            </a: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Opportunity</a:t>
            </a: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 is a favorable time or set of circumstances for doing something.</a:t>
            </a: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A business opportunity</a:t>
            </a: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 is a gap left in a market by those who currently serve it, giving a chance to others to add unrealized value.</a:t>
            </a: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7025" y="1219200"/>
            <a:ext cx="2466975" cy="184785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0360" y="3429000"/>
            <a:ext cx="2453640" cy="235267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Business opportunities Vs Ideas 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845" y="1174750"/>
            <a:ext cx="6076315" cy="4953000"/>
          </a:xfrm>
        </p:spPr>
        <p:txBody>
          <a:bodyPr/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Business opportunities are distinguished from ideas; </a:t>
            </a:r>
            <a:r>
              <a:rPr lang="en-US" sz="24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an idea is not synonymous with opportunity.</a:t>
            </a: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An opportunity</a:t>
            </a: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 is the possibility of occupying the market with a specific innovative product that will satisfy a real need and for which customers are willing to pay.</a:t>
            </a: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3249"/>
                </a:solidFill>
                <a:latin typeface="Times New Roman" panose="02020603050405020304" pitchFamily="18" charset="0"/>
                <a:ea typeface="Martel Sans" panose="00000800000000000000" pitchFamily="34" charset="-122"/>
                <a:cs typeface="Times New Roman" panose="02020603050405020304" pitchFamily="18" charset="0"/>
                <a:sym typeface="+mn-ea"/>
              </a:rPr>
              <a:t>Successful venturing may rest upon the ability to recognize or distinguish an opportunity from an idea.</a:t>
            </a:r>
            <a:endParaRPr lang="en-US" sz="2400" dirty="0">
              <a:solidFill>
                <a:srgbClr val="2C3249"/>
              </a:solidFill>
              <a:latin typeface="Times New Roman" panose="02020603050405020304" pitchFamily="18" charset="0"/>
              <a:ea typeface="Martel Sans" panose="00000800000000000000" pitchFamily="34" charset="-122"/>
              <a:cs typeface="Times New Roman" panose="02020603050405020304" pitchFamily="18" charset="0"/>
              <a:sym typeface="+mn-ea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53200" y="990600"/>
            <a:ext cx="2590800" cy="201803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Opportunity Identification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" y="898525"/>
            <a:ext cx="5997575" cy="5601335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see and discover opportunities others miss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Scan informational environment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Capture abstract, implicit, changing information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opportunity causes: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change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Market shifts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regulation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identification is a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very difficult task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results from an entrepreneur’s alertness to possibilities.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developing countries, problems may be changed to business opportunities.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00800" y="1295400"/>
            <a:ext cx="2732405" cy="198882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Opportunity Development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345" y="1174750"/>
            <a:ext cx="5848985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Having recognized the opportunity, timely adaptation of that opportunity to suit actual market need is key to new venture success.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development is the process of combining resources to pursue a market opportunity identified.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systematic research to refine the idea to the most promising high potential opportunity that can be transformed into marketable items.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29020" y="1295400"/>
            <a:ext cx="2981325" cy="209613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4)Opportunity Evaluation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550" y="990600"/>
            <a:ext cx="6400165" cy="534860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screening and evaluation is a critical element of the entrepreneurial process.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It allows the entrepreneur to assess whether the specific product or service has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the returns needed to justify the investment and risk.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looking at the creation and length of the opportunity.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It examines its real and perceived value, risks and returns.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its fit with the personal skills and goals of the entrepreneur.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It evaluates its differential advantage in its competitive environment.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705600" y="1752600"/>
            <a:ext cx="2532380" cy="168465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5)Assessment of the Entrepreneurial Team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74750"/>
            <a:ext cx="6454140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how right the opportunity may seem to be, it will not make a successful business unless it is developed by a team with strong skills.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Once the opportunity has been evaluated, the next step is to ask pertinent questions about the people who would run the company.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629400" y="1447800"/>
            <a:ext cx="2428240" cy="161544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2.3 Business Idea Development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" y="1174750"/>
            <a:ext cx="6170930" cy="5380355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idea is a short and precise description of the basic operation of an intended business.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business ideas. They are: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Old Idea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Here an individual copies an existing business idea from someone.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Old Idea with Modification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In this case the person accepts an old idea from someone and then modifies it in some way to fit a potential customer’s demand.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 New Idea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This one involves the invention of something new for the first time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75425" y="1447800"/>
            <a:ext cx="2568575" cy="204787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2.4 Business Idea Identification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" y="989965"/>
            <a:ext cx="8576310" cy="560768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Before starting a business, you need a clear idea of the business you want to run.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Your business idea will tell you: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Which need your business will fulfill and what customers it will attract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What goods or services your business will sell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Who your business will sell to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How your business will sell its goods or services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How much your business will depend on and impact the environment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Tx/>
              <a:buSzTx/>
            </a:pPr>
            <a:r>
              <a:rPr lang="en-US" sz="2095">
                <a:latin typeface="Times New Roman" panose="02020603050405020304" pitchFamily="18" charset="0"/>
                <a:cs typeface="Times New Roman" panose="02020603050405020304" pitchFamily="18" charset="0"/>
              </a:rPr>
              <a:t>A good business idea is compatible with sustainable use of natural resources and respects the social and natural environment.</a:t>
            </a:r>
            <a:endParaRPr lang="en-US" sz="209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</a:pP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ClrTx/>
              <a:buSzTx/>
            </a:pPr>
            <a:r>
              <a:rPr lang="en-US" sz="2095">
                <a:latin typeface="Times New Roman" panose="02020603050405020304" pitchFamily="18" charset="0"/>
                <a:cs typeface="Times New Roman" panose="02020603050405020304" pitchFamily="18" charset="0"/>
              </a:rPr>
              <a:t>Not all business ideas are equally valuable; answering these questions helps identify promising ideas</a:t>
            </a:r>
            <a:endParaRPr lang="en-US" sz="20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2.4.1The Need will Your Business Fulfill for the Customers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345" y="1174750"/>
            <a:ext cx="4888230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Your business idea should always have customers and their needs in mind.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22" name="Image 22"/>
          <p:cNvPicPr>
            <a:picLocks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4953000" y="914400"/>
            <a:ext cx="4038600" cy="481838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2.4.2 Good or Service will your Business Sell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740" y="930275"/>
            <a:ext cx="6120130" cy="5669280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Decide which good or service your business will sell based on your skills and customer needs.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Goods or services must be something people are willing to pay for at a price that allows profit.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 item people pay for and use (e.g., tools, baked goods, clothes, retail items).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Service: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Something you do for people for payment (e.g., delivering goods, banking, babysitting).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24600" y="2057400"/>
            <a:ext cx="2857500" cy="160020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2.4.3 Identifies Potential Customer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095" y="991870"/>
            <a:ext cx="5572760" cy="5573395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Any business cannot succeed without customers.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is essential to know who your customers will be.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Decide whether you will sell to a specific type of customer or to everyone in an area.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be enough people able and willing to pay for your goods or services for the business to survive.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740400" y="3657600"/>
            <a:ext cx="3433445" cy="2511425"/>
          </a:xfrm>
          <a:prstGeom prst="rect">
            <a:avLst/>
          </a:prstGeom>
        </p:spPr>
      </p:pic>
      <p:pic>
        <p:nvPicPr>
          <p:cNvPr id="27" name="Image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7065" y="838200"/>
            <a:ext cx="3446780" cy="233299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2.4.4 Strategy for Selling Goods or Services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095" y="1174750"/>
            <a:ext cx="5833110" cy="554736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 will your business sell its goods or services?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Shop owners know how they will sell, but manufacturers or service operators have multiple options.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manufacturer can sell: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Directly to customers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To retailers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To wholesalers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324600" y="1219200"/>
            <a:ext cx="2867660" cy="200469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2.4.5 Relation between Business and Environment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095" y="923925"/>
            <a:ext cx="5908675" cy="5654675"/>
          </a:xfrm>
        </p:spPr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is sustainable only if it works in harmony with the social and natural environment.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Consider: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much does your business depend on the environment (weather, soil, natural resources)?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Does it require specific labor or support from the local community?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can your business nurture the environment and help the community?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How to minimize or reverse any negative impact?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77000" y="1371600"/>
            <a:ext cx="2647950" cy="245491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Activity 1: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865" y="1174750"/>
            <a:ext cx="8763635" cy="4953000"/>
          </a:xfrm>
        </p:spPr>
        <p:txBody>
          <a:bodyPr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Now if you already have a business idea, describe your idea using the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form on Page 41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2.5 Methods for Generating Business Ideas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0340" y="829310"/>
            <a:ext cx="8506460" cy="529844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Every business idea should be based on knowledge of the market and its needs.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differs by location, depending on residents, lifestyle, and spending habits.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market to recognize potential business ideas previously ignored.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Keep an open mind and list as many ideas as possible to increase choices.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Scan the list to select ideas that are feasible and potentially profitable.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Methods include surveying local businesses or asking existing business owners.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Combining different approaches helps clearly describe your business ideas.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99225"/>
            <a:ext cx="2895600" cy="358775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generating business ideas.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800" y="936625"/>
            <a:ext cx="8550910" cy="5629275"/>
          </a:xfrm>
        </p:spPr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Learn from successful business owners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Draw From Experience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Draw From Experience, Other People’s Experience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Survey Your Local Business Area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Scanning Your Environment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Natural 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and Skills of People in the Local Community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Waste Products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Import Substitution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Trade Fairs and Exhibitions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ClrTx/>
              <a:buSzTx/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Brainstorming: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Opening up your mind and thinking about many different ideas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generating business ideas.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800" y="936625"/>
            <a:ext cx="8550910" cy="5629275"/>
          </a:xfrm>
        </p:spPr>
        <p:txBody>
          <a:bodyPr/>
          <a:p>
            <a:pPr marL="0" indent="0" algn="just">
              <a:buFont typeface="+mj-lt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6.Structured Brainstorming: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When you think of the different processes that are involved in the operation of a particular business and the goods/services that can be offered with respect to those processes.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+mj-lt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+mj-lt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7.Focus Group: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Focus group is a group of individuals providing information on a structured format which is led by moderators.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+mj-lt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+mj-lt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8.Problem Inventory Analysis: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Consumers are provided with a list of problems in general product category. It is a method of obtaining “New Idea” and solutions by focusing on problems.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+mj-lt"/>
              <a:buNone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Approaches to generating business ideas.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800" y="936625"/>
            <a:ext cx="8550910" cy="5629275"/>
          </a:xfrm>
        </p:spPr>
        <p:txBody>
          <a:bodyPr/>
          <a:p>
            <a:pPr marL="0" indent="0" algn="just">
              <a:buFont typeface="+mj-lt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Free Association: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simple idea-generation method where a word or phrase related to a problem is written down, followed by additional words that build a chain of thoughts, leading to a new product/service idea.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Font typeface="+mj-lt"/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Font typeface="+mj-lt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10. Forced Relationships: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 technique that forces connections among product combinations by asking structured questions about objects or ideas to generate new concepts.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Font typeface="+mj-lt"/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Font typeface="+mj-lt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11. Attribute Listing: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 idea-finding technique in which the entrepreneur lists the attributes of a product or problem and examines each from different viewpoints to create new combinations and improved product/service ideas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2.6 Business Idea Screening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890" y="1010920"/>
            <a:ext cx="8717915" cy="5116830"/>
          </a:xfrm>
        </p:spPr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Idea screening: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 to spot good ideas and eliminate poor ones.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1. Macro Screening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– narrow ideas to 10: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Are my competencies sufficient?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Can I finance it mainly with my own equity?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Will people buy my product/service (needed and affordable)?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Micro Screening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– narrow ideas to 3: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Solvent demand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raw materials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personal skills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financial 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Business Idea Screening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5890" y="1010920"/>
            <a:ext cx="8717915" cy="5116830"/>
          </a:xfrm>
        </p:spPr>
        <p:txBody>
          <a:bodyPr/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Scoring the Suitability of Business Idea – choose among multiple ideas: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Assign rating from 1–3 for each criterion (3 = strongest)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Sum total scores for each idea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idea with the highest score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2.7 Concept of Business Plan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000" y="1174750"/>
            <a:ext cx="6651625" cy="529336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Planning is the first and most crucial step for starting a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well-designed business plan can turn a simple idea/innovation into a successful business venture.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plan is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 roadmap for starting and running a business.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opportunities and assesses feasibility.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Allocates resources effectively to ensure success.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a Business Plan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417560" cy="4953000"/>
          </a:xfrm>
        </p:spPr>
        <p:txBody>
          <a:bodyPr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information to venture capitalists, financial institutions, investors, and employees.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Covers all functional requirements: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Acts as a blueprint for converting a business idea into a successful venture.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 Business Plan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093075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Guide the entrepreneur in the actual implementation of the plan.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strengths and weakness of the plan.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challenges in terms of opportunities and threats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Clarify ideas and identify gaps in management information about their business, competitors and the market.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resources that would be required to implement the plan.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Document ownership arrangements, future prospects and projected growths of the business venture.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 Business Plan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093075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Give directions to the vision formulated by entrepreneur.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Objectively evaluate the prospects of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progress after implementing the plan.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Persuade others to join the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Seek loans from financial institutions.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concept in terms of market availability, organizational, operational and financial feasibility.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065"/>
            <a:ext cx="8229600" cy="785495"/>
          </a:xfrm>
        </p:spPr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2.8Developing a Business Plan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2.8.1 Business Planning Process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" y="939165"/>
            <a:ext cx="8865870" cy="518858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plan that seems feasible may not be when details are drawn.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Documenting the business plan is an early step for entrepreneurs.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plan acts as a guiding tool and is dynamic.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review to remain viable in changing situations.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in business planning process are discussed as follows: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Steps involved in business planning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332470" cy="4953000"/>
          </a:xfrm>
        </p:spPr>
        <p:txBody>
          <a:bodyPr/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Investigation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Identification and Idea Generation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Scanning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Report Preparation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Preliminary Investigation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11455" y="890905"/>
            <a:ext cx="8475345" cy="5236845"/>
          </a:xfrm>
        </p:spPr>
        <p:txBody>
          <a:bodyPr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Before preparing the plan entrepreneur should: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Review available business plans (if any).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Draw key business assumptions on which the plans will be based (e.g. inflation, exchange rates, market growth, competitive pressures, etc.).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Scan the external environment and internal environment to assess the strengths, weakness, opportunities and threats.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Seek professional advice from a friend/relative or a person who is already into similar business (if any).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 Opportunity Identification and Idea Generation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not just limited to innovation (entirely new concept, product, or service), but also includes incremental value addition to concepts/products/services for consumers, shareholders, and employees.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identification and business idea generation is the first stage of the business planning process.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Involves generation of new concepts, ideas, products, or services to satisfy demand.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Environmental Scanning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prospective  strengths, weaknesses, opportunities, and threats of the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Before setting up the business, scan: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External environment: opportunities and threats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Internal environment: strengths and weaknesses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4. Feasibility Analysis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determines whether the proposed project would be feasible.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scanning vs. feasibility study: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scanning: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assesses external and internal environment of the area where the business will be set up.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assesses the feasibility of the project itself in that environment in greater detail.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5.Report Preparation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After environmental scanning and feasibility analysis, a business plan report is prepared.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a written document describing, step-by-step, the strategies involved in starting and running a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2.8.2 Essential Components of Business Plan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1.Cover Sheet: 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1765" y="1143000"/>
            <a:ext cx="6193155" cy="4953000"/>
          </a:xfrm>
        </p:spPr>
        <p:txBody>
          <a:bodyPr/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title page of the business plan.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Includes fundamental information: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Project/Business Name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 Address (if applicable)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Promoters or Business Owners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Ensures clarity and professionalism in the presentation.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781800" y="2286000"/>
            <a:ext cx="2143125" cy="21431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Executive Summary 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concise and compelling introduction to the business plan.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Typically 2–3 pages long, summarizing key aspects of the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Market potential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Projected financials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Unique features that differentiate the business from competitors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First section often read by investors; should be well-structured and engaging to generate interest.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Business Description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Explains the business concept, objectives, nature, and purpose.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operational, includes brief history of past performance.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Defines form of ownership: sole proprietorship, partnership, cooperative, or registered company.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headquarters or primary location details.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4. Funding Requirement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Outlines the financial needs of the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Specifies: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Amount of capital required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funding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buClrTx/>
              <a:buSzTx/>
              <a:buFontTx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Funding strategy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Includes debt-equity ratio to illustrate financial structure.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Helps investors assess financial feasibility.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5: Products or Services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8450" y="1174750"/>
            <a:ext cx="5430520" cy="4953000"/>
          </a:xfrm>
        </p:spPr>
        <p:txBody>
          <a:bodyPr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overview of products/services offered.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and specifications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Unique selling points (USPs)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Product range and market demand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protections (patents, trademarks, copyrights, franchises, licenses).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96000" y="2514600"/>
            <a:ext cx="2828925" cy="161925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6: Functional Plans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Covers operational aspects and departmental management: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Pricing, positioning, promotions, distribution, and customer acquisition.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Plan: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Plant location, resource access, inventory, quality control, operational budget.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Plan: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Roles, responsibilities, authority flow, manpower plan, HR policies, organizational budget.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 Plan: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2–5 year projections including sales, income statements, break-even, balance sheets, cash flows.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7. Critical Risks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potential risks affecting the business: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Market fluctuations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challenges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risks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threats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Helps stakeholders develop risk mitigation strategies.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8: Exit Strategy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065" y="1174750"/>
            <a:ext cx="8420735" cy="4953000"/>
          </a:xfrm>
        </p:spPr>
        <p:txBody>
          <a:bodyPr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Outlines procedures for business dissolution or strategic closure.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Specifies: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Asset distribution among stakeholders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Ownership transfer agreements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long-term planning and enhances investor confidence.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9: Appendix</a:t>
            </a: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for supporting documents: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Resumes of key owners and management team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Ownership agreements and partnership contracts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and licenses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Any other relevant paperwork to enhance credibility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9370" y="0"/>
            <a:ext cx="9261475" cy="6844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16908</Words>
  <Application>WPS Presentation</Application>
  <PresentationFormat>如螢幕大小</PresentationFormat>
  <Paragraphs>622</Paragraphs>
  <Slides>45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Arial</vt:lpstr>
      <vt:lpstr>SimSun</vt:lpstr>
      <vt:lpstr>Wingdings</vt:lpstr>
      <vt:lpstr>Times New Roman</vt:lpstr>
      <vt:lpstr>Martel Sans</vt:lpstr>
      <vt:lpstr>Microsoft YaHei</vt:lpstr>
      <vt:lpstr>Arial Unicode MS</vt:lpstr>
      <vt:lpstr>Communications and Dialogues</vt:lpstr>
      <vt:lpstr>PowerPoint 演示文稿</vt:lpstr>
      <vt:lpstr>Chapter Learning Outcomes</vt:lpstr>
      <vt:lpstr>2.1 Introduction</vt:lpstr>
      <vt:lpstr>2.2 Opportunity Identification and Evaluation</vt:lpstr>
      <vt:lpstr>1)Scanning the Environment/ Getting the Idea</vt:lpstr>
      <vt:lpstr> Business opportunities Vs Ideas  </vt:lpstr>
      <vt:lpstr>2. Opportunity Identification</vt:lpstr>
      <vt:lpstr>3. Opportunity Development</vt:lpstr>
      <vt:lpstr>4)Opportunity Evaluation</vt:lpstr>
      <vt:lpstr>5)Assessment of the Entrepreneurial Team</vt:lpstr>
      <vt:lpstr>2.3 Business Idea Development</vt:lpstr>
      <vt:lpstr>2.4 Business Idea Identification</vt:lpstr>
      <vt:lpstr>2.4.1The Need will Your Business Fulfill for the Customers</vt:lpstr>
      <vt:lpstr>2.4.2 Good or Service will your Business Sell</vt:lpstr>
      <vt:lpstr>2.4.3 Identifies Potential Customer</vt:lpstr>
      <vt:lpstr>2.4.4 Strategy for Selling Goods or Services</vt:lpstr>
      <vt:lpstr>2.4.5 Relation between Business and Environment</vt:lpstr>
      <vt:lpstr>Activity 1: </vt:lpstr>
      <vt:lpstr>2.5 Methods for Generating Business Ideas</vt:lpstr>
      <vt:lpstr>Approaches to generating business ideas.</vt:lpstr>
      <vt:lpstr>Approaches to generating business ideas.</vt:lpstr>
      <vt:lpstr>Approaches to generating business ideas.</vt:lpstr>
      <vt:lpstr>2.6 Business Idea Screening</vt:lpstr>
      <vt:lpstr>Business Idea Screening</vt:lpstr>
      <vt:lpstr>2.7 Concept of Business Plan</vt:lpstr>
      <vt:lpstr>Importance of a Business Plan</vt:lpstr>
      <vt:lpstr>Objectives of a Business Plan</vt:lpstr>
      <vt:lpstr>Objectives of a Business Plan</vt:lpstr>
      <vt:lpstr>2.8Developing a Business Plan 2.8.1 Business Planning Process</vt:lpstr>
      <vt:lpstr>Steps involved in business planning</vt:lpstr>
      <vt:lpstr>1. Preliminary Investigation </vt:lpstr>
      <vt:lpstr>2. Opportunity Identification and Idea Generation</vt:lpstr>
      <vt:lpstr>3. Environmental Scanning</vt:lpstr>
      <vt:lpstr>4. Feasibility Analysis</vt:lpstr>
      <vt:lpstr>5.Report Preparation</vt:lpstr>
      <vt:lpstr>2.8.2 Essential Components of Business Plan 1.Cover Sheet: </vt:lpstr>
      <vt:lpstr>2. Executive Summary </vt:lpstr>
      <vt:lpstr> 3. Business Description </vt:lpstr>
      <vt:lpstr> 4. Funding Requirement </vt:lpstr>
      <vt:lpstr> 5: Products or Services </vt:lpstr>
      <vt:lpstr> 6: Functional Plans </vt:lpstr>
      <vt:lpstr> 7. Critical Risks </vt:lpstr>
      <vt:lpstr> 8: Exit Strategy </vt:lpstr>
      <vt:lpstr> 9: Appendix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/>
  <cp:lastModifiedBy>nEW u</cp:lastModifiedBy>
  <cp:revision>373</cp:revision>
  <dcterms:created xsi:type="dcterms:W3CDTF">2001-07-05T23:10:00Z</dcterms:created>
  <dcterms:modified xsi:type="dcterms:W3CDTF">2026-02-22T20:28:25Z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